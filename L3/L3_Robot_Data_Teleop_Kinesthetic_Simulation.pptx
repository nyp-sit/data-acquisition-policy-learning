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10"/>
  </p:notesMasterIdLst>
  <p:handoutMasterIdLst>
    <p:handoutMasterId r:id="rId11"/>
  </p:handoutMasterIdLst>
  <p:sldIdLst>
    <p:sldId id="419" r:id="rId5"/>
    <p:sldId id="420" r:id="rId18"/>
    <p:sldId id="421" r:id="rId19"/>
    <p:sldId id="422" r:id="rId20"/>
    <p:sldId id="423" r:id="rId21"/>
    <p:sldId id="424" r:id="rId22"/>
    <p:sldId id="425" r:id="rId23"/>
    <p:sldId id="426" r:id="rId24"/>
    <p:sldId id="427" r:id="rId25"/>
    <p:sldId id="428" r:id="rId26"/>
    <p:sldId id="429" r:id="rId27"/>
    <p:sldId id="430" r:id="rId28"/>
    <p:sldId id="431" r:id="rId29"/>
    <p:sldId id="432" r:id="rId30"/>
    <p:sldId id="433" r:id="rId31"/>
    <p:sldId id="434" r:id="rId32"/>
    <p:sldId id="435" r:id="rId33"/>
    <p:sldId id="436" r:id="rId34"/>
    <p:sldId id="437" r:id="rId35"/>
    <p:sldId id="438" r:id="rId36"/>
    <p:sldId id="439" r:id="rId37"/>
    <p:sldId id="440" r:id="rId38"/>
    <p:sldId id="441" r:id="rId39"/>
    <p:sldId id="442" r:id="rId40"/>
    <p:sldId id="443" r:id="rId41"/>
    <p:sldId id="444" r:id="rId42"/>
    <p:sldId id="445" r:id="rId43"/>
    <p:sldId id="44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D7AA8-B633-43EA-B803-6478153F3BD7}" v="3" dt="2025-03-21T02:00:42.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2" autoAdjust="0"/>
    <p:restoredTop sz="77326" autoAdjust="0"/>
  </p:normalViewPr>
  <p:slideViewPr>
    <p:cSldViewPr snapToGrid="0">
      <p:cViewPr varScale="1">
        <p:scale>
          <a:sx n="94" d="100"/>
          <a:sy n="94" d="100"/>
        </p:scale>
        <p:origin x="105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ng Kok MAR (NYP)" userId="62030f1a-a95b-4c33-86e6-478100d64ee1" providerId="ADAL" clId="{58ED7AA8-B633-43EA-B803-6478153F3BD7}"/>
    <pc:docChg chg="undo custSel addSld delSld modSld">
      <pc:chgData name="Kheng Kok MAR (NYP)" userId="62030f1a-a95b-4c33-86e6-478100d64ee1" providerId="ADAL" clId="{58ED7AA8-B633-43EA-B803-6478153F3BD7}" dt="2025-03-21T05:00:48.584" v="153" actId="5793"/>
      <pc:docMkLst>
        <pc:docMk/>
      </pc:docMkLst>
      <pc:sldChg chg="del">
        <pc:chgData name="Kheng Kok MAR (NYP)" userId="62030f1a-a95b-4c33-86e6-478100d64ee1" providerId="ADAL" clId="{58ED7AA8-B633-43EA-B803-6478153F3BD7}" dt="2025-03-21T04:59:58.739" v="136" actId="47"/>
        <pc:sldMkLst>
          <pc:docMk/>
          <pc:sldMk cId="2600293482" sldId="262"/>
        </pc:sldMkLst>
      </pc:sldChg>
      <pc:sldChg chg="del">
        <pc:chgData name="Kheng Kok MAR (NYP)" userId="62030f1a-a95b-4c33-86e6-478100d64ee1" providerId="ADAL" clId="{58ED7AA8-B633-43EA-B803-6478153F3BD7}" dt="2025-03-21T04:59:46.679" v="135" actId="47"/>
        <pc:sldMkLst>
          <pc:docMk/>
          <pc:sldMk cId="2807024801" sldId="295"/>
        </pc:sldMkLst>
      </pc:sldChg>
      <pc:sldChg chg="del">
        <pc:chgData name="Kheng Kok MAR (NYP)" userId="62030f1a-a95b-4c33-86e6-478100d64ee1" providerId="ADAL" clId="{58ED7AA8-B633-43EA-B803-6478153F3BD7}" dt="2025-03-21T04:59:46.679" v="135" actId="47"/>
        <pc:sldMkLst>
          <pc:docMk/>
          <pc:sldMk cId="2933152867" sldId="299"/>
        </pc:sldMkLst>
      </pc:sldChg>
      <pc:sldChg chg="del">
        <pc:chgData name="Kheng Kok MAR (NYP)" userId="62030f1a-a95b-4c33-86e6-478100d64ee1" providerId="ADAL" clId="{58ED7AA8-B633-43EA-B803-6478153F3BD7}" dt="2025-03-21T04:59:46.679" v="135" actId="47"/>
        <pc:sldMkLst>
          <pc:docMk/>
          <pc:sldMk cId="3250412498" sldId="300"/>
        </pc:sldMkLst>
      </pc:sldChg>
      <pc:sldChg chg="del">
        <pc:chgData name="Kheng Kok MAR (NYP)" userId="62030f1a-a95b-4c33-86e6-478100d64ee1" providerId="ADAL" clId="{58ED7AA8-B633-43EA-B803-6478153F3BD7}" dt="2025-03-21T04:59:46.679" v="135" actId="47"/>
        <pc:sldMkLst>
          <pc:docMk/>
          <pc:sldMk cId="1619976221" sldId="301"/>
        </pc:sldMkLst>
      </pc:sldChg>
      <pc:sldChg chg="del">
        <pc:chgData name="Kheng Kok MAR (NYP)" userId="62030f1a-a95b-4c33-86e6-478100d64ee1" providerId="ADAL" clId="{58ED7AA8-B633-43EA-B803-6478153F3BD7}" dt="2025-03-21T04:59:46.679" v="135" actId="47"/>
        <pc:sldMkLst>
          <pc:docMk/>
          <pc:sldMk cId="4234809244" sldId="302"/>
        </pc:sldMkLst>
      </pc:sldChg>
      <pc:sldChg chg="del">
        <pc:chgData name="Kheng Kok MAR (NYP)" userId="62030f1a-a95b-4c33-86e6-478100d64ee1" providerId="ADAL" clId="{58ED7AA8-B633-43EA-B803-6478153F3BD7}" dt="2025-03-21T04:59:46.679" v="135" actId="47"/>
        <pc:sldMkLst>
          <pc:docMk/>
          <pc:sldMk cId="2070489917" sldId="303"/>
        </pc:sldMkLst>
      </pc:sldChg>
      <pc:sldChg chg="del">
        <pc:chgData name="Kheng Kok MAR (NYP)" userId="62030f1a-a95b-4c33-86e6-478100d64ee1" providerId="ADAL" clId="{58ED7AA8-B633-43EA-B803-6478153F3BD7}" dt="2025-03-21T04:59:46.679" v="135" actId="47"/>
        <pc:sldMkLst>
          <pc:docMk/>
          <pc:sldMk cId="1766828700" sldId="320"/>
        </pc:sldMkLst>
      </pc:sldChg>
      <pc:sldChg chg="del">
        <pc:chgData name="Kheng Kok MAR (NYP)" userId="62030f1a-a95b-4c33-86e6-478100d64ee1" providerId="ADAL" clId="{58ED7AA8-B633-43EA-B803-6478153F3BD7}" dt="2025-03-21T04:59:46.679" v="135" actId="47"/>
        <pc:sldMkLst>
          <pc:docMk/>
          <pc:sldMk cId="3880737323" sldId="321"/>
        </pc:sldMkLst>
      </pc:sldChg>
      <pc:sldChg chg="del">
        <pc:chgData name="Kheng Kok MAR (NYP)" userId="62030f1a-a95b-4c33-86e6-478100d64ee1" providerId="ADAL" clId="{58ED7AA8-B633-43EA-B803-6478153F3BD7}" dt="2025-03-21T04:59:46.679" v="135" actId="47"/>
        <pc:sldMkLst>
          <pc:docMk/>
          <pc:sldMk cId="3392206436" sldId="322"/>
        </pc:sldMkLst>
      </pc:sldChg>
      <pc:sldChg chg="del">
        <pc:chgData name="Kheng Kok MAR (NYP)" userId="62030f1a-a95b-4c33-86e6-478100d64ee1" providerId="ADAL" clId="{58ED7AA8-B633-43EA-B803-6478153F3BD7}" dt="2025-03-21T04:59:46.679" v="135" actId="47"/>
        <pc:sldMkLst>
          <pc:docMk/>
          <pc:sldMk cId="3132682470" sldId="323"/>
        </pc:sldMkLst>
      </pc:sldChg>
      <pc:sldChg chg="del">
        <pc:chgData name="Kheng Kok MAR (NYP)" userId="62030f1a-a95b-4c33-86e6-478100d64ee1" providerId="ADAL" clId="{58ED7AA8-B633-43EA-B803-6478153F3BD7}" dt="2025-03-21T04:59:46.679" v="135" actId="47"/>
        <pc:sldMkLst>
          <pc:docMk/>
          <pc:sldMk cId="3169862212" sldId="324"/>
        </pc:sldMkLst>
      </pc:sldChg>
      <pc:sldChg chg="del">
        <pc:chgData name="Kheng Kok MAR (NYP)" userId="62030f1a-a95b-4c33-86e6-478100d64ee1" providerId="ADAL" clId="{58ED7AA8-B633-43EA-B803-6478153F3BD7}" dt="2025-03-21T04:59:46.679" v="135" actId="47"/>
        <pc:sldMkLst>
          <pc:docMk/>
          <pc:sldMk cId="4009347987" sldId="325"/>
        </pc:sldMkLst>
      </pc:sldChg>
      <pc:sldChg chg="del">
        <pc:chgData name="Kheng Kok MAR (NYP)" userId="62030f1a-a95b-4c33-86e6-478100d64ee1" providerId="ADAL" clId="{58ED7AA8-B633-43EA-B803-6478153F3BD7}" dt="2025-03-21T05:00:10.423" v="138" actId="47"/>
        <pc:sldMkLst>
          <pc:docMk/>
          <pc:sldMk cId="1255300212" sldId="327"/>
        </pc:sldMkLst>
      </pc:sldChg>
      <pc:sldChg chg="del">
        <pc:chgData name="Kheng Kok MAR (NYP)" userId="62030f1a-a95b-4c33-86e6-478100d64ee1" providerId="ADAL" clId="{58ED7AA8-B633-43EA-B803-6478153F3BD7}" dt="2025-03-21T04:59:58.739" v="136" actId="47"/>
        <pc:sldMkLst>
          <pc:docMk/>
          <pc:sldMk cId="1320550275" sldId="328"/>
        </pc:sldMkLst>
      </pc:sldChg>
      <pc:sldChg chg="del">
        <pc:chgData name="Kheng Kok MAR (NYP)" userId="62030f1a-a95b-4c33-86e6-478100d64ee1" providerId="ADAL" clId="{58ED7AA8-B633-43EA-B803-6478153F3BD7}" dt="2025-03-21T04:59:58.739" v="136" actId="47"/>
        <pc:sldMkLst>
          <pc:docMk/>
          <pc:sldMk cId="916683871" sldId="329"/>
        </pc:sldMkLst>
      </pc:sldChg>
      <pc:sldChg chg="del">
        <pc:chgData name="Kheng Kok MAR (NYP)" userId="62030f1a-a95b-4c33-86e6-478100d64ee1" providerId="ADAL" clId="{58ED7AA8-B633-43EA-B803-6478153F3BD7}" dt="2025-03-21T04:59:58.739" v="136" actId="47"/>
        <pc:sldMkLst>
          <pc:docMk/>
          <pc:sldMk cId="3836926012" sldId="330"/>
        </pc:sldMkLst>
      </pc:sldChg>
      <pc:sldChg chg="del">
        <pc:chgData name="Kheng Kok MAR (NYP)" userId="62030f1a-a95b-4c33-86e6-478100d64ee1" providerId="ADAL" clId="{58ED7AA8-B633-43EA-B803-6478153F3BD7}" dt="2025-03-21T04:59:58.739" v="136" actId="47"/>
        <pc:sldMkLst>
          <pc:docMk/>
          <pc:sldMk cId="1005339390" sldId="331"/>
        </pc:sldMkLst>
      </pc:sldChg>
      <pc:sldChg chg="del">
        <pc:chgData name="Kheng Kok MAR (NYP)" userId="62030f1a-a95b-4c33-86e6-478100d64ee1" providerId="ADAL" clId="{58ED7AA8-B633-43EA-B803-6478153F3BD7}" dt="2025-03-21T04:59:58.739" v="136" actId="47"/>
        <pc:sldMkLst>
          <pc:docMk/>
          <pc:sldMk cId="3761206000" sldId="333"/>
        </pc:sldMkLst>
      </pc:sldChg>
      <pc:sldChg chg="del">
        <pc:chgData name="Kheng Kok MAR (NYP)" userId="62030f1a-a95b-4c33-86e6-478100d64ee1" providerId="ADAL" clId="{58ED7AA8-B633-43EA-B803-6478153F3BD7}" dt="2025-03-21T04:59:58.739" v="136" actId="47"/>
        <pc:sldMkLst>
          <pc:docMk/>
          <pc:sldMk cId="1070237463" sldId="334"/>
        </pc:sldMkLst>
      </pc:sldChg>
      <pc:sldChg chg="del">
        <pc:chgData name="Kheng Kok MAR (NYP)" userId="62030f1a-a95b-4c33-86e6-478100d64ee1" providerId="ADAL" clId="{58ED7AA8-B633-43EA-B803-6478153F3BD7}" dt="2025-03-21T04:59:58.739" v="136" actId="47"/>
        <pc:sldMkLst>
          <pc:docMk/>
          <pc:sldMk cId="1769685483" sldId="335"/>
        </pc:sldMkLst>
      </pc:sldChg>
      <pc:sldChg chg="del">
        <pc:chgData name="Kheng Kok MAR (NYP)" userId="62030f1a-a95b-4c33-86e6-478100d64ee1" providerId="ADAL" clId="{58ED7AA8-B633-43EA-B803-6478153F3BD7}" dt="2025-03-21T04:59:58.739" v="136" actId="47"/>
        <pc:sldMkLst>
          <pc:docMk/>
          <pc:sldMk cId="781151514" sldId="336"/>
        </pc:sldMkLst>
      </pc:sldChg>
      <pc:sldChg chg="del">
        <pc:chgData name="Kheng Kok MAR (NYP)" userId="62030f1a-a95b-4c33-86e6-478100d64ee1" providerId="ADAL" clId="{58ED7AA8-B633-43EA-B803-6478153F3BD7}" dt="2025-03-21T04:59:58.739" v="136" actId="47"/>
        <pc:sldMkLst>
          <pc:docMk/>
          <pc:sldMk cId="4181970323" sldId="337"/>
        </pc:sldMkLst>
      </pc:sldChg>
      <pc:sldChg chg="del">
        <pc:chgData name="Kheng Kok MAR (NYP)" userId="62030f1a-a95b-4c33-86e6-478100d64ee1" providerId="ADAL" clId="{58ED7AA8-B633-43EA-B803-6478153F3BD7}" dt="2025-03-21T04:59:58.739" v="136" actId="47"/>
        <pc:sldMkLst>
          <pc:docMk/>
          <pc:sldMk cId="3715183010" sldId="338"/>
        </pc:sldMkLst>
      </pc:sldChg>
      <pc:sldChg chg="del">
        <pc:chgData name="Kheng Kok MAR (NYP)" userId="62030f1a-a95b-4c33-86e6-478100d64ee1" providerId="ADAL" clId="{58ED7AA8-B633-43EA-B803-6478153F3BD7}" dt="2025-03-21T04:59:58.739" v="136" actId="47"/>
        <pc:sldMkLst>
          <pc:docMk/>
          <pc:sldMk cId="807812468" sldId="339"/>
        </pc:sldMkLst>
      </pc:sldChg>
      <pc:sldChg chg="del">
        <pc:chgData name="Kheng Kok MAR (NYP)" userId="62030f1a-a95b-4c33-86e6-478100d64ee1" providerId="ADAL" clId="{58ED7AA8-B633-43EA-B803-6478153F3BD7}" dt="2025-03-21T05:00:06.595" v="137" actId="47"/>
        <pc:sldMkLst>
          <pc:docMk/>
          <pc:sldMk cId="3114733694" sldId="340"/>
        </pc:sldMkLst>
      </pc:sldChg>
      <pc:sldChg chg="del">
        <pc:chgData name="Kheng Kok MAR (NYP)" userId="62030f1a-a95b-4c33-86e6-478100d64ee1" providerId="ADAL" clId="{58ED7AA8-B633-43EA-B803-6478153F3BD7}" dt="2025-03-21T05:00:06.595" v="137" actId="47"/>
        <pc:sldMkLst>
          <pc:docMk/>
          <pc:sldMk cId="3020918737" sldId="341"/>
        </pc:sldMkLst>
      </pc:sldChg>
      <pc:sldChg chg="del">
        <pc:chgData name="Kheng Kok MAR (NYP)" userId="62030f1a-a95b-4c33-86e6-478100d64ee1" providerId="ADAL" clId="{58ED7AA8-B633-43EA-B803-6478153F3BD7}" dt="2025-03-21T05:00:06.595" v="137" actId="47"/>
        <pc:sldMkLst>
          <pc:docMk/>
          <pc:sldMk cId="4113745265" sldId="343"/>
        </pc:sldMkLst>
      </pc:sldChg>
      <pc:sldChg chg="del">
        <pc:chgData name="Kheng Kok MAR (NYP)" userId="62030f1a-a95b-4c33-86e6-478100d64ee1" providerId="ADAL" clId="{58ED7AA8-B633-43EA-B803-6478153F3BD7}" dt="2025-03-21T05:00:06.595" v="137" actId="47"/>
        <pc:sldMkLst>
          <pc:docMk/>
          <pc:sldMk cId="3711056098" sldId="345"/>
        </pc:sldMkLst>
      </pc:sldChg>
      <pc:sldChg chg="del">
        <pc:chgData name="Kheng Kok MAR (NYP)" userId="62030f1a-a95b-4c33-86e6-478100d64ee1" providerId="ADAL" clId="{58ED7AA8-B633-43EA-B803-6478153F3BD7}" dt="2025-03-21T05:00:06.595" v="137" actId="47"/>
        <pc:sldMkLst>
          <pc:docMk/>
          <pc:sldMk cId="1008210905" sldId="346"/>
        </pc:sldMkLst>
      </pc:sldChg>
      <pc:sldChg chg="del">
        <pc:chgData name="Kheng Kok MAR (NYP)" userId="62030f1a-a95b-4c33-86e6-478100d64ee1" providerId="ADAL" clId="{58ED7AA8-B633-43EA-B803-6478153F3BD7}" dt="2025-03-21T05:00:06.595" v="137" actId="47"/>
        <pc:sldMkLst>
          <pc:docMk/>
          <pc:sldMk cId="3922411213" sldId="347"/>
        </pc:sldMkLst>
      </pc:sldChg>
      <pc:sldChg chg="del">
        <pc:chgData name="Kheng Kok MAR (NYP)" userId="62030f1a-a95b-4c33-86e6-478100d64ee1" providerId="ADAL" clId="{58ED7AA8-B633-43EA-B803-6478153F3BD7}" dt="2025-03-21T05:00:06.595" v="137" actId="47"/>
        <pc:sldMkLst>
          <pc:docMk/>
          <pc:sldMk cId="2930374708" sldId="349"/>
        </pc:sldMkLst>
      </pc:sldChg>
      <pc:sldChg chg="del">
        <pc:chgData name="Kheng Kok MAR (NYP)" userId="62030f1a-a95b-4c33-86e6-478100d64ee1" providerId="ADAL" clId="{58ED7AA8-B633-43EA-B803-6478153F3BD7}" dt="2025-03-21T05:00:06.595" v="137" actId="47"/>
        <pc:sldMkLst>
          <pc:docMk/>
          <pc:sldMk cId="1062503712" sldId="353"/>
        </pc:sldMkLst>
      </pc:sldChg>
      <pc:sldChg chg="del">
        <pc:chgData name="Kheng Kok MAR (NYP)" userId="62030f1a-a95b-4c33-86e6-478100d64ee1" providerId="ADAL" clId="{58ED7AA8-B633-43EA-B803-6478153F3BD7}" dt="2025-03-21T05:00:06.595" v="137" actId="47"/>
        <pc:sldMkLst>
          <pc:docMk/>
          <pc:sldMk cId="2186340524" sldId="354"/>
        </pc:sldMkLst>
      </pc:sldChg>
      <pc:sldChg chg="del">
        <pc:chgData name="Kheng Kok MAR (NYP)" userId="62030f1a-a95b-4c33-86e6-478100d64ee1" providerId="ADAL" clId="{58ED7AA8-B633-43EA-B803-6478153F3BD7}" dt="2025-03-21T05:00:06.595" v="137" actId="47"/>
        <pc:sldMkLst>
          <pc:docMk/>
          <pc:sldMk cId="2351436070" sldId="358"/>
        </pc:sldMkLst>
      </pc:sldChg>
      <pc:sldChg chg="del">
        <pc:chgData name="Kheng Kok MAR (NYP)" userId="62030f1a-a95b-4c33-86e6-478100d64ee1" providerId="ADAL" clId="{58ED7AA8-B633-43EA-B803-6478153F3BD7}" dt="2025-03-21T05:00:06.595" v="137" actId="47"/>
        <pc:sldMkLst>
          <pc:docMk/>
          <pc:sldMk cId="3516845528" sldId="359"/>
        </pc:sldMkLst>
      </pc:sldChg>
      <pc:sldChg chg="del">
        <pc:chgData name="Kheng Kok MAR (NYP)" userId="62030f1a-a95b-4c33-86e6-478100d64ee1" providerId="ADAL" clId="{58ED7AA8-B633-43EA-B803-6478153F3BD7}" dt="2025-03-21T05:00:06.595" v="137" actId="47"/>
        <pc:sldMkLst>
          <pc:docMk/>
          <pc:sldMk cId="2606275055" sldId="366"/>
        </pc:sldMkLst>
      </pc:sldChg>
      <pc:sldChg chg="del">
        <pc:chgData name="Kheng Kok MAR (NYP)" userId="62030f1a-a95b-4c33-86e6-478100d64ee1" providerId="ADAL" clId="{58ED7AA8-B633-43EA-B803-6478153F3BD7}" dt="2025-03-21T05:00:06.595" v="137" actId="47"/>
        <pc:sldMkLst>
          <pc:docMk/>
          <pc:sldMk cId="3873997129" sldId="368"/>
        </pc:sldMkLst>
      </pc:sldChg>
      <pc:sldChg chg="del">
        <pc:chgData name="Kheng Kok MAR (NYP)" userId="62030f1a-a95b-4c33-86e6-478100d64ee1" providerId="ADAL" clId="{58ED7AA8-B633-43EA-B803-6478153F3BD7}" dt="2025-03-21T05:00:06.595" v="137" actId="47"/>
        <pc:sldMkLst>
          <pc:docMk/>
          <pc:sldMk cId="196573934" sldId="369"/>
        </pc:sldMkLst>
      </pc:sldChg>
      <pc:sldChg chg="del">
        <pc:chgData name="Kheng Kok MAR (NYP)" userId="62030f1a-a95b-4c33-86e6-478100d64ee1" providerId="ADAL" clId="{58ED7AA8-B633-43EA-B803-6478153F3BD7}" dt="2025-03-21T05:00:06.595" v="137" actId="47"/>
        <pc:sldMkLst>
          <pc:docMk/>
          <pc:sldMk cId="3624530038" sldId="370"/>
        </pc:sldMkLst>
      </pc:sldChg>
      <pc:sldChg chg="del">
        <pc:chgData name="Kheng Kok MAR (NYP)" userId="62030f1a-a95b-4c33-86e6-478100d64ee1" providerId="ADAL" clId="{58ED7AA8-B633-43EA-B803-6478153F3BD7}" dt="2025-03-21T05:00:06.595" v="137" actId="47"/>
        <pc:sldMkLst>
          <pc:docMk/>
          <pc:sldMk cId="2836799505" sldId="372"/>
        </pc:sldMkLst>
      </pc:sldChg>
      <pc:sldChg chg="del">
        <pc:chgData name="Kheng Kok MAR (NYP)" userId="62030f1a-a95b-4c33-86e6-478100d64ee1" providerId="ADAL" clId="{58ED7AA8-B633-43EA-B803-6478153F3BD7}" dt="2025-03-21T05:00:12.373" v="139" actId="47"/>
        <pc:sldMkLst>
          <pc:docMk/>
          <pc:sldMk cId="2712846146" sldId="373"/>
        </pc:sldMkLst>
      </pc:sldChg>
      <pc:sldChg chg="del">
        <pc:chgData name="Kheng Kok MAR (NYP)" userId="62030f1a-a95b-4c33-86e6-478100d64ee1" providerId="ADAL" clId="{58ED7AA8-B633-43EA-B803-6478153F3BD7}" dt="2025-03-21T05:00:06.595" v="137" actId="47"/>
        <pc:sldMkLst>
          <pc:docMk/>
          <pc:sldMk cId="2931830914" sldId="374"/>
        </pc:sldMkLst>
      </pc:sldChg>
      <pc:sldChg chg="del">
        <pc:chgData name="Kheng Kok MAR (NYP)" userId="62030f1a-a95b-4c33-86e6-478100d64ee1" providerId="ADAL" clId="{58ED7AA8-B633-43EA-B803-6478153F3BD7}" dt="2025-03-21T05:00:06.595" v="137" actId="47"/>
        <pc:sldMkLst>
          <pc:docMk/>
          <pc:sldMk cId="799979536" sldId="375"/>
        </pc:sldMkLst>
      </pc:sldChg>
      <pc:sldChg chg="del">
        <pc:chgData name="Kheng Kok MAR (NYP)" userId="62030f1a-a95b-4c33-86e6-478100d64ee1" providerId="ADAL" clId="{58ED7AA8-B633-43EA-B803-6478153F3BD7}" dt="2025-03-21T05:00:10.423" v="138" actId="47"/>
        <pc:sldMkLst>
          <pc:docMk/>
          <pc:sldMk cId="2780781574" sldId="377"/>
        </pc:sldMkLst>
      </pc:sldChg>
      <pc:sldChg chg="del">
        <pc:chgData name="Kheng Kok MAR (NYP)" userId="62030f1a-a95b-4c33-86e6-478100d64ee1" providerId="ADAL" clId="{58ED7AA8-B633-43EA-B803-6478153F3BD7}" dt="2025-03-21T05:00:06.595" v="137" actId="47"/>
        <pc:sldMkLst>
          <pc:docMk/>
          <pc:sldMk cId="1274829805" sldId="378"/>
        </pc:sldMkLst>
      </pc:sldChg>
      <pc:sldChg chg="del">
        <pc:chgData name="Kheng Kok MAR (NYP)" userId="62030f1a-a95b-4c33-86e6-478100d64ee1" providerId="ADAL" clId="{58ED7AA8-B633-43EA-B803-6478153F3BD7}" dt="2025-03-21T04:59:46.679" v="135" actId="47"/>
        <pc:sldMkLst>
          <pc:docMk/>
          <pc:sldMk cId="1802167371" sldId="379"/>
        </pc:sldMkLst>
      </pc:sldChg>
      <pc:sldChg chg="del">
        <pc:chgData name="Kheng Kok MAR (NYP)" userId="62030f1a-a95b-4c33-86e6-478100d64ee1" providerId="ADAL" clId="{58ED7AA8-B633-43EA-B803-6478153F3BD7}" dt="2025-03-21T04:59:46.679" v="135" actId="47"/>
        <pc:sldMkLst>
          <pc:docMk/>
          <pc:sldMk cId="2990305848" sldId="380"/>
        </pc:sldMkLst>
      </pc:sldChg>
      <pc:sldChg chg="del">
        <pc:chgData name="Kheng Kok MAR (NYP)" userId="62030f1a-a95b-4c33-86e6-478100d64ee1" providerId="ADAL" clId="{58ED7AA8-B633-43EA-B803-6478153F3BD7}" dt="2025-03-21T04:59:58.739" v="136" actId="47"/>
        <pc:sldMkLst>
          <pc:docMk/>
          <pc:sldMk cId="3422701620" sldId="381"/>
        </pc:sldMkLst>
      </pc:sldChg>
      <pc:sldChg chg="del">
        <pc:chgData name="Kheng Kok MAR (NYP)" userId="62030f1a-a95b-4c33-86e6-478100d64ee1" providerId="ADAL" clId="{58ED7AA8-B633-43EA-B803-6478153F3BD7}" dt="2025-03-21T05:00:06.595" v="137" actId="47"/>
        <pc:sldMkLst>
          <pc:docMk/>
          <pc:sldMk cId="2680813618" sldId="383"/>
        </pc:sldMkLst>
      </pc:sldChg>
      <pc:sldChg chg="del">
        <pc:chgData name="Kheng Kok MAR (NYP)" userId="62030f1a-a95b-4c33-86e6-478100d64ee1" providerId="ADAL" clId="{58ED7AA8-B633-43EA-B803-6478153F3BD7}" dt="2025-03-21T05:00:06.595" v="137" actId="47"/>
        <pc:sldMkLst>
          <pc:docMk/>
          <pc:sldMk cId="3875934704" sldId="384"/>
        </pc:sldMkLst>
      </pc:sldChg>
      <pc:sldChg chg="del">
        <pc:chgData name="Kheng Kok MAR (NYP)" userId="62030f1a-a95b-4c33-86e6-478100d64ee1" providerId="ADAL" clId="{58ED7AA8-B633-43EA-B803-6478153F3BD7}" dt="2025-03-21T05:00:06.595" v="137" actId="47"/>
        <pc:sldMkLst>
          <pc:docMk/>
          <pc:sldMk cId="2619453085" sldId="385"/>
        </pc:sldMkLst>
      </pc:sldChg>
      <pc:sldChg chg="del">
        <pc:chgData name="Kheng Kok MAR (NYP)" userId="62030f1a-a95b-4c33-86e6-478100d64ee1" providerId="ADAL" clId="{58ED7AA8-B633-43EA-B803-6478153F3BD7}" dt="2025-03-21T05:00:06.595" v="137" actId="47"/>
        <pc:sldMkLst>
          <pc:docMk/>
          <pc:sldMk cId="4041534699" sldId="386"/>
        </pc:sldMkLst>
      </pc:sldChg>
      <pc:sldChg chg="del">
        <pc:chgData name="Kheng Kok MAR (NYP)" userId="62030f1a-a95b-4c33-86e6-478100d64ee1" providerId="ADAL" clId="{58ED7AA8-B633-43EA-B803-6478153F3BD7}" dt="2025-03-21T05:00:06.595" v="137" actId="47"/>
        <pc:sldMkLst>
          <pc:docMk/>
          <pc:sldMk cId="3434463523" sldId="387"/>
        </pc:sldMkLst>
      </pc:sldChg>
      <pc:sldChg chg="del">
        <pc:chgData name="Kheng Kok MAR (NYP)" userId="62030f1a-a95b-4c33-86e6-478100d64ee1" providerId="ADAL" clId="{58ED7AA8-B633-43EA-B803-6478153F3BD7}" dt="2025-03-21T05:00:06.595" v="137" actId="47"/>
        <pc:sldMkLst>
          <pc:docMk/>
          <pc:sldMk cId="3273044271" sldId="388"/>
        </pc:sldMkLst>
      </pc:sldChg>
      <pc:sldChg chg="del">
        <pc:chgData name="Kheng Kok MAR (NYP)" userId="62030f1a-a95b-4c33-86e6-478100d64ee1" providerId="ADAL" clId="{58ED7AA8-B633-43EA-B803-6478153F3BD7}" dt="2025-03-21T05:00:06.595" v="137" actId="47"/>
        <pc:sldMkLst>
          <pc:docMk/>
          <pc:sldMk cId="2594403404" sldId="389"/>
        </pc:sldMkLst>
      </pc:sldChg>
      <pc:sldChg chg="del">
        <pc:chgData name="Kheng Kok MAR (NYP)" userId="62030f1a-a95b-4c33-86e6-478100d64ee1" providerId="ADAL" clId="{58ED7AA8-B633-43EA-B803-6478153F3BD7}" dt="2025-03-21T05:00:06.595" v="137" actId="47"/>
        <pc:sldMkLst>
          <pc:docMk/>
          <pc:sldMk cId="2584676501" sldId="390"/>
        </pc:sldMkLst>
      </pc:sldChg>
      <pc:sldChg chg="del">
        <pc:chgData name="Kheng Kok MAR (NYP)" userId="62030f1a-a95b-4c33-86e6-478100d64ee1" providerId="ADAL" clId="{58ED7AA8-B633-43EA-B803-6478153F3BD7}" dt="2025-03-21T05:00:06.595" v="137" actId="47"/>
        <pc:sldMkLst>
          <pc:docMk/>
          <pc:sldMk cId="4048104730" sldId="391"/>
        </pc:sldMkLst>
      </pc:sldChg>
      <pc:sldChg chg="del">
        <pc:chgData name="Kheng Kok MAR (NYP)" userId="62030f1a-a95b-4c33-86e6-478100d64ee1" providerId="ADAL" clId="{58ED7AA8-B633-43EA-B803-6478153F3BD7}" dt="2025-03-21T05:00:06.595" v="137" actId="47"/>
        <pc:sldMkLst>
          <pc:docMk/>
          <pc:sldMk cId="761234270" sldId="392"/>
        </pc:sldMkLst>
      </pc:sldChg>
      <pc:sldChg chg="del">
        <pc:chgData name="Kheng Kok MAR (NYP)" userId="62030f1a-a95b-4c33-86e6-478100d64ee1" providerId="ADAL" clId="{58ED7AA8-B633-43EA-B803-6478153F3BD7}" dt="2025-03-21T05:00:06.595" v="137" actId="47"/>
        <pc:sldMkLst>
          <pc:docMk/>
          <pc:sldMk cId="3140442699" sldId="393"/>
        </pc:sldMkLst>
      </pc:sldChg>
      <pc:sldChg chg="del">
        <pc:chgData name="Kheng Kok MAR (NYP)" userId="62030f1a-a95b-4c33-86e6-478100d64ee1" providerId="ADAL" clId="{58ED7AA8-B633-43EA-B803-6478153F3BD7}" dt="2025-03-21T05:00:06.595" v="137" actId="47"/>
        <pc:sldMkLst>
          <pc:docMk/>
          <pc:sldMk cId="2799622941" sldId="394"/>
        </pc:sldMkLst>
      </pc:sldChg>
      <pc:sldChg chg="del">
        <pc:chgData name="Kheng Kok MAR (NYP)" userId="62030f1a-a95b-4c33-86e6-478100d64ee1" providerId="ADAL" clId="{58ED7AA8-B633-43EA-B803-6478153F3BD7}" dt="2025-03-21T05:00:06.595" v="137" actId="47"/>
        <pc:sldMkLst>
          <pc:docMk/>
          <pc:sldMk cId="2213993344" sldId="395"/>
        </pc:sldMkLst>
      </pc:sldChg>
      <pc:sldChg chg="del">
        <pc:chgData name="Kheng Kok MAR (NYP)" userId="62030f1a-a95b-4c33-86e6-478100d64ee1" providerId="ADAL" clId="{58ED7AA8-B633-43EA-B803-6478153F3BD7}" dt="2025-03-21T05:00:06.595" v="137" actId="47"/>
        <pc:sldMkLst>
          <pc:docMk/>
          <pc:sldMk cId="1879657340" sldId="396"/>
        </pc:sldMkLst>
      </pc:sldChg>
      <pc:sldChg chg="del">
        <pc:chgData name="Kheng Kok MAR (NYP)" userId="62030f1a-a95b-4c33-86e6-478100d64ee1" providerId="ADAL" clId="{58ED7AA8-B633-43EA-B803-6478153F3BD7}" dt="2025-03-21T05:00:06.595" v="137" actId="47"/>
        <pc:sldMkLst>
          <pc:docMk/>
          <pc:sldMk cId="227410163" sldId="397"/>
        </pc:sldMkLst>
      </pc:sldChg>
      <pc:sldChg chg="del">
        <pc:chgData name="Kheng Kok MAR (NYP)" userId="62030f1a-a95b-4c33-86e6-478100d64ee1" providerId="ADAL" clId="{58ED7AA8-B633-43EA-B803-6478153F3BD7}" dt="2025-03-21T05:00:06.595" v="137" actId="47"/>
        <pc:sldMkLst>
          <pc:docMk/>
          <pc:sldMk cId="353696741" sldId="398"/>
        </pc:sldMkLst>
      </pc:sldChg>
      <pc:sldChg chg="del">
        <pc:chgData name="Kheng Kok MAR (NYP)" userId="62030f1a-a95b-4c33-86e6-478100d64ee1" providerId="ADAL" clId="{58ED7AA8-B633-43EA-B803-6478153F3BD7}" dt="2025-03-21T05:00:06.595" v="137" actId="47"/>
        <pc:sldMkLst>
          <pc:docMk/>
          <pc:sldMk cId="3929622885" sldId="399"/>
        </pc:sldMkLst>
      </pc:sldChg>
      <pc:sldChg chg="del">
        <pc:chgData name="Kheng Kok MAR (NYP)" userId="62030f1a-a95b-4c33-86e6-478100d64ee1" providerId="ADAL" clId="{58ED7AA8-B633-43EA-B803-6478153F3BD7}" dt="2025-03-21T05:00:06.595" v="137" actId="47"/>
        <pc:sldMkLst>
          <pc:docMk/>
          <pc:sldMk cId="3406082339" sldId="400"/>
        </pc:sldMkLst>
      </pc:sldChg>
      <pc:sldChg chg="del">
        <pc:chgData name="Kheng Kok MAR (NYP)" userId="62030f1a-a95b-4c33-86e6-478100d64ee1" providerId="ADAL" clId="{58ED7AA8-B633-43EA-B803-6478153F3BD7}" dt="2025-03-21T05:00:06.595" v="137" actId="47"/>
        <pc:sldMkLst>
          <pc:docMk/>
          <pc:sldMk cId="1068316888" sldId="401"/>
        </pc:sldMkLst>
      </pc:sldChg>
      <pc:sldChg chg="modSp add mod">
        <pc:chgData name="Kheng Kok MAR (NYP)" userId="62030f1a-a95b-4c33-86e6-478100d64ee1" providerId="ADAL" clId="{58ED7AA8-B633-43EA-B803-6478153F3BD7}" dt="2025-03-21T04:59:24.160" v="134" actId="20577"/>
        <pc:sldMkLst>
          <pc:docMk/>
          <pc:sldMk cId="3155291161" sldId="402"/>
        </pc:sldMkLst>
        <pc:spChg chg="mod">
          <ac:chgData name="Kheng Kok MAR (NYP)" userId="62030f1a-a95b-4c33-86e6-478100d64ee1" providerId="ADAL" clId="{58ED7AA8-B633-43EA-B803-6478153F3BD7}" dt="2025-03-21T02:00:47.977" v="73" actId="20577"/>
          <ac:spMkLst>
            <pc:docMk/>
            <pc:sldMk cId="3155291161" sldId="402"/>
            <ac:spMk id="2" creationId="{A1D871B1-6C5D-3259-B42A-793ADF2CE90C}"/>
          </ac:spMkLst>
        </pc:spChg>
        <pc:spChg chg="mod">
          <ac:chgData name="Kheng Kok MAR (NYP)" userId="62030f1a-a95b-4c33-86e6-478100d64ee1" providerId="ADAL" clId="{58ED7AA8-B633-43EA-B803-6478153F3BD7}" dt="2025-03-21T04:59:24.160" v="134" actId="20577"/>
          <ac:spMkLst>
            <pc:docMk/>
            <pc:sldMk cId="3155291161" sldId="402"/>
            <ac:spMk id="3" creationId="{DD3B9174-B1BD-7F76-160C-AB73246A18B4}"/>
          </ac:spMkLst>
        </pc:spChg>
      </pc:sldChg>
      <pc:sldChg chg="modSp add del mod">
        <pc:chgData name="Kheng Kok MAR (NYP)" userId="62030f1a-a95b-4c33-86e6-478100d64ee1" providerId="ADAL" clId="{58ED7AA8-B633-43EA-B803-6478153F3BD7}" dt="2025-03-21T02:00:27.386" v="55"/>
        <pc:sldMkLst>
          <pc:docMk/>
          <pc:sldMk cId="3498333577" sldId="402"/>
        </pc:sldMkLst>
        <pc:spChg chg="mod">
          <ac:chgData name="Kheng Kok MAR (NYP)" userId="62030f1a-a95b-4c33-86e6-478100d64ee1" providerId="ADAL" clId="{58ED7AA8-B633-43EA-B803-6478153F3BD7}" dt="2025-03-21T02:00:26.988" v="54" actId="20577"/>
          <ac:spMkLst>
            <pc:docMk/>
            <pc:sldMk cId="3498333577" sldId="402"/>
            <ac:spMk id="2" creationId="{7E5DD8B0-3B00-B572-9211-A9127DBB9BE1}"/>
          </ac:spMkLst>
        </pc:spChg>
      </pc:sldChg>
      <pc:sldChg chg="modSp new mod">
        <pc:chgData name="Kheng Kok MAR (NYP)" userId="62030f1a-a95b-4c33-86e6-478100d64ee1" providerId="ADAL" clId="{58ED7AA8-B633-43EA-B803-6478153F3BD7}" dt="2025-03-21T05:00:48.584" v="153" actId="5793"/>
        <pc:sldMkLst>
          <pc:docMk/>
          <pc:sldMk cId="2767485149" sldId="403"/>
        </pc:sldMkLst>
        <pc:spChg chg="mod">
          <ac:chgData name="Kheng Kok MAR (NYP)" userId="62030f1a-a95b-4c33-86e6-478100d64ee1" providerId="ADAL" clId="{58ED7AA8-B633-43EA-B803-6478153F3BD7}" dt="2025-03-21T05:00:24.783" v="150" actId="20577"/>
          <ac:spMkLst>
            <pc:docMk/>
            <pc:sldMk cId="2767485149" sldId="403"/>
            <ac:spMk id="2" creationId="{B6D222A1-CAB4-531E-D2EE-955F64A570CC}"/>
          </ac:spMkLst>
        </pc:spChg>
        <pc:spChg chg="mod">
          <ac:chgData name="Kheng Kok MAR (NYP)" userId="62030f1a-a95b-4c33-86e6-478100d64ee1" providerId="ADAL" clId="{58ED7AA8-B633-43EA-B803-6478153F3BD7}" dt="2025-03-21T05:00:48.584" v="153" actId="5793"/>
          <ac:spMkLst>
            <pc:docMk/>
            <pc:sldMk cId="2767485149" sldId="403"/>
            <ac:spMk id="3" creationId="{C3D150AC-8FBE-FE32-73FC-FBBA80B56B9E}"/>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action (leader command)</c:v>
                </c:pt>
              </c:strCache>
            </c:strRef>
          </c:tx>
          <c:spPr>
            <a:ln w="34925">
              <a:solidFill>
                <a:srgbClr val="E30613"/>
              </a:solidFill>
            </a:ln>
          </c:spPr>
          <c:marker>
            <c:symbol val="none"/>
          </c:marker>
          <c:cat>
            <c:strRef>
              <c:f>Sheet1!$A$2:$A$32</c:f>
              <c:strCache>
                <c:ptCount val="31"/>
                <c:pt idx="0">
                  <c:v>0.0</c:v>
                </c:pt>
                <c:pt idx="1">
                  <c:v/>
                </c:pt>
                <c:pt idx="2">
                  <c:v/>
                </c:pt>
                <c:pt idx="3">
                  <c:v/>
                </c:pt>
                <c:pt idx="4">
                  <c:v/>
                </c:pt>
                <c:pt idx="5">
                  <c:v>0.2</c:v>
                </c:pt>
                <c:pt idx="6">
                  <c:v/>
                </c:pt>
                <c:pt idx="7">
                  <c:v/>
                </c:pt>
                <c:pt idx="8">
                  <c:v/>
                </c:pt>
                <c:pt idx="9">
                  <c:v/>
                </c:pt>
                <c:pt idx="10">
                  <c:v>0.3</c:v>
                </c:pt>
                <c:pt idx="11">
                  <c:v/>
                </c:pt>
                <c:pt idx="12">
                  <c:v/>
                </c:pt>
                <c:pt idx="13">
                  <c:v/>
                </c:pt>
                <c:pt idx="14">
                  <c:v/>
                </c:pt>
                <c:pt idx="15">
                  <c:v>0.5</c:v>
                </c:pt>
                <c:pt idx="16">
                  <c:v/>
                </c:pt>
                <c:pt idx="17">
                  <c:v/>
                </c:pt>
                <c:pt idx="18">
                  <c:v/>
                </c:pt>
                <c:pt idx="19">
                  <c:v/>
                </c:pt>
                <c:pt idx="20">
                  <c:v>0.7</c:v>
                </c:pt>
                <c:pt idx="21">
                  <c:v/>
                </c:pt>
                <c:pt idx="22">
                  <c:v/>
                </c:pt>
                <c:pt idx="23">
                  <c:v/>
                </c:pt>
                <c:pt idx="24">
                  <c:v/>
                </c:pt>
                <c:pt idx="25">
                  <c:v>0.8</c:v>
                </c:pt>
                <c:pt idx="26">
                  <c:v/>
                </c:pt>
                <c:pt idx="27">
                  <c:v/>
                </c:pt>
                <c:pt idx="28">
                  <c:v/>
                </c:pt>
                <c:pt idx="29">
                  <c:v/>
                </c:pt>
                <c:pt idx="30">
                  <c:v>1.0</c:v>
                </c:pt>
              </c:strCache>
            </c:strRef>
          </c:cat>
          <c:val>
            <c:numRef>
              <c:f>Sheet1!$B$2:$B$32</c:f>
              <c:numCache>
                <c:formatCode>General</c:formatCode>
                <c:ptCount val="31"/>
                <c:pt idx="0">
                  <c:v>20.0</c:v>
                </c:pt>
                <c:pt idx="1">
                  <c:v>20.2</c:v>
                </c:pt>
                <c:pt idx="2">
                  <c:v>21.0</c:v>
                </c:pt>
                <c:pt idx="3">
                  <c:v>22.2</c:v>
                </c:pt>
                <c:pt idx="4">
                  <c:v>23.8</c:v>
                </c:pt>
                <c:pt idx="5">
                  <c:v>25.9</c:v>
                </c:pt>
                <c:pt idx="6">
                  <c:v>28.2</c:v>
                </c:pt>
                <c:pt idx="7">
                  <c:v>30.9</c:v>
                </c:pt>
                <c:pt idx="8">
                  <c:v>33.8</c:v>
                </c:pt>
                <c:pt idx="9">
                  <c:v>36.9</c:v>
                </c:pt>
                <c:pt idx="10">
                  <c:v>40.0</c:v>
                </c:pt>
                <c:pt idx="11">
                  <c:v>43.1</c:v>
                </c:pt>
                <c:pt idx="12">
                  <c:v>46.2</c:v>
                </c:pt>
                <c:pt idx="13">
                  <c:v>49.1</c:v>
                </c:pt>
                <c:pt idx="14">
                  <c:v>51.8</c:v>
                </c:pt>
                <c:pt idx="15">
                  <c:v>54.1</c:v>
                </c:pt>
                <c:pt idx="16">
                  <c:v>56.2</c:v>
                </c:pt>
                <c:pt idx="17">
                  <c:v>57.8</c:v>
                </c:pt>
                <c:pt idx="18">
                  <c:v>59.0</c:v>
                </c:pt>
                <c:pt idx="19">
                  <c:v>59.8</c:v>
                </c:pt>
                <c:pt idx="20">
                  <c:v>60.0</c:v>
                </c:pt>
                <c:pt idx="21">
                  <c:v>60.0</c:v>
                </c:pt>
                <c:pt idx="22">
                  <c:v>60.0</c:v>
                </c:pt>
                <c:pt idx="23">
                  <c:v>60.0</c:v>
                </c:pt>
                <c:pt idx="24">
                  <c:v>60.0</c:v>
                </c:pt>
                <c:pt idx="25">
                  <c:v>60.0</c:v>
                </c:pt>
                <c:pt idx="26">
                  <c:v>60.0</c:v>
                </c:pt>
                <c:pt idx="27">
                  <c:v>60.0</c:v>
                </c:pt>
                <c:pt idx="28">
                  <c:v>60.0</c:v>
                </c:pt>
                <c:pt idx="29">
                  <c:v>60.0</c:v>
                </c:pt>
                <c:pt idx="30">
                  <c:v>60.0</c:v>
                </c:pt>
              </c:numCache>
            </c:numRef>
          </c:val>
          <c:smooth val="0"/>
        </c:ser>
        <c:ser>
          <c:idx val="1"/>
          <c:order val="1"/>
          <c:tx>
            <c:strRef>
              <c:f>Sheet1!$C$1</c:f>
              <c:strCache>
                <c:ptCount val="1"/>
                <c:pt idx="0">
                  <c:v>state (follower position)</c:v>
                </c:pt>
              </c:strCache>
            </c:strRef>
          </c:tx>
          <c:spPr>
            <a:ln w="34925">
              <a:solidFill>
                <a:srgbClr val="164194"/>
              </a:solidFill>
            </a:ln>
          </c:spPr>
          <c:marker>
            <c:symbol val="none"/>
          </c:marker>
          <c:cat>
            <c:strRef>
              <c:f>Sheet1!$A$2:$A$32</c:f>
              <c:strCache>
                <c:ptCount val="31"/>
                <c:pt idx="0">
                  <c:v>0.0</c:v>
                </c:pt>
                <c:pt idx="1">
                  <c:v/>
                </c:pt>
                <c:pt idx="2">
                  <c:v/>
                </c:pt>
                <c:pt idx="3">
                  <c:v/>
                </c:pt>
                <c:pt idx="4">
                  <c:v/>
                </c:pt>
                <c:pt idx="5">
                  <c:v>0.2</c:v>
                </c:pt>
                <c:pt idx="6">
                  <c:v/>
                </c:pt>
                <c:pt idx="7">
                  <c:v/>
                </c:pt>
                <c:pt idx="8">
                  <c:v/>
                </c:pt>
                <c:pt idx="9">
                  <c:v/>
                </c:pt>
                <c:pt idx="10">
                  <c:v>0.3</c:v>
                </c:pt>
                <c:pt idx="11">
                  <c:v/>
                </c:pt>
                <c:pt idx="12">
                  <c:v/>
                </c:pt>
                <c:pt idx="13">
                  <c:v/>
                </c:pt>
                <c:pt idx="14">
                  <c:v/>
                </c:pt>
                <c:pt idx="15">
                  <c:v>0.5</c:v>
                </c:pt>
                <c:pt idx="16">
                  <c:v/>
                </c:pt>
                <c:pt idx="17">
                  <c:v/>
                </c:pt>
                <c:pt idx="18">
                  <c:v/>
                </c:pt>
                <c:pt idx="19">
                  <c:v/>
                </c:pt>
                <c:pt idx="20">
                  <c:v>0.7</c:v>
                </c:pt>
                <c:pt idx="21">
                  <c:v/>
                </c:pt>
                <c:pt idx="22">
                  <c:v/>
                </c:pt>
                <c:pt idx="23">
                  <c:v/>
                </c:pt>
                <c:pt idx="24">
                  <c:v/>
                </c:pt>
                <c:pt idx="25">
                  <c:v>0.8</c:v>
                </c:pt>
                <c:pt idx="26">
                  <c:v/>
                </c:pt>
                <c:pt idx="27">
                  <c:v/>
                </c:pt>
                <c:pt idx="28">
                  <c:v/>
                </c:pt>
                <c:pt idx="29">
                  <c:v/>
                </c:pt>
                <c:pt idx="30">
                  <c:v>1.0</c:v>
                </c:pt>
              </c:strCache>
            </c:strRef>
          </c:cat>
          <c:val>
            <c:numRef>
              <c:f>Sheet1!$C$2:$C$32</c:f>
              <c:numCache>
                <c:formatCode>General</c:formatCode>
                <c:ptCount val="31"/>
                <c:pt idx="0">
                  <c:v>20.0</c:v>
                </c:pt>
                <c:pt idx="1">
                  <c:v>20.0</c:v>
                </c:pt>
                <c:pt idx="2">
                  <c:v>20.0</c:v>
                </c:pt>
                <c:pt idx="3">
                  <c:v>20.0</c:v>
                </c:pt>
                <c:pt idx="4">
                  <c:v>20.2</c:v>
                </c:pt>
                <c:pt idx="5">
                  <c:v>21.0</c:v>
                </c:pt>
                <c:pt idx="6">
                  <c:v>20.7</c:v>
                </c:pt>
                <c:pt idx="7">
                  <c:v>22.3</c:v>
                </c:pt>
                <c:pt idx="8">
                  <c:v>24.4</c:v>
                </c:pt>
                <c:pt idx="9">
                  <c:v>26.7</c:v>
                </c:pt>
                <c:pt idx="10">
                  <c:v>29.4</c:v>
                </c:pt>
                <c:pt idx="11">
                  <c:v>32.3</c:v>
                </c:pt>
                <c:pt idx="12">
                  <c:v>35.4</c:v>
                </c:pt>
                <c:pt idx="13">
                  <c:v>38.5</c:v>
                </c:pt>
                <c:pt idx="14">
                  <c:v>41.6</c:v>
                </c:pt>
                <c:pt idx="15">
                  <c:v>44.7</c:v>
                </c:pt>
                <c:pt idx="16">
                  <c:v>47.6</c:v>
                </c:pt>
                <c:pt idx="17">
                  <c:v>50.3</c:v>
                </c:pt>
                <c:pt idx="18">
                  <c:v>52.6</c:v>
                </c:pt>
                <c:pt idx="19">
                  <c:v>54.7</c:v>
                </c:pt>
                <c:pt idx="20">
                  <c:v>56.3</c:v>
                </c:pt>
                <c:pt idx="21">
                  <c:v>57.5</c:v>
                </c:pt>
                <c:pt idx="22">
                  <c:v>58.3</c:v>
                </c:pt>
                <c:pt idx="23">
                  <c:v>58.5</c:v>
                </c:pt>
                <c:pt idx="24">
                  <c:v>58.5</c:v>
                </c:pt>
                <c:pt idx="25">
                  <c:v>58.5</c:v>
                </c:pt>
                <c:pt idx="26">
                  <c:v>60.0</c:v>
                </c:pt>
                <c:pt idx="27">
                  <c:v>60.0</c:v>
                </c:pt>
                <c:pt idx="28">
                  <c:v>60.0</c:v>
                </c:pt>
                <c:pt idx="29">
                  <c:v>60.0</c:v>
                </c:pt>
                <c:pt idx="30">
                  <c:v>60.0</c:v>
                </c:pt>
              </c:numCache>
            </c:numRef>
          </c:val>
          <c:smooth val="0"/>
        </c:ser>
        <c:marker val="1"/>
        <c:smooth val="0"/>
        <c:axId val="2118791784"/>
        <c:axId val="2140495176"/>
      </c:lineChart>
      <c:catAx>
        <c:axId val="2118791784"/>
        <c:scaling>
          <c:orientation val="minMax"/>
        </c:scaling>
        <c:delete val="0"/>
        <c:axPos val="b"/>
        <c:title>
          <c:tx>
            <c:rich>
              <a:bodyPr/>
              <a:lstStyle/>
              <a:p>
                <a:r>
                  <a:rPr sz="1200"/>
                  <a:t>time (s)</a:t>
                </a:r>
              </a:p>
            </c:rich>
          </c:tx>
          <c:layout/>
          <c:overlay val="0"/>
        </c:title>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70.0"/>
          <c:min val="10.0"/>
        </c:scaling>
        <c:delete val="0"/>
        <c:axPos val="l"/>
        <c:majorGridlines>
          <c:spPr>
            <a:ln>
              <a:solidFill>
                <a:srgbClr val="E3E7F0"/>
              </a:solidFill>
            </a:ln>
          </c:spPr>
        </c:majorGridlines>
        <c:title>
          <c:tx>
            <c:rich>
              <a:bodyPr/>
              <a:lstStyle/>
              <a:p>
                <a:r>
                  <a:rPr sz="1200"/>
                  <a:t>elbow_flex (calibrated units)</a:t>
                </a:r>
              </a:p>
            </c:rich>
          </c:tx>
          <c:layout/>
          <c:overlay val="0"/>
        </c:title>
        <c:majorTickMark val="out"/>
        <c:minorTickMark val="none"/>
        <c:tickLblPos val="nextTo"/>
        <c:spPr>
          <a:ln>
            <a:noFill/>
          </a:ln>
        </c:spPr>
        <c:crossAx val="2118791784"/>
        <c:crosses val="autoZero"/>
      </c:valAx>
    </c:plotArea>
    <c:legend>
      <c:legendPos val="t"/>
      <c:layout/>
      <c:overlay val="0"/>
    </c:legend>
    <c:plotVisOnly val="1"/>
    <c:dispBlanksAs val="gap"/>
    <c:showDLblsOverMax val="0"/>
  </c:chart>
  <c:txPr>
    <a:bodyPr/>
    <a:lstStyle/>
    <a:p>
      <a:pPr>
        <a:defRPr sz="1200">
          <a:solidFill>
            <a:srgbClr val="5B6275"/>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keyboard (step-like)</c:v>
                </c:pt>
              </c:strCache>
            </c:strRef>
          </c:tx>
          <c:spPr>
            <a:ln w="34925">
              <a:solidFill>
                <a:srgbClr val="E30613"/>
              </a:solidFill>
            </a:ln>
          </c:spPr>
          <c:marker>
            <c:symbol val="none"/>
          </c:marker>
          <c:cat>
            <c:strRef>
              <c:f>Sheet1!$A$2:$A$42</c:f>
              <c:strCache>
                <c:ptCount val="41"/>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strCache>
            </c:strRef>
          </c:cat>
          <c:val>
            <c:numRef>
              <c:f>Sheet1!$B$2:$B$42</c:f>
              <c:numCache>
                <c:formatCode>General</c:formatCode>
                <c:ptCount val="41"/>
                <c:pt idx="0">
                  <c:v>20</c:v>
                </c:pt>
                <c:pt idx="1">
                  <c:v>20</c:v>
                </c:pt>
                <c:pt idx="2">
                  <c:v>20</c:v>
                </c:pt>
                <c:pt idx="3">
                  <c:v>20</c:v>
                </c:pt>
                <c:pt idx="4">
                  <c:v>20</c:v>
                </c:pt>
                <c:pt idx="5">
                  <c:v>20</c:v>
                </c:pt>
                <c:pt idx="6">
                  <c:v>20</c:v>
                </c:pt>
                <c:pt idx="7">
                  <c:v>20</c:v>
                </c:pt>
                <c:pt idx="8">
                  <c:v>28</c:v>
                </c:pt>
                <c:pt idx="9">
                  <c:v>28</c:v>
                </c:pt>
                <c:pt idx="10">
                  <c:v>28</c:v>
                </c:pt>
                <c:pt idx="11">
                  <c:v>28</c:v>
                </c:pt>
                <c:pt idx="12">
                  <c:v>28</c:v>
                </c:pt>
                <c:pt idx="13">
                  <c:v>28</c:v>
                </c:pt>
                <c:pt idx="14">
                  <c:v>28</c:v>
                </c:pt>
                <c:pt idx="15">
                  <c:v>28</c:v>
                </c:pt>
                <c:pt idx="16">
                  <c:v>36</c:v>
                </c:pt>
                <c:pt idx="17">
                  <c:v>36</c:v>
                </c:pt>
                <c:pt idx="18">
                  <c:v>36</c:v>
                </c:pt>
                <c:pt idx="19">
                  <c:v>36</c:v>
                </c:pt>
                <c:pt idx="20">
                  <c:v>36</c:v>
                </c:pt>
                <c:pt idx="21">
                  <c:v>36</c:v>
                </c:pt>
                <c:pt idx="22">
                  <c:v>36</c:v>
                </c:pt>
                <c:pt idx="23">
                  <c:v>36</c:v>
                </c:pt>
                <c:pt idx="24">
                  <c:v>44</c:v>
                </c:pt>
                <c:pt idx="25">
                  <c:v>44</c:v>
                </c:pt>
                <c:pt idx="26">
                  <c:v>44</c:v>
                </c:pt>
                <c:pt idx="27">
                  <c:v>44</c:v>
                </c:pt>
                <c:pt idx="28">
                  <c:v>44</c:v>
                </c:pt>
                <c:pt idx="29">
                  <c:v>44</c:v>
                </c:pt>
                <c:pt idx="30">
                  <c:v>44</c:v>
                </c:pt>
                <c:pt idx="31">
                  <c:v>44</c:v>
                </c:pt>
                <c:pt idx="32">
                  <c:v>52</c:v>
                </c:pt>
                <c:pt idx="33">
                  <c:v>52</c:v>
                </c:pt>
                <c:pt idx="34">
                  <c:v>52</c:v>
                </c:pt>
                <c:pt idx="35">
                  <c:v>52</c:v>
                </c:pt>
                <c:pt idx="36">
                  <c:v>52</c:v>
                </c:pt>
                <c:pt idx="37">
                  <c:v>52</c:v>
                </c:pt>
                <c:pt idx="38">
                  <c:v>52</c:v>
                </c:pt>
                <c:pt idx="39">
                  <c:v>52</c:v>
                </c:pt>
                <c:pt idx="40">
                  <c:v>52</c:v>
                </c:pt>
              </c:numCache>
            </c:numRef>
          </c:val>
          <c:smooth val="0"/>
        </c:ser>
        <c:ser>
          <c:idx val="1"/>
          <c:order val="1"/>
          <c:tx>
            <c:strRef>
              <c:f>Sheet1!$C$1</c:f>
              <c:strCache>
                <c:ptCount val="1"/>
                <c:pt idx="0">
                  <c:v>leader arm (smooth)</c:v>
                </c:pt>
              </c:strCache>
            </c:strRef>
          </c:tx>
          <c:spPr>
            <a:ln w="34925">
              <a:solidFill>
                <a:srgbClr val="0F6E6A"/>
              </a:solidFill>
            </a:ln>
          </c:spPr>
          <c:marker>
            <c:symbol val="none"/>
          </c:marker>
          <c:cat>
            <c:strRef>
              <c:f>Sheet1!$A$2:$A$42</c:f>
              <c:strCache>
                <c:ptCount val="41"/>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strCache>
            </c:strRef>
          </c:cat>
          <c:val>
            <c:numRef>
              <c:f>Sheet1!$C$2:$C$42</c:f>
              <c:numCache>
                <c:formatCode>General</c:formatCode>
                <c:ptCount val="41"/>
                <c:pt idx="0">
                  <c:v>20.0</c:v>
                </c:pt>
                <c:pt idx="1">
                  <c:v>20.1</c:v>
                </c:pt>
                <c:pt idx="2">
                  <c:v>20.2</c:v>
                </c:pt>
                <c:pt idx="3">
                  <c:v>20.5</c:v>
                </c:pt>
                <c:pt idx="4">
                  <c:v>21.0</c:v>
                </c:pt>
                <c:pt idx="5">
                  <c:v>21.5</c:v>
                </c:pt>
                <c:pt idx="6">
                  <c:v>22.1</c:v>
                </c:pt>
                <c:pt idx="7">
                  <c:v>22.9</c:v>
                </c:pt>
                <c:pt idx="8">
                  <c:v>23.7</c:v>
                </c:pt>
                <c:pt idx="9">
                  <c:v>24.7</c:v>
                </c:pt>
                <c:pt idx="10">
                  <c:v>25.7</c:v>
                </c:pt>
                <c:pt idx="11">
                  <c:v>26.8</c:v>
                </c:pt>
                <c:pt idx="12">
                  <c:v>28.0</c:v>
                </c:pt>
                <c:pt idx="13">
                  <c:v>29.2</c:v>
                </c:pt>
                <c:pt idx="14">
                  <c:v>30.5</c:v>
                </c:pt>
                <c:pt idx="15">
                  <c:v>31.9</c:v>
                </c:pt>
                <c:pt idx="16">
                  <c:v>33.2</c:v>
                </c:pt>
                <c:pt idx="17">
                  <c:v>34.6</c:v>
                </c:pt>
                <c:pt idx="18">
                  <c:v>36.0</c:v>
                </c:pt>
                <c:pt idx="19">
                  <c:v>37.4</c:v>
                </c:pt>
                <c:pt idx="20">
                  <c:v>38.8</c:v>
                </c:pt>
                <c:pt idx="21">
                  <c:v>40.1</c:v>
                </c:pt>
                <c:pt idx="22">
                  <c:v>41.5</c:v>
                </c:pt>
                <c:pt idx="23">
                  <c:v>42.8</c:v>
                </c:pt>
                <c:pt idx="24">
                  <c:v>44.0</c:v>
                </c:pt>
                <c:pt idx="25">
                  <c:v>45.2</c:v>
                </c:pt>
                <c:pt idx="26">
                  <c:v>46.3</c:v>
                </c:pt>
                <c:pt idx="27">
                  <c:v>47.3</c:v>
                </c:pt>
                <c:pt idx="28">
                  <c:v>48.3</c:v>
                </c:pt>
                <c:pt idx="29">
                  <c:v>49.1</c:v>
                </c:pt>
                <c:pt idx="30">
                  <c:v>49.9</c:v>
                </c:pt>
                <c:pt idx="31">
                  <c:v>50.5</c:v>
                </c:pt>
                <c:pt idx="32">
                  <c:v>51.0</c:v>
                </c:pt>
                <c:pt idx="33">
                  <c:v>51.5</c:v>
                </c:pt>
                <c:pt idx="34">
                  <c:v>51.8</c:v>
                </c:pt>
                <c:pt idx="35">
                  <c:v>51.9</c:v>
                </c:pt>
                <c:pt idx="36">
                  <c:v>52.0</c:v>
                </c:pt>
                <c:pt idx="37">
                  <c:v>52.0</c:v>
                </c:pt>
                <c:pt idx="38">
                  <c:v>52.0</c:v>
                </c:pt>
                <c:pt idx="39">
                  <c:v>52.0</c:v>
                </c:pt>
                <c:pt idx="40">
                  <c:v>52.0</c:v>
                </c:pt>
              </c:numCache>
            </c:numRef>
          </c:val>
          <c:smooth val="0"/>
        </c:ser>
        <c:marker val="1"/>
        <c:smooth val="0"/>
        <c:axId val="2118791784"/>
        <c:axId val="2140495176"/>
      </c:lineChart>
      <c:catAx>
        <c:axId val="2118791784"/>
        <c:scaling>
          <c:orientation val="minMax"/>
        </c:scaling>
        <c:delete val="0"/>
        <c:axPos val="b"/>
        <c:title>
          <c:tx>
            <c:rich>
              <a:bodyPr/>
              <a:lstStyle/>
              <a:p>
                <a:r>
                  <a:rPr sz="1200"/>
                  <a:t>frame</a:t>
                </a:r>
              </a:p>
            </c:rich>
          </c:tx>
          <c:layout/>
          <c:overlay val="0"/>
        </c:title>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60.0"/>
          <c:min val="10.0"/>
        </c:scaling>
        <c:delete val="0"/>
        <c:axPos val="l"/>
        <c:majorGridlines>
          <c:spPr>
            <a:ln>
              <a:solidFill>
                <a:srgbClr val="E3E7F0"/>
              </a:solidFill>
            </a:ln>
          </c:spPr>
        </c:majorGridlines>
        <c:title>
          <c:tx>
            <c:rich>
              <a:bodyPr/>
              <a:lstStyle/>
              <a:p>
                <a:r>
                  <a:rPr sz="1200"/>
                  <a:t>joint command</a:t>
                </a:r>
              </a:p>
            </c:rich>
          </c:tx>
          <c:layout/>
          <c:overlay val="0"/>
        </c:title>
        <c:majorTickMark val="out"/>
        <c:minorTickMark val="none"/>
        <c:tickLblPos val="nextTo"/>
        <c:spPr>
          <a:ln>
            <a:noFill/>
          </a:ln>
        </c:spPr>
        <c:crossAx val="2118791784"/>
        <c:crosses val="autoZero"/>
      </c:valAx>
    </c:plotArea>
    <c:legend>
      <c:legendPos val="t"/>
      <c:layout/>
      <c:overlay val="0"/>
    </c:legend>
    <c:plotVisOnly val="1"/>
    <c:dispBlanksAs val="gap"/>
    <c:showDLblsOverMax val="0"/>
  </c:chart>
  <c:txPr>
    <a:bodyPr/>
    <a:lstStyle/>
    <a:p>
      <a:pPr>
        <a:defRPr sz="1200">
          <a:solidFill>
            <a:srgbClr val="5B6275"/>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success on the real arm (illustrative)</c:v>
                </c:pt>
              </c:strCache>
            </c:strRef>
          </c:tx>
          <c:spPr>
            <a:ln w="34925">
              <a:solidFill>
                <a:srgbClr val="164194"/>
              </a:solidFill>
            </a:ln>
          </c:spPr>
          <c:marker>
            <c:symbol val="none"/>
          </c:marker>
          <c:cat>
            <c:strRef>
              <c:f>Sheet1!$A$2:$A$10</c:f>
              <c:strCache>
                <c:ptCount val="9"/>
                <c:pt idx="0">
                  <c:v>none</c:v>
                </c:pt>
                <c:pt idx="1">
                  <c:v/>
                </c:pt>
                <c:pt idx="2">
                  <c:v>narrow</c:v>
                </c:pt>
                <c:pt idx="3">
                  <c:v/>
                </c:pt>
                <c:pt idx="4">
                  <c:v>matched</c:v>
                </c:pt>
                <c:pt idx="5">
                  <c:v/>
                </c:pt>
                <c:pt idx="6">
                  <c:v>wide</c:v>
                </c:pt>
                <c:pt idx="7">
                  <c:v/>
                </c:pt>
                <c:pt idx="8">
                  <c:v>extreme</c:v>
                </c:pt>
              </c:strCache>
            </c:strRef>
          </c:cat>
          <c:val>
            <c:numRef>
              <c:f>Sheet1!$B$2:$B$10</c:f>
              <c:numCache>
                <c:formatCode>General</c:formatCode>
                <c:ptCount val="9"/>
                <c:pt idx="0">
                  <c:v>30</c:v>
                </c:pt>
                <c:pt idx="1">
                  <c:v>48</c:v>
                </c:pt>
                <c:pt idx="2">
                  <c:v>62</c:v>
                </c:pt>
                <c:pt idx="3">
                  <c:v>74</c:v>
                </c:pt>
                <c:pt idx="4">
                  <c:v>80</c:v>
                </c:pt>
                <c:pt idx="5">
                  <c:v>77</c:v>
                </c:pt>
                <c:pt idx="6">
                  <c:v>66</c:v>
                </c:pt>
                <c:pt idx="7">
                  <c:v>50</c:v>
                </c:pt>
                <c:pt idx="8">
                  <c:v>35</c:v>
                </c:pt>
              </c:numCache>
            </c:numRef>
          </c:val>
          <c:smooth/>
        </c:ser>
        <c:marker val="1"/>
        <c:smooth val="0"/>
        <c:axId val="2118791784"/>
        <c:axId val="2140495176"/>
      </c:lineChart>
      <c:catAx>
        <c:axId val="2118791784"/>
        <c:scaling>
          <c:orientation val="minMax"/>
        </c:scaling>
        <c:delete val="0"/>
        <c:axPos val="b"/>
        <c:title>
          <c:tx>
            <c:rich>
              <a:bodyPr/>
              <a:lstStyle/>
              <a:p>
                <a:r>
                  <a:rPr sz="1200"/>
                  <a:t>randomisation range</a:t>
                </a:r>
              </a:p>
            </c:rich>
          </c:tx>
          <c:layout/>
          <c:overlay val="0"/>
        </c:title>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100.0"/>
          <c:min val="0.0"/>
        </c:scaling>
        <c:delete val="0"/>
        <c:axPos val="l"/>
        <c:majorGridlines>
          <c:spPr>
            <a:ln>
              <a:solidFill>
                <a:srgbClr val="E3E7F0"/>
              </a:solidFill>
            </a:ln>
          </c:spPr>
        </c:majorGridlines>
        <c:title>
          <c:tx>
            <c:rich>
              <a:bodyPr/>
              <a:lstStyle/>
              <a:p>
                <a:r>
                  <a:rPr sz="1200"/>
                  <a:t>real-world success %</a:t>
                </a:r>
              </a:p>
            </c:rich>
          </c:tx>
          <c:layout/>
          <c:overlay val="0"/>
        </c:title>
        <c:majorTickMark val="out"/>
        <c:minorTickMark val="none"/>
        <c:tickLblPos val="nextTo"/>
        <c:spPr>
          <a:ln>
            <a:noFill/>
          </a:ln>
        </c:spPr>
        <c:crossAx val="2118791784"/>
        <c:crosses val="autoZero"/>
      </c:valAx>
    </c:plotArea>
    <c:plotVisOnly val="1"/>
    <c:dispBlanksAs val="gap"/>
    <c:showDLblsOverMax val="0"/>
  </c:chart>
  <c:txPr>
    <a:bodyPr/>
    <a:lstStyle/>
    <a:p>
      <a:pPr>
        <a:defRPr sz="1200">
          <a:solidFill>
            <a:srgbClr val="5B6275"/>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4A07A7-A8F7-B72E-4B74-261D7D3F95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57972104-C5D7-9142-35F7-AC28827A37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D3F652-CB33-4F60-88E9-6D8C7BBE5615}" type="datetimeFigureOut">
              <a:rPr lang="en-SG" smtClean="0"/>
              <a:t>29/7/2025</a:t>
            </a:fld>
            <a:endParaRPr lang="en-SG"/>
          </a:p>
        </p:txBody>
      </p:sp>
      <p:sp>
        <p:nvSpPr>
          <p:cNvPr id="4" name="Footer Placeholder 3">
            <a:extLst>
              <a:ext uri="{FF2B5EF4-FFF2-40B4-BE49-F238E27FC236}">
                <a16:creationId xmlns:a16="http://schemas.microsoft.com/office/drawing/2014/main" id="{82843AF6-21A3-F929-ED7C-7B438738C7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E12D10-68BD-CCCD-9552-0B6E039E3D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B006ED-B046-4917-A165-CAAD7C0FC909}" type="slidenum">
              <a:rPr lang="en-SG" smtClean="0"/>
              <a:t>‹#›</a:t>
            </a:fld>
            <a:endParaRPr lang="en-SG"/>
          </a:p>
        </p:txBody>
      </p:sp>
    </p:spTree>
    <p:extLst>
      <p:ext uri="{BB962C8B-B14F-4D97-AF65-F5344CB8AC3E}">
        <p14:creationId xmlns:p14="http://schemas.microsoft.com/office/powerpoint/2010/main" val="416877492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29/7/2025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In Lesson 1 we said that the three ways to train an arm differ mainly in where their data comes from. Last week in the lab you calibrated the arms and drove the follower with the leader. Today we look closely at the data itself: what a robot dataset actually contains, the three ways we can collect it, and how to tell good data from bad.</a:t>
            </a:r>
          </a:p>
          <a:p/>
          <a:p>
            <a:r>
              <a:t>This lecture matters for the rest of the course. Reinforcement learning will use the simulator and its randomisation, and imitation learning and VLA models will use recorded demonstrations. Both are introduced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map again. Block A is done: you know the vocabulary and you have touched both platforms. We are now in Block B, collecting robot data. Notice that two stages are lit up today, not one. We will collect data on the real arm, and we will also see how the simulator can generate data with randomised conditions. Both feed everything that comes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start with three quick questions on last week's lab. Take five minutes.</a:t>
            </a:r>
          </a:p>
          <a:p/>
          <a:p>
            <a:r>
              <a:t>Answers for discussion. One: calibration makes the leader and follower report the same number for the same physical pose, by recording the middle and the full range of every joint. It does not make the arm more accurate. Two: the follower copies the leader's six joint positions, about thirty times a second. Three: six joints times thirty is one hundred and eighty values per second.</a:t>
            </a:r>
          </a:p>
          <a:p/>
          <a:p>
            <a:r>
              <a:t>Instructor: if most of the class misses question one, spend a few minutes on calibration now. Every dataset recorded later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today's four outcomes. The first is about understanding what is inside a dataset. The second is about the three ways of collecting data. The third is the practical skill of judging data quality, which you will use in the lab next week. And the fourth introduces domain randomisation, which we rely on heavily when we get to reinforcement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Before we collect anything, let us be precise about what we are collecting.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dataset is not a pile of independent images. It is a time series. Each frame is one time step: what the robot observed, the action it was given, and a timestamp. Frames are grouped into episodes, where an episode is one attempt at the task from reset to the end. A dataset is many episodes of the same task, plus some metadata describing them.</a:t>
            </a:r>
          </a:p>
          <a:p/>
          <a:p>
            <a:r>
              <a:t>At thirty frames per second, a twenty-second episode is six hundred frames. The order of the frames matters, because each one follows from the one before. That is why we never think of robot data the way we think of a shuffled image dataset.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is stored in one frame of a LeRobot dataset. The observation has the state, which is the six follower joint positions, and one image per camera. We name our cameras front and wrist. The action is the six leader joint positions, highlighted in red because it is the thing the policy will learn to produce. Then there is bookkeeping: the timestamp, which frame and which episode this is. Finally, the task text: a sentence describing what the episode is doing.</a:t>
            </a:r>
          </a:p>
          <a:p/>
          <a:p>
            <a:r>
              <a:t>One practical warning. The camera names you choose when recording become part of the dataset. If you later run a policy with the cameras named differently, or plugged in the other way round, the policy receives the wrong images. Keep names and positions fixed for the whole semester.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subtle point that is worth a whole slide. On the SO-101, the action is the leader's position, which is the command, and the state is the follower's position, which is the result. The follower always lags slightly behind the command, a few frames here, and it may never fully reach it. The clearest case is the gripper: when it closes on a cube, the command says closed but the state stays open by the width of the cube.</a:t>
            </a:r>
          </a:p>
          <a:p/>
          <a:p>
            <a:r>
              <a:t>So action and state are similar but not the same, and a policy learns to output commands, not to predict where the arm will be. The chart here is illustrative. Instructor: replace it with a real trace of one joint captured from the viewer during your own teleoperation.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record with LeRobot, this is what lands on disk. The meta folder describes the dataset: info.json holds the schema, the frame rate and the list of features; stats.json holds the normalisation statistics we will talk about next; there is the task text; and an episodes index that records how long each episode is and where it sits in the files.</a:t>
            </a:r>
          </a:p>
          <a:p/>
          <a:p>
            <a:r>
              <a:t>The data folder holds Parquet files with all the numbers for every frame. The videos folder holds the camera streams as compressed MP4 video, one stream per camera. Storing images as video rather than thousands of separate pictures keeps the dataset small enough to share and stream. You will open these files yourselves next week.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but important idea. Joints, images and actions come in very different ranges, so before training, each signal is rescaled using its average and spread, which are stored in stats.json. In the example, the elbow's average is sixty and its spread is twenty, so a reading of eighty becomes plus one.</a:t>
            </a:r>
          </a:p>
          <a:p/>
          <a:p>
            <a:r>
              <a:t>When the policy runs on the real arm, exactly the same rescaling has to be applied to the live readings, and undone on the policy's output. LeRobot takes care of this automatically, which is why the statistics travel with the dataset. You only need to know it exists, because in Lesson 7 we will meet a case where we must handle this ourselves.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size the dataset we will record in Lesson 10. Fifty episodes of twenty seconds at thirty frames per second is thirty thousand frames. With two cameras that is sixty thousand images, and one hundred and eighty thousand joint values in the state alone.</a:t>
            </a:r>
          </a:p>
          <a:p/>
          <a:p>
            <a:r>
              <a:t>That sounds like a lot, but compare it with image datasets that have millions of pictures scraped from the internet. Every one of our images comes from someone physically demonstrating the task. Allowing about a minute per episode including the reset, recording fifty episodes takes a pod around an hour of steady work. This is why robot data is precious and why we care so much about getting it right the first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the three ways we can collect robot data, and what each costs.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three methods side by side, and I want to give you a clean test for telling the first two apart. Ask yourself one question: is your hand touching the robot that actually does the task? If the answer is no, it is teleoperation. If the answer is yes, it is kinesthetic teaching.</a:t>
            </a:r>
          </a:p>
          <a:p/>
          <a:p>
            <a:r>
              <a:t>Teleoperation means you control the robot through a separate device. That device could be a keyboard, a gamepad, a 3D mouse, a VR headset tracking your hands, or the SO-101 leader arm you used in the last lab. With most devices your input has to be converted into robot motion, and that conversion is called retargeting. The leader arm is the special case: it has exactly the same shape as the follower, so each joint simply maps to the same joint, with no conversion at all. That is why it feels so natural, but notice that you never touch the follower. You move the leader, and the follower copies it. So leader–follower is teleoperation, and that is also what LeRobot, ALOHA and GELLO call it.</a:t>
            </a:r>
          </a:p>
          <a:p/>
          <a:p>
            <a:r>
              <a:t>Kinesthetic teaching means you take hold of the robot itself and physically guide it through the task. The motors are switched off, or put into a soft compliant mode, and the robot records its own joint positions as you move it. Collaborative arms are built for this: a Franka has a guiding button on its wrist, and a Universal Robots arm has a Freedrive mode. You can do the same with our follower by switching its torque off and moving it by hand.</a:t>
            </a:r>
          </a:p>
          <a:p/>
          <a:p>
            <a:r>
              <a:t>The third method, domain-randomised simulation, generates data in a simulator whose physics, appearance and sensor noise change every episode. We will spend a lot of time on it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teleoperation device leaves a signature in the data. With a keyboard, each key press moves the arm by a fixed step, so the recorded commands look like a staircase, with pauses between presses. A gamepad or 3D mouse is smoother but still goes through retargeting. VR hand tracking can feel very natural, but needs a headset and a fast network, which is beyond our lab set-up. And then there is our leader arm. Because its joints match the follower one to one, there is no retargeting, and the trace comes out smooth, like the green curve on the chart.</a:t>
            </a:r>
          </a:p>
          <a:p/>
          <a:p>
            <a:r>
              <a:t>Why does this matter? Because an imitation-learning policy copies whatever style is in its data. Train it on staircase demonstrations and it learns to move in hesitant steps. Train it on smooth leader-arm demonstrations and it learns smooth motion. You will see the difference for yourselves next week, when you teleoperate the simulated arm with the keyboard and then record on the real arm with the leader.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Kinesthetic teaching means guiding the robot itself with your own hands. This is different from what you did last week. Last week you moved the leader and the follower copied it, which is teleoperation. In kinesthetic teaching there is no leader: you switch the follower's torque off, or put a cobot into its compliant mode, take hold of the arm, and push it through the task while it records its own joint positions. Industry calls this lead-through or hand-guiding, and it is how painting and welding robots have been taught their paths for decades.</a:t>
            </a:r>
          </a:p>
          <a:p/>
          <a:p>
            <a:r>
              <a:t>Its strengths are that you feel the contact directly, there is no retargeting, and you do not need a second device. But there is one big catch for us. Our policies learn from camera images, and in kinesthetic teaching your hand and arm are in every frame. A policy trained on those images may learn to expect a human hand in the scene. The usual fix is record, then replay: guide the arm once to record the joint path, then replay that path with nobody in view and record the camera images during the replay.</a:t>
            </a:r>
          </a:p>
          <a:p/>
          <a:p>
            <a:r>
              <a:t>The other limits are human ones. Recording fifty or more careful episodes is tiring, and the SO-101 has no gravity compensation, so with the torque off you are holding the arm's full weight. That is why, for our pick-and-place task, we collect the main dataset in Lesson 10 by leader-arm teleoperation rather than by kinesthetic teaching.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method uses the simulator. Instead of one perfect virtual world, we create a different world every episode: the cube is a bit heavier or lighter, the table more or less slippery, the colours and lighting change, the joint readings get a little noise, and the cube starts in a different place.</a:t>
            </a:r>
          </a:p>
          <a:p/>
          <a:p>
            <a:r>
              <a:t>The idea, from a 2017 paper by Tobin and colleagues, is that if a policy has learned to cope with hundreds of slightly different worlds, the real world looks like just one more variation. The most famous success is OpenAI's robot hand, which learned to turn a cube using only heavily randomised simulation. Instructor: make a 4 by 4 contact sheet of randomised scenes in Isaac Lab while preparing Lab 4 and place it here.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comparison in one table. Teleoperation and kinesthetic teaching both happen on the real robot, so the data is realistic, but both are limited by human time. Within teleoperation, the device sets the style: a keyboard gives steps, while the leader arm gives smooth, natural motion. Kinesthetic teaching is natural too, but your hand ends up in the camera images, which is why it usually needs a record-then-replay step. Simulation is almost free once it is set up and scales to thousands of copies, but it carries the reality gap.</a:t>
            </a:r>
          </a:p>
          <a:p/>
          <a:p>
            <a:r>
              <a:t>The last row shows where each one appears in our course. You will try keyboard teleoperation of the simulated arm in Lab 4. Reinforcement learning in Lessons 5 to 8 relies on the randomised simulator. Imitation learning and VLA models in Lessons 9 to 14 use demonstrations recorded by leader-arm teleoperation. Kinesthetic teaching is for awareness, though you are welcome to try hand-guiding the follower with the torque off. No method wins on everything, and real projects usually combine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tools worth knowing about. Isaac Lab Mimic takes about ten human demonstrations, splits each into sub-tasks, and lets the simulator re-stitch those pieces in new scenes, turning ten demonstrations into a thousand. We only mention it, because it needs Linux and a lot of GPU and our task does not need it.</a:t>
            </a:r>
          </a:p>
          <a:p/>
          <a:p>
            <a:r>
              <a:t>LeIsaac combines two of today's methods, teleoperation and simulation: your real leader arm drives a simulated SO-101, and the demonstrations are saved straight in LeRobot's format. We use it in Labs 4 and 10 where the lab machines support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how to judge data quality, how to plan coverage, and how to choose randomisation ranges.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a demonstration worth keeping? A good one is smooth and direct, uses the same grasp strategy as the others, has no pauses, and ends cleanly once the cube is in the bin. A bad one has hesitation, a regrasp or a dropped cube, a different strategy, or gets cut off before finishing.</a:t>
            </a:r>
          </a:p>
          <a:p/>
          <a:p>
            <a:r>
              <a:t>The key point is on the bottom line. An imitation-learning policy copies everything in its data. A demonstration with a long pause teaches the robot to freeze; a regrasp teaches it to fumble. A bad demonstration is not just wasted; it does harm. We will play six clips in the activity at the end and you will judge them yourselves.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means spreading your demonstrations over all the starting situations the policy will face. LeRobot's guidance for this arm is about fifty episodes, as ten episodes at each of five cube positions, and their tests found that twenty-five episodes was not enough.</a:t>
            </a:r>
          </a:p>
          <a:p/>
          <a:p>
            <a:r>
              <a:t>The opposite mistake is fifty repetitions of the same easy position. That dataset teaches the policy exactly one position, and it will fail as soon as the cube is somewhere else. We will tape a grid mat with five numbered positions to every pod's table and never move it, because the policy also learns where things are relative to the camera.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Curation means deciding what to keep, and it should follow written rules, not a feeling. Each pod keeps a discard log with one row per episode: keep or discard, and which rule applied. Some people feel that throwing data away is cheating. It is not; it is standard practice, as long as the rules are written down and the log is kept.</a:t>
            </a:r>
          </a:p>
          <a:p/>
          <a:p>
            <a:r>
              <a:t>The finished dataset ships with a short datasheet: what the task is, how many episodes, the coverage map, the camera set-up, any known problems, and the discard log. The idea comes from a well-known paper called Datasheets for Datasets. A dataset without one is not reusable by anyone, including you in six weeks' time.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simulated world differs from the real one, we say there is a reality gap, and it helps to split it into three parts. Dynamics is how things move: mass, friction, how the servos respond, the slack in their gears. Appearance is how things look: colours, textures, lighting. Sensing is how measurements behave: noise, small offsets, delays.</a:t>
            </a:r>
          </a:p>
          <a:p/>
          <a:p>
            <a:r>
              <a:t>Each randomisation we add should target one of these. Randomising mass and friction targets dynamics; randomising colours targets appearance; adding noise to joint readings targets sensing. Next week, for every randomisation you switch on, you will write down which gap it targets. Remember this triangle; we come back to it in Lesson 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much should we randomise? This sketch shows the trade-off; it is not measured data. With no randomisation, the policy learns one perfect simulated world and usually struggles on the real arm. As the ranges widen to cover the real conditions, real-world success improves. But if we randomise far beyond anything realistic, for example making the cube ten times heavier, the task becomes so hard that the policy learns poorly and real performance drops again.</a:t>
            </a:r>
          </a:p>
          <a:p/>
          <a:p>
            <a:r>
              <a:t>The practical rule is on the right: measure what you can, and randomise around it with a sensible margin; randomise more where you cannot measure. Every range should have a reason you can say out 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time, in pairs. Part A: I will play six short clips recorded on our real arm. For each, decide keep or discard and name the rule that applies.</a:t>
            </a:r>
          </a:p>
          <a:p/>
          <a:p>
            <a:r>
              <a:t>Part B: three scenarios. For each, choose the collection method you would use and give one reason. Suggested answers: the first is randomised simulation, because only a simulator can give thousands of attempts; the second is teleoperation with the leader arm, because it gives smooth, natural motion and keeps your hand out of the camera images; the third is randomised simulation with appearance randomisation.</a:t>
            </a:r>
          </a:p>
          <a:p/>
          <a:p>
            <a:r>
              <a:t>Instructor: record the six clips on the real arm beforehand, two good and four with a pause, a regrasp, a strategy change and a cropped ending.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questions to check today's outcomes. For the first: forty times fifteen times thirty is eighteen thousand frames, and with two cameras thirty-six thousand images. For the second: friction targets dynamics, colour targets appearance, joint noise targets sensing. Third: about fifty episodes, ten at each of five positions. Fourth: the action is the leader's command, the state is where the follower actually is.</a:t>
            </a:r>
          </a:p>
          <a:p/>
          <a:p>
            <a:r>
              <a:t>Instructor: use the most-missed question as the entry check for Lab 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week you will do all three methods in miniature. At the sim station you will switch on randomisation, make a contact sheet of sixteen randomised scenes, write which gap each setting targets, and record a few demonstrations by teleoperating the simulated arm. At the arm station you will record your first real dataset of ten episodes, replay one, open the files and fill in a quality log.</a:t>
            </a:r>
          </a:p>
          <a:p/>
          <a:p>
            <a:r>
              <a:t>Bring your pod's calibration ids from Lab 2. If you use a different id, LeRobot will not find your calibration and the follower will jump. See you in the lab.</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sources behind today's lecture. The LeRobot dataset page and the recording tips are the most useful before next week's 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30229"/>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
        <p:nvSpPr>
          <p:cNvPr id="6" name="Footer Placeholder 5">
            <a:extLst>
              <a:ext uri="{FF2B5EF4-FFF2-40B4-BE49-F238E27FC236}">
                <a16:creationId xmlns:a16="http://schemas.microsoft.com/office/drawing/2014/main" id="{9BE200EA-5608-25F7-9D16-8618AB8F1329}"/>
              </a:ext>
            </a:extLst>
          </p:cNvPr>
          <p:cNvSpPr>
            <a:spLocks noGrp="1"/>
          </p:cNvSpPr>
          <p:nvPr>
            <p:ph type="ftr" sz="quarter" idx="13"/>
          </p:nvPr>
        </p:nvSpPr>
        <p:spPr>
          <a:xfrm>
            <a:off x="542018" y="6492875"/>
            <a:ext cx="4114800" cy="365125"/>
          </a:xfrm>
        </p:spPr>
        <p:txBody>
          <a:bodyPr/>
          <a:lstStyle/>
          <a:p>
            <a:pPr algn="l"/>
            <a:r>
              <a:rPr lang="it-IT"/>
              <a:t>ITI121 Generative AI - PDC in Generative AI &amp; Deep Learning</a:t>
            </a:r>
            <a:endParaRPr lang="en-SG" dirty="0"/>
          </a:p>
        </p:txBody>
      </p:sp>
      <p:sp>
        <p:nvSpPr>
          <p:cNvPr id="7" name="Slide Number Placeholder 6">
            <a:extLst>
              <a:ext uri="{FF2B5EF4-FFF2-40B4-BE49-F238E27FC236}">
                <a16:creationId xmlns:a16="http://schemas.microsoft.com/office/drawing/2014/main" id="{934C0804-8576-3D7C-894B-CB09C4D33808}"/>
              </a:ext>
            </a:extLst>
          </p:cNvPr>
          <p:cNvSpPr>
            <a:spLocks noGrp="1"/>
          </p:cNvSpPr>
          <p:nvPr>
            <p:ph type="sldNum" sz="quarter" idx="14"/>
          </p:nvPr>
        </p:nvSpPr>
        <p:spPr>
          <a:xfrm>
            <a:off x="8610600" y="6492874"/>
            <a:ext cx="2743200" cy="365125"/>
          </a:xfrm>
        </p:spPr>
        <p:txBody>
          <a:bodyPr/>
          <a:lstStyle/>
          <a:p>
            <a:fld id="{CE19DD2C-80DA-488C-99A4-6C8CE83C9C30}" type="slidenum">
              <a:rPr lang="en-SG" smtClean="0"/>
              <a:t>‹#›</a:t>
            </a:fld>
            <a:endParaRPr lang="en-SG"/>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0C6C-FDE3-C662-2486-197F1D3B3A34}"/>
              </a:ext>
            </a:extLst>
          </p:cNvPr>
          <p:cNvPicPr>
            <a:picLocks noChangeAspect="1"/>
          </p:cNvPicPr>
          <p:nvPr userDrawn="1"/>
        </p:nvPicPr>
        <p:blipFill>
          <a:blip r:embed="rId2"/>
          <a:srcRect/>
          <a:stretch/>
        </p:blipFill>
        <p:spPr>
          <a:xfrm>
            <a:off x="0" y="0"/>
            <a:ext cx="12192000" cy="6858000"/>
          </a:xfrm>
          <a:prstGeom prst="rect">
            <a:avLst/>
          </a:prstGeom>
        </p:spPr>
      </p:pic>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356323" y="1528131"/>
            <a:ext cx="5337923" cy="1866872"/>
          </a:xfrm>
          <a:prstGeom prst="rect">
            <a:avLst/>
          </a:prstGeom>
        </p:spPr>
        <p:txBody>
          <a:bodyPr/>
          <a:lstStyle>
            <a:lvl1pPr>
              <a:lnSpc>
                <a:spcPct val="80000"/>
              </a:lnSpc>
              <a:defRPr sz="6667" b="1">
                <a:solidFill>
                  <a:schemeClr val="tx1"/>
                </a:solidFill>
              </a:defRPr>
            </a:lvl1pPr>
          </a:lstStyle>
          <a:p>
            <a:pPr lvl="0"/>
            <a:endParaRPr lang="en-SG" dirty="0"/>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356323" y="3549449"/>
            <a:ext cx="4813671" cy="999104"/>
          </a:xfrm>
          <a:prstGeom prst="rect">
            <a:avLst/>
          </a:prstGeom>
        </p:spPr>
        <p:txBody>
          <a:bodyPr/>
          <a:lstStyle>
            <a:lvl1pPr>
              <a:defRPr sz="1867" b="0">
                <a:solidFill>
                  <a:schemeClr val="tx1"/>
                </a:solidFill>
              </a:defRPr>
            </a:lvl1pPr>
          </a:lstStyle>
          <a:p>
            <a:pPr lvl="0"/>
            <a:endParaRPr lang="en-SG" dirty="0"/>
          </a:p>
        </p:txBody>
      </p:sp>
      <p:sp>
        <p:nvSpPr>
          <p:cNvPr id="18" name="Rectangle 1">
            <a:extLst>
              <a:ext uri="{FF2B5EF4-FFF2-40B4-BE49-F238E27FC236}">
                <a16:creationId xmlns:a16="http://schemas.microsoft.com/office/drawing/2014/main" id="{B0011CE1-EDBF-46B7-9599-4FD9FCE16C51}"/>
              </a:ext>
            </a:extLst>
          </p:cNvPr>
          <p:cNvSpPr/>
          <p:nvPr userDrawn="1"/>
        </p:nvSpPr>
        <p:spPr>
          <a:xfrm rot="2871830">
            <a:off x="6936865" y="138470"/>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547" y="393707"/>
            <a:ext cx="2822077" cy="584956"/>
          </a:xfrm>
          <a:prstGeom prst="rect">
            <a:avLst/>
          </a:prstGeom>
        </p:spPr>
      </p:pic>
      <p:sp>
        <p:nvSpPr>
          <p:cNvPr id="2" name="Isosceles Triangle 2">
            <a:extLst>
              <a:ext uri="{FF2B5EF4-FFF2-40B4-BE49-F238E27FC236}">
                <a16:creationId xmlns:a16="http://schemas.microsoft.com/office/drawing/2014/main" id="{A15BFF93-6482-1724-38DE-4828529F78E7}"/>
              </a:ext>
            </a:extLst>
          </p:cNvPr>
          <p:cNvSpPr/>
          <p:nvPr userDrawn="1"/>
        </p:nvSpPr>
        <p:spPr>
          <a:xfrm rot="16200000">
            <a:off x="10798933" y="5465604"/>
            <a:ext cx="1375097" cy="141319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 name="connsiteX0" fmla="*/ 0 w 1062123"/>
              <a:gd name="connsiteY0" fmla="*/ 1219442 h 1219442"/>
              <a:gd name="connsiteX1" fmla="*/ 3853 w 1062123"/>
              <a:gd name="connsiteY1" fmla="*/ 0 h 1219442"/>
              <a:gd name="connsiteX2" fmla="*/ 1062123 w 1062123"/>
              <a:gd name="connsiteY2" fmla="*/ 1131336 h 1219442"/>
              <a:gd name="connsiteX3" fmla="*/ 0 w 106212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31902 w 1058464"/>
              <a:gd name="connsiteY0" fmla="*/ 1131335 h 1132395"/>
              <a:gd name="connsiteX1" fmla="*/ 36 w 1058464"/>
              <a:gd name="connsiteY1" fmla="*/ 0 h 1132395"/>
              <a:gd name="connsiteX2" fmla="*/ 1058306 w 1058464"/>
              <a:gd name="connsiteY2" fmla="*/ 1131336 h 1132395"/>
              <a:gd name="connsiteX3" fmla="*/ 31902 w 1058464"/>
              <a:gd name="connsiteY3" fmla="*/ 1131335 h 1132395"/>
              <a:gd name="connsiteX0" fmla="*/ 5810 w 1032372"/>
              <a:gd name="connsiteY0" fmla="*/ 1074182 h 1075242"/>
              <a:gd name="connsiteX1" fmla="*/ 137 w 1032372"/>
              <a:gd name="connsiteY1" fmla="*/ 0 h 1075242"/>
              <a:gd name="connsiteX2" fmla="*/ 1032214 w 1032372"/>
              <a:gd name="connsiteY2" fmla="*/ 1074183 h 1075242"/>
              <a:gd name="connsiteX3" fmla="*/ 5810 w 1032372"/>
              <a:gd name="connsiteY3" fmla="*/ 1074182 h 1075242"/>
              <a:gd name="connsiteX0" fmla="*/ 1200 w 1032523"/>
              <a:gd name="connsiteY0" fmla="*/ 1078945 h 1078945"/>
              <a:gd name="connsiteX1" fmla="*/ 289 w 1032523"/>
              <a:gd name="connsiteY1" fmla="*/ 0 h 1078945"/>
              <a:gd name="connsiteX2" fmla="*/ 1032366 w 1032523"/>
              <a:gd name="connsiteY2" fmla="*/ 1074183 h 1078945"/>
              <a:gd name="connsiteX3" fmla="*/ 1200 w 1032523"/>
              <a:gd name="connsiteY3" fmla="*/ 1078945 h 1078945"/>
              <a:gd name="connsiteX0" fmla="*/ 0 w 1031323"/>
              <a:gd name="connsiteY0" fmla="*/ 1059895 h 1059895"/>
              <a:gd name="connsiteX1" fmla="*/ 1470 w 1031323"/>
              <a:gd name="connsiteY1" fmla="*/ 0 h 1059895"/>
              <a:gd name="connsiteX2" fmla="*/ 1031166 w 1031323"/>
              <a:gd name="connsiteY2" fmla="*/ 1055133 h 1059895"/>
              <a:gd name="connsiteX3" fmla="*/ 0 w 1031323"/>
              <a:gd name="connsiteY3" fmla="*/ 1059895 h 1059895"/>
            </a:gdLst>
            <a:ahLst/>
            <a:cxnLst>
              <a:cxn ang="0">
                <a:pos x="connsiteX0" y="connsiteY0"/>
              </a:cxn>
              <a:cxn ang="0">
                <a:pos x="connsiteX1" y="connsiteY1"/>
              </a:cxn>
              <a:cxn ang="0">
                <a:pos x="connsiteX2" y="connsiteY2"/>
              </a:cxn>
              <a:cxn ang="0">
                <a:pos x="connsiteX3" y="connsiteY3"/>
              </a:cxn>
            </a:cxnLst>
            <a:rect l="l" t="t" r="r" b="b"/>
            <a:pathLst>
              <a:path w="1031323" h="1059895">
                <a:moveTo>
                  <a:pt x="0" y="1059895"/>
                </a:moveTo>
                <a:cubicBezTo>
                  <a:pt x="1284" y="650874"/>
                  <a:pt x="186" y="409021"/>
                  <a:pt x="1470" y="0"/>
                </a:cubicBezTo>
                <a:cubicBezTo>
                  <a:pt x="354227" y="377112"/>
                  <a:pt x="1042740" y="1051880"/>
                  <a:pt x="1031166" y="1055133"/>
                </a:cubicBezTo>
                <a:cubicBezTo>
                  <a:pt x="1043043" y="1057517"/>
                  <a:pt x="381029" y="1059895"/>
                  <a:pt x="0" y="1059895"/>
                </a:cubicBezTo>
                <a:close/>
              </a:path>
            </a:pathLst>
          </a:cu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4" name="Rectangle 11">
            <a:extLst>
              <a:ext uri="{FF2B5EF4-FFF2-40B4-BE49-F238E27FC236}">
                <a16:creationId xmlns:a16="http://schemas.microsoft.com/office/drawing/2014/main" id="{F51460D6-F294-9FEC-8A11-8E4DE73D906F}"/>
              </a:ext>
            </a:extLst>
          </p:cNvPr>
          <p:cNvSpPr/>
          <p:nvPr userDrawn="1"/>
        </p:nvSpPr>
        <p:spPr>
          <a:xfrm rot="13500000">
            <a:off x="11360201" y="5062314"/>
            <a:ext cx="311071" cy="2220841"/>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 name="connsiteX0" fmla="*/ 712 w 205183"/>
              <a:gd name="connsiteY0" fmla="*/ 149617 h 1368402"/>
              <a:gd name="connsiteX1" fmla="*/ 195553 w 205183"/>
              <a:gd name="connsiteY1" fmla="*/ 0 h 1368402"/>
              <a:gd name="connsiteX2" fmla="*/ 204992 w 205183"/>
              <a:gd name="connsiteY2" fmla="*/ 1368402 h 1368402"/>
              <a:gd name="connsiteX3" fmla="*/ 557 w 205183"/>
              <a:gd name="connsiteY3" fmla="*/ 1213519 h 1368402"/>
              <a:gd name="connsiteX4" fmla="*/ 712 w 205183"/>
              <a:gd name="connsiteY4" fmla="*/ 149617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213519 h 1368402"/>
              <a:gd name="connsiteX4" fmla="*/ 0 w 207533"/>
              <a:gd name="connsiteY4" fmla="*/ 174342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175058 h 1368402"/>
              <a:gd name="connsiteX4" fmla="*/ 0 w 207533"/>
              <a:gd name="connsiteY4" fmla="*/ 174342 h 1368402"/>
              <a:gd name="connsiteX0" fmla="*/ 0 w 209045"/>
              <a:gd name="connsiteY0" fmla="*/ 174342 h 1358786"/>
              <a:gd name="connsiteX1" fmla="*/ 197903 w 209045"/>
              <a:gd name="connsiteY1" fmla="*/ 0 h 1358786"/>
              <a:gd name="connsiteX2" fmla="*/ 208872 w 209045"/>
              <a:gd name="connsiteY2" fmla="*/ 1358786 h 1358786"/>
              <a:gd name="connsiteX3" fmla="*/ 2907 w 209045"/>
              <a:gd name="connsiteY3" fmla="*/ 1175058 h 1358786"/>
              <a:gd name="connsiteX4" fmla="*/ 0 w 209045"/>
              <a:gd name="connsiteY4" fmla="*/ 174342 h 1358786"/>
              <a:gd name="connsiteX0" fmla="*/ 0 w 212106"/>
              <a:gd name="connsiteY0" fmla="*/ 185331 h 1358786"/>
              <a:gd name="connsiteX1" fmla="*/ 200964 w 212106"/>
              <a:gd name="connsiteY1" fmla="*/ 0 h 1358786"/>
              <a:gd name="connsiteX2" fmla="*/ 211933 w 212106"/>
              <a:gd name="connsiteY2" fmla="*/ 1358786 h 1358786"/>
              <a:gd name="connsiteX3" fmla="*/ 5968 w 212106"/>
              <a:gd name="connsiteY3" fmla="*/ 1175058 h 1358786"/>
              <a:gd name="connsiteX4" fmla="*/ 0 w 212106"/>
              <a:gd name="connsiteY4" fmla="*/ 185331 h 135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06" h="1358786">
                <a:moveTo>
                  <a:pt x="0" y="185331"/>
                </a:moveTo>
                <a:cubicBezTo>
                  <a:pt x="63586" y="119586"/>
                  <a:pt x="137378" y="65745"/>
                  <a:pt x="200964" y="0"/>
                </a:cubicBezTo>
                <a:cubicBezTo>
                  <a:pt x="199037" y="439312"/>
                  <a:pt x="213860" y="919474"/>
                  <a:pt x="211933" y="1358786"/>
                </a:cubicBezTo>
                <a:lnTo>
                  <a:pt x="5968" y="1175058"/>
                </a:lnTo>
                <a:cubicBezTo>
                  <a:pt x="3976" y="818471"/>
                  <a:pt x="1992" y="541918"/>
                  <a:pt x="0" y="185331"/>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5" name="Freeform: Shape 4">
            <a:extLst>
              <a:ext uri="{FF2B5EF4-FFF2-40B4-BE49-F238E27FC236}">
                <a16:creationId xmlns:a16="http://schemas.microsoft.com/office/drawing/2014/main" id="{D00AA2F6-9E32-1951-916C-8943096E1C7C}"/>
              </a:ext>
            </a:extLst>
          </p:cNvPr>
          <p:cNvSpPr/>
          <p:nvPr userDrawn="1"/>
        </p:nvSpPr>
        <p:spPr>
          <a:xfrm>
            <a:off x="1058466" y="3902882"/>
            <a:ext cx="5774133" cy="2955801"/>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 name="connsiteX0" fmla="*/ 0 w 5165070"/>
              <a:gd name="connsiteY0" fmla="*/ 2254611 h 2255788"/>
              <a:gd name="connsiteX1" fmla="*/ 2953502 w 5165070"/>
              <a:gd name="connsiteY1" fmla="*/ 0 h 2255788"/>
              <a:gd name="connsiteX2" fmla="*/ 5165070 w 5165070"/>
              <a:gd name="connsiteY2" fmla="*/ 2255788 h 2255788"/>
              <a:gd name="connsiteX3" fmla="*/ 0 w 5165070"/>
              <a:gd name="connsiteY3" fmla="*/ 2254611 h 2255788"/>
              <a:gd name="connsiteX0" fmla="*/ 0 w 5138640"/>
              <a:gd name="connsiteY0" fmla="*/ 2241741 h 2255788"/>
              <a:gd name="connsiteX1" fmla="*/ 2927072 w 5138640"/>
              <a:gd name="connsiteY1" fmla="*/ 0 h 2255788"/>
              <a:gd name="connsiteX2" fmla="*/ 5138640 w 5138640"/>
              <a:gd name="connsiteY2" fmla="*/ 2255788 h 2255788"/>
              <a:gd name="connsiteX3" fmla="*/ 0 w 5138640"/>
              <a:gd name="connsiteY3" fmla="*/ 2241741 h 2255788"/>
              <a:gd name="connsiteX0" fmla="*/ 0 w 5149967"/>
              <a:gd name="connsiteY0" fmla="*/ 2251394 h 2255788"/>
              <a:gd name="connsiteX1" fmla="*/ 2938399 w 5149967"/>
              <a:gd name="connsiteY1" fmla="*/ 0 h 2255788"/>
              <a:gd name="connsiteX2" fmla="*/ 5149967 w 5149967"/>
              <a:gd name="connsiteY2" fmla="*/ 2255788 h 2255788"/>
              <a:gd name="connsiteX3" fmla="*/ 0 w 5149967"/>
              <a:gd name="connsiteY3" fmla="*/ 2251394 h 2255788"/>
              <a:gd name="connsiteX0" fmla="*/ 0 w 5161294"/>
              <a:gd name="connsiteY0" fmla="*/ 2251394 h 2255788"/>
              <a:gd name="connsiteX1" fmla="*/ 2949726 w 5161294"/>
              <a:gd name="connsiteY1" fmla="*/ 0 h 2255788"/>
              <a:gd name="connsiteX2" fmla="*/ 5161294 w 5161294"/>
              <a:gd name="connsiteY2" fmla="*/ 2255788 h 2255788"/>
              <a:gd name="connsiteX3" fmla="*/ 0 w 5161294"/>
              <a:gd name="connsiteY3" fmla="*/ 2251394 h 2255788"/>
              <a:gd name="connsiteX0" fmla="*/ 0 w 5161294"/>
              <a:gd name="connsiteY0" fmla="*/ 2246568 h 2250962"/>
              <a:gd name="connsiteX1" fmla="*/ 2955391 w 5161294"/>
              <a:gd name="connsiteY1" fmla="*/ 0 h 2250962"/>
              <a:gd name="connsiteX2" fmla="*/ 5161294 w 5161294"/>
              <a:gd name="connsiteY2" fmla="*/ 2250962 h 2250962"/>
              <a:gd name="connsiteX3" fmla="*/ 0 w 5161294"/>
              <a:gd name="connsiteY3" fmla="*/ 2246568 h 2250962"/>
              <a:gd name="connsiteX0" fmla="*/ 0 w 5149967"/>
              <a:gd name="connsiteY0" fmla="*/ 2246568 h 2246568"/>
              <a:gd name="connsiteX1" fmla="*/ 2955391 w 5149967"/>
              <a:gd name="connsiteY1" fmla="*/ 0 h 2246568"/>
              <a:gd name="connsiteX2" fmla="*/ 5149967 w 5149967"/>
              <a:gd name="connsiteY2" fmla="*/ 2243722 h 2246568"/>
              <a:gd name="connsiteX3" fmla="*/ 0 w 5149967"/>
              <a:gd name="connsiteY3" fmla="*/ 2246568 h 2246568"/>
            </a:gdLst>
            <a:ahLst/>
            <a:cxnLst>
              <a:cxn ang="0">
                <a:pos x="connsiteX0" y="connsiteY0"/>
              </a:cxn>
              <a:cxn ang="0">
                <a:pos x="connsiteX1" y="connsiteY1"/>
              </a:cxn>
              <a:cxn ang="0">
                <a:pos x="connsiteX2" y="connsiteY2"/>
              </a:cxn>
              <a:cxn ang="0">
                <a:pos x="connsiteX3" y="connsiteY3"/>
              </a:cxn>
            </a:cxnLst>
            <a:rect l="l" t="t" r="r" b="b"/>
            <a:pathLst>
              <a:path w="5149967" h="2246568">
                <a:moveTo>
                  <a:pt x="0" y="2246568"/>
                </a:moveTo>
                <a:lnTo>
                  <a:pt x="2955391" y="0"/>
                </a:lnTo>
                <a:lnTo>
                  <a:pt x="5149967" y="2243722"/>
                </a:lnTo>
                <a:lnTo>
                  <a:pt x="0" y="2246568"/>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ID" sz="1400" b="1" dirty="0"/>
              <a:t> </a:t>
            </a:r>
          </a:p>
        </p:txBody>
      </p:sp>
    </p:spTree>
    <p:extLst>
      <p:ext uri="{BB962C8B-B14F-4D97-AF65-F5344CB8AC3E}">
        <p14:creationId xmlns:p14="http://schemas.microsoft.com/office/powerpoint/2010/main" val="15511982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5" r:id="rId15"/>
    <p:sldLayoutId id="2147483696" r:id="rId16"/>
    <p:sldLayoutId id="2147483697" r:id="rId17"/>
    <p:sldLayoutId id="2147483698" r:id="rId18"/>
    <p:sldLayoutId id="2147483699" r:id="rId19"/>
    <p:sldLayoutId id="2147483700" r:id="rId20"/>
    <p:sldLayoutId id="2147483701"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 Id="rId3"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 Id="rId3"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85A33-1C05-0A99-DEA3-DBBDF06F2471}"/>
              </a:ext>
            </a:extLst>
          </p:cNvPr>
          <p:cNvSpPr>
            <a:spLocks noGrp="1"/>
          </p:cNvSpPr>
          <p:nvPr>
            <p:ph type="body" sz="quarter" idx="12"/>
          </p:nvPr>
        </p:nvSpPr>
        <p:spPr>
          <a:xfrm>
            <a:off x="757451" y="1963253"/>
            <a:ext cx="6198982" cy="1613597"/>
          </a:xfrm>
        </p:spPr>
        <p:txBody>
          <a:bodyPr>
            <a:normAutofit/>
          </a:bodyPr>
          <a:lstStyle/>
          <a:p>
            <a:pPr marL="0" indent="0">
              <a:lnSpc>
                <a:spcPct val="110000"/>
              </a:lnSpc>
              <a:spcAft>
                <a:spcPts val="600"/>
              </a:spcAft>
              <a:buNone/>
            </a:pPr>
            <a:r>
              <a:rPr lang="en-SG" sz="4800" dirty="0"/>
              <a:t>Robot Data</a:t>
            </a:r>
          </a:p>
          <a:p>
            <a:pPr marL="0" indent="0">
              <a:buNone/>
            </a:pPr>
            <a:r>
              <a:rPr sz="2000" b="1">
                <a:solidFill>
                  <a:srgbClr val="164194"/>
                </a:solidFill>
              </a:rPr>
              <a:t>Teleoperation, kinesthetic</a:t>
            </a:r>
          </a:p>
          <a:p>
            <a:pPr marL="0" indent="0">
              <a:buNone/>
            </a:pPr>
            <a:r>
              <a:rPr sz="2000" b="1">
                <a:solidFill>
                  <a:srgbClr val="164194"/>
                </a:solidFill>
              </a:rPr>
              <a:t>teaching and simulation</a:t>
            </a:r>
          </a:p>
          <a:p>
            <a:pPr marL="0" indent="0">
              <a:buNone/>
            </a:pPr>
            <a:r>
              <a:rPr sz="1400" b="0">
                <a:solidFill>
                  <a:srgbClr val="5B6275"/>
                </a:solidFill>
              </a:rPr>
              <a:t>Data Acquisition &amp; Policy Learning · Lesson 3</a:t>
            </a:r>
          </a:p>
        </p:txBody>
      </p:sp>
    </p:spTree>
    <p:extLst>
      <p:ext uri="{BB962C8B-B14F-4D97-AF65-F5344CB8AC3E}">
        <p14:creationId xmlns:p14="http://schemas.microsoft.com/office/powerpoint/2010/main" val="349616815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we are: Block B · collecting robot data</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2834639" y="1801368"/>
            <a:ext cx="1463040" cy="603504"/>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Simulate</a:t>
            </a:r>
          </a:p>
        </p:txBody>
      </p:sp>
      <p:sp>
        <p:nvSpPr>
          <p:cNvPr id="8" name="Rounded Rectangle 7"/>
          <p:cNvSpPr/>
          <p:nvPr/>
        </p:nvSpPr>
        <p:spPr>
          <a:xfrm>
            <a:off x="4299643" y="2647188"/>
            <a:ext cx="1463040" cy="603504"/>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Collect data</a:t>
            </a:r>
          </a:p>
        </p:txBody>
      </p:sp>
      <p:sp>
        <p:nvSpPr>
          <p:cNvPr id="9" name="Rounded Rectangle 8"/>
          <p:cNvSpPr/>
          <p:nvPr/>
        </p:nvSpPr>
        <p:spPr>
          <a:xfrm>
            <a:off x="4299643" y="433882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Train</a:t>
            </a:r>
          </a:p>
        </p:txBody>
      </p:sp>
      <p:sp>
        <p:nvSpPr>
          <p:cNvPr id="10" name="Rounded Rectangle 9"/>
          <p:cNvSpPr/>
          <p:nvPr/>
        </p:nvSpPr>
        <p:spPr>
          <a:xfrm>
            <a:off x="2834639" y="518464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Evaluate</a:t>
            </a:r>
          </a:p>
        </p:txBody>
      </p:sp>
      <p:sp>
        <p:nvSpPr>
          <p:cNvPr id="11" name="Rounded Rectangle 10"/>
          <p:cNvSpPr/>
          <p:nvPr/>
        </p:nvSpPr>
        <p:spPr>
          <a:xfrm>
            <a:off x="1369636" y="433882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Deploy</a:t>
            </a:r>
          </a:p>
        </p:txBody>
      </p:sp>
      <p:sp>
        <p:nvSpPr>
          <p:cNvPr id="12" name="Rounded Rectangle 11"/>
          <p:cNvSpPr/>
          <p:nvPr/>
        </p:nvSpPr>
        <p:spPr>
          <a:xfrm>
            <a:off x="1369636" y="264718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Improve</a:t>
            </a:r>
          </a:p>
        </p:txBody>
      </p:sp>
      <p:cxnSp>
        <p:nvCxnSpPr>
          <p:cNvPr id="13" name="Connector 12"/>
          <p:cNvCxnSpPr/>
          <p:nvPr/>
        </p:nvCxnSpPr>
        <p:spPr>
          <a:xfrm>
            <a:off x="4033377" y="2372868"/>
            <a:ext cx="530568" cy="306324"/>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31163" y="3488436"/>
            <a:ext cx="0" cy="612648"/>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4033377" y="4910328"/>
            <a:ext cx="530568" cy="306324"/>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568374" y="4910328"/>
            <a:ext cx="530568" cy="306324"/>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101156" y="3488436"/>
            <a:ext cx="0" cy="612648"/>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568374" y="2372868"/>
            <a:ext cx="530568" cy="306324"/>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560320" y="3474720"/>
            <a:ext cx="201168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Physical AI</a:t>
            </a:r>
          </a:p>
          <a:p>
            <a:pPr algn="ctr"/>
            <a:r>
              <a:rPr sz="1400" b="0" i="0">
                <a:solidFill>
                  <a:srgbClr val="5B6275"/>
                </a:solidFill>
              </a:rPr>
              <a:t>lifecycle</a:t>
            </a:r>
          </a:p>
        </p:txBody>
      </p:sp>
      <p:sp>
        <p:nvSpPr>
          <p:cNvPr id="20" name="Rounded Rectangle 19"/>
          <p:cNvSpPr/>
          <p:nvPr/>
        </p:nvSpPr>
        <p:spPr>
          <a:xfrm>
            <a:off x="6675120" y="1508760"/>
            <a:ext cx="502920" cy="475488"/>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A</a:t>
            </a:r>
          </a:p>
        </p:txBody>
      </p:sp>
      <p:sp>
        <p:nvSpPr>
          <p:cNvPr id="21" name="Rectangle 20"/>
          <p:cNvSpPr/>
          <p:nvPr/>
        </p:nvSpPr>
        <p:spPr>
          <a:xfrm>
            <a:off x="7269480" y="1490472"/>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5B6275"/>
                </a:solidFill>
              </a:rPr>
              <a:t>Foundations</a:t>
            </a:r>
            <a:r>
              <a:rPr sz="1300" b="0" i="0">
                <a:solidFill>
                  <a:srgbClr val="5B6275"/>
                </a:solidFill>
              </a:rPr>
              <a:t>   L1–L2</a:t>
            </a:r>
          </a:p>
        </p:txBody>
      </p:sp>
      <p:sp>
        <p:nvSpPr>
          <p:cNvPr id="22" name="Rounded Rectangle 21"/>
          <p:cNvSpPr/>
          <p:nvPr/>
        </p:nvSpPr>
        <p:spPr>
          <a:xfrm>
            <a:off x="6675120" y="2130552"/>
            <a:ext cx="502920" cy="475488"/>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B</a:t>
            </a:r>
          </a:p>
        </p:txBody>
      </p:sp>
      <p:sp>
        <p:nvSpPr>
          <p:cNvPr id="23" name="Rectangle 22"/>
          <p:cNvSpPr/>
          <p:nvPr/>
        </p:nvSpPr>
        <p:spPr>
          <a:xfrm>
            <a:off x="7269480" y="2112264"/>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Collecting robot data</a:t>
            </a:r>
            <a:r>
              <a:rPr sz="1300" b="0" i="0">
                <a:solidFill>
                  <a:srgbClr val="5B6275"/>
                </a:solidFill>
              </a:rPr>
              <a:t>   L3–L4</a:t>
            </a:r>
          </a:p>
        </p:txBody>
      </p:sp>
      <p:sp>
        <p:nvSpPr>
          <p:cNvPr id="24" name="Rounded Rectangle 23"/>
          <p:cNvSpPr/>
          <p:nvPr/>
        </p:nvSpPr>
        <p:spPr>
          <a:xfrm>
            <a:off x="6675120" y="2752344"/>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C</a:t>
            </a:r>
          </a:p>
        </p:txBody>
      </p:sp>
      <p:sp>
        <p:nvSpPr>
          <p:cNvPr id="25" name="Rectangle 24"/>
          <p:cNvSpPr/>
          <p:nvPr/>
        </p:nvSpPr>
        <p:spPr>
          <a:xfrm>
            <a:off x="7269480" y="2734056"/>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RL in simulation</a:t>
            </a:r>
            <a:r>
              <a:rPr sz="1300" b="0" i="0">
                <a:solidFill>
                  <a:srgbClr val="5B6275"/>
                </a:solidFill>
              </a:rPr>
              <a:t>   L5–L6</a:t>
            </a:r>
          </a:p>
        </p:txBody>
      </p:sp>
      <p:sp>
        <p:nvSpPr>
          <p:cNvPr id="26" name="Rounded Rectangle 25"/>
          <p:cNvSpPr/>
          <p:nvPr/>
        </p:nvSpPr>
        <p:spPr>
          <a:xfrm>
            <a:off x="6675120" y="3374136"/>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D</a:t>
            </a:r>
          </a:p>
        </p:txBody>
      </p:sp>
      <p:sp>
        <p:nvSpPr>
          <p:cNvPr id="27" name="Rectangle 26"/>
          <p:cNvSpPr/>
          <p:nvPr/>
        </p:nvSpPr>
        <p:spPr>
          <a:xfrm>
            <a:off x="7269480" y="3355848"/>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RL: sim → real arm</a:t>
            </a:r>
            <a:r>
              <a:rPr sz="1300" b="0" i="0">
                <a:solidFill>
                  <a:srgbClr val="5B6275"/>
                </a:solidFill>
              </a:rPr>
              <a:t>   L7–L8</a:t>
            </a:r>
          </a:p>
        </p:txBody>
      </p:sp>
      <p:sp>
        <p:nvSpPr>
          <p:cNvPr id="28" name="Rounded Rectangle 27"/>
          <p:cNvSpPr/>
          <p:nvPr/>
        </p:nvSpPr>
        <p:spPr>
          <a:xfrm>
            <a:off x="6675120" y="3995928"/>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E</a:t>
            </a:r>
          </a:p>
        </p:txBody>
      </p:sp>
      <p:sp>
        <p:nvSpPr>
          <p:cNvPr id="29" name="Rectangle 28"/>
          <p:cNvSpPr/>
          <p:nvPr/>
        </p:nvSpPr>
        <p:spPr>
          <a:xfrm>
            <a:off x="7269480" y="3977640"/>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Imitation learning</a:t>
            </a:r>
            <a:r>
              <a:rPr sz="1300" b="0" i="0">
                <a:solidFill>
                  <a:srgbClr val="5B6275"/>
                </a:solidFill>
              </a:rPr>
              <a:t>   L9–L10</a:t>
            </a:r>
          </a:p>
        </p:txBody>
      </p:sp>
      <p:sp>
        <p:nvSpPr>
          <p:cNvPr id="30" name="Rounded Rectangle 29"/>
          <p:cNvSpPr/>
          <p:nvPr/>
        </p:nvSpPr>
        <p:spPr>
          <a:xfrm>
            <a:off x="6675120" y="4617720"/>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F</a:t>
            </a:r>
          </a:p>
        </p:txBody>
      </p:sp>
      <p:sp>
        <p:nvSpPr>
          <p:cNvPr id="31" name="Rectangle 30"/>
          <p:cNvSpPr/>
          <p:nvPr/>
        </p:nvSpPr>
        <p:spPr>
          <a:xfrm>
            <a:off x="7269480" y="4599432"/>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Evaluate &amp; deploy IL</a:t>
            </a:r>
            <a:r>
              <a:rPr sz="1300" b="0" i="0">
                <a:solidFill>
                  <a:srgbClr val="5B6275"/>
                </a:solidFill>
              </a:rPr>
              <a:t>   L11–L12</a:t>
            </a:r>
          </a:p>
        </p:txBody>
      </p:sp>
      <p:sp>
        <p:nvSpPr>
          <p:cNvPr id="32" name="Rounded Rectangle 31"/>
          <p:cNvSpPr/>
          <p:nvPr/>
        </p:nvSpPr>
        <p:spPr>
          <a:xfrm>
            <a:off x="6675120" y="5239512"/>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G</a:t>
            </a:r>
          </a:p>
        </p:txBody>
      </p:sp>
      <p:sp>
        <p:nvSpPr>
          <p:cNvPr id="33" name="Rectangle 32"/>
          <p:cNvSpPr/>
          <p:nvPr/>
        </p:nvSpPr>
        <p:spPr>
          <a:xfrm>
            <a:off x="7269480" y="5221224"/>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Vision-language-action</a:t>
            </a:r>
            <a:r>
              <a:rPr sz="1300" b="0" i="0">
                <a:solidFill>
                  <a:srgbClr val="5B6275"/>
                </a:solidFill>
              </a:rPr>
              <a:t>   L13–L14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Entry check: three questions on Lab 2</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600200"/>
            <a:ext cx="8229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800" b="1" i="0">
                <a:solidFill>
                  <a:srgbClr val="FFFFFF"/>
                </a:solidFill>
              </a:rPr>
              <a:t>1</a:t>
            </a:r>
          </a:p>
        </p:txBody>
      </p:sp>
      <p:sp>
        <p:nvSpPr>
          <p:cNvPr id="8" name="Rounded Rectangle 7"/>
          <p:cNvSpPr/>
          <p:nvPr/>
        </p:nvSpPr>
        <p:spPr>
          <a:xfrm>
            <a:off x="1554480" y="1600200"/>
            <a:ext cx="10058400" cy="9601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900" b="0" i="0">
                <a:solidFill>
                  <a:srgbClr val="1F2433"/>
                </a:solidFill>
              </a:rPr>
              <a:t>What did calibration establish between the leader and the follower?</a:t>
            </a:r>
          </a:p>
        </p:txBody>
      </p:sp>
      <p:sp>
        <p:nvSpPr>
          <p:cNvPr id="9" name="Rounded Rectangle 8"/>
          <p:cNvSpPr/>
          <p:nvPr/>
        </p:nvSpPr>
        <p:spPr>
          <a:xfrm>
            <a:off x="548640" y="2788920"/>
            <a:ext cx="8229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800" b="1" i="0">
                <a:solidFill>
                  <a:srgbClr val="FFFFFF"/>
                </a:solidFill>
              </a:rPr>
              <a:t>2</a:t>
            </a:r>
          </a:p>
        </p:txBody>
      </p:sp>
      <p:sp>
        <p:nvSpPr>
          <p:cNvPr id="10" name="Rounded Rectangle 9"/>
          <p:cNvSpPr/>
          <p:nvPr/>
        </p:nvSpPr>
        <p:spPr>
          <a:xfrm>
            <a:off x="1554480" y="2788920"/>
            <a:ext cx="10058400" cy="9601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900" b="0" i="0">
                <a:solidFill>
                  <a:srgbClr val="1F2433"/>
                </a:solidFill>
              </a:rPr>
              <a:t>During teleoperation, what exactly does the follower copy from the leader?</a:t>
            </a:r>
          </a:p>
        </p:txBody>
      </p:sp>
      <p:sp>
        <p:nvSpPr>
          <p:cNvPr id="11" name="Rounded Rectangle 10"/>
          <p:cNvSpPr/>
          <p:nvPr/>
        </p:nvSpPr>
        <p:spPr>
          <a:xfrm>
            <a:off x="548640" y="3977639"/>
            <a:ext cx="8229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800" b="1" i="0">
                <a:solidFill>
                  <a:srgbClr val="FFFFFF"/>
                </a:solidFill>
              </a:rPr>
              <a:t>3</a:t>
            </a:r>
          </a:p>
        </p:txBody>
      </p:sp>
      <p:sp>
        <p:nvSpPr>
          <p:cNvPr id="12" name="Rounded Rectangle 11"/>
          <p:cNvSpPr/>
          <p:nvPr/>
        </p:nvSpPr>
        <p:spPr>
          <a:xfrm>
            <a:off x="1554480" y="3977639"/>
            <a:ext cx="10058400" cy="9601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900" b="0" i="0">
                <a:solidFill>
                  <a:srgbClr val="1F2433"/>
                </a:solidFill>
              </a:rPr>
              <a:t>At 30 Hz, how many joint values does the SO-101 report per second?</a:t>
            </a:r>
          </a:p>
        </p:txBody>
      </p:sp>
      <p:sp>
        <p:nvSpPr>
          <p:cNvPr id="13" name="Rectangle 12"/>
          <p:cNvSpPr/>
          <p:nvPr/>
        </p:nvSpPr>
        <p:spPr>
          <a:xfrm>
            <a:off x="548640" y="5349240"/>
            <a:ext cx="110642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0" i="1">
                <a:solidFill>
                  <a:srgbClr val="5B6275"/>
                </a:solidFill>
              </a:rPr>
              <a:t>5 minutes, on paper or in the poll. We go through the answers together.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outcomes</a:t>
            </a:r>
          </a:p>
        </p:txBody>
      </p:sp>
      <p:sp>
        <p:nvSpPr>
          <p:cNvPr id="3" name="Text Placeholder 2"/>
          <p:cNvSpPr>
            <a:spLocks noGrp="1"/>
          </p:cNvSpPr>
          <p:nvPr>
            <p:ph type="body" idx="11" sz="quarter"/>
          </p:nvPr>
        </p:nvSpPr>
        <p:spPr/>
        <p:txBody>
          <a:bodyPr/>
          <a:lstStyle/>
          <a:p>
            <a:pPr/>
            <a:r>
              <a:rPr sz="2200"/>
              <a:t>By the end of this lesson you should be able to:</a:t>
            </a:r>
          </a:p>
          <a:p>
            <a:pPr lvl="1"/>
            <a:r>
              <a:rPr sz="2000"/>
              <a:t>describe the structure of a robot dataset: episode, frame, observation, action, task</a:t>
            </a:r>
          </a:p>
          <a:p>
            <a:pPr lvl="1"/>
            <a:r>
              <a:rPr sz="2000"/>
              <a:t>compare teleoperation, kinesthetic teaching and domain-randomised simulation on cost, realism and scale</a:t>
            </a:r>
          </a:p>
          <a:p>
            <a:pPr lvl="1"/>
            <a:r>
              <a:rPr sz="2000"/>
              <a:t>apply quality and coverage rules to decide which demonstrations to keep</a:t>
            </a:r>
          </a:p>
          <a:p>
            <a:pPr lvl="1"/>
            <a:r>
              <a:rPr sz="2000"/>
              <a:t>explain domain randomisation as a response to three kinds of reality gap</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What a robot dataset is</a:t>
            </a:r>
          </a:p>
          <a:p>
            <a:pPr algn="l"/>
            <a:r>
              <a:rPr sz="1800" b="0" i="0">
                <a:solidFill>
                  <a:srgbClr val="DDE5F7"/>
                </a:solidFill>
              </a:rPr>
              <a:t>Episodes, frames, state and 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robot dataset is a time series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828800"/>
            <a:ext cx="1645920" cy="822960"/>
          </a:xfrm>
          <a:prstGeom prst="roundRect">
            <a:avLst>
              <a:gd name="adj" fmla="val 12000"/>
            </a:avLst>
          </a:prstGeom>
          <a:solidFill>
            <a:srgbClr val="EEF1F9"/>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front</a:t>
            </a:r>
          </a:p>
          <a:p>
            <a:pPr algn="ctr"/>
            <a:r>
              <a:rPr sz="1100" b="0" i="0">
                <a:solidFill>
                  <a:srgbClr val="5B6275"/>
                </a:solidFill>
              </a:rPr>
              <a:t>image</a:t>
            </a:r>
          </a:p>
        </p:txBody>
      </p:sp>
      <p:sp>
        <p:nvSpPr>
          <p:cNvPr id="8" name="Rounded Rectangle 7"/>
          <p:cNvSpPr/>
          <p:nvPr/>
        </p:nvSpPr>
        <p:spPr>
          <a:xfrm>
            <a:off x="548640" y="2697480"/>
            <a:ext cx="1645920" cy="5029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0" i="0">
                <a:solidFill>
                  <a:srgbClr val="1F2433"/>
                </a:solidFill>
              </a:rPr>
              <a:t>6 joints</a:t>
            </a:r>
          </a:p>
        </p:txBody>
      </p:sp>
      <p:sp>
        <p:nvSpPr>
          <p:cNvPr id="9" name="Rounded Rectangle 8"/>
          <p:cNvSpPr/>
          <p:nvPr/>
        </p:nvSpPr>
        <p:spPr>
          <a:xfrm>
            <a:off x="548640" y="3246120"/>
            <a:ext cx="1645920" cy="5029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0" i="0">
                <a:solidFill>
                  <a:srgbClr val="E30613"/>
                </a:solidFill>
              </a:rPr>
              <a:t>6 actions</a:t>
            </a:r>
          </a:p>
        </p:txBody>
      </p:sp>
      <p:sp>
        <p:nvSpPr>
          <p:cNvPr id="10" name="Rectangle 9"/>
          <p:cNvSpPr/>
          <p:nvPr/>
        </p:nvSpPr>
        <p:spPr>
          <a:xfrm>
            <a:off x="548640" y="3794760"/>
            <a:ext cx="1645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0" i="0">
                <a:solidFill>
                  <a:srgbClr val="5B6275"/>
                </a:solidFill>
              </a:rPr>
              <a:t>frame 0</a:t>
            </a:r>
          </a:p>
        </p:txBody>
      </p:sp>
      <p:sp>
        <p:nvSpPr>
          <p:cNvPr id="11" name="Rounded Rectangle 10"/>
          <p:cNvSpPr/>
          <p:nvPr/>
        </p:nvSpPr>
        <p:spPr>
          <a:xfrm>
            <a:off x="2423160" y="1828800"/>
            <a:ext cx="1645920" cy="822960"/>
          </a:xfrm>
          <a:prstGeom prst="roundRect">
            <a:avLst>
              <a:gd name="adj" fmla="val 12000"/>
            </a:avLst>
          </a:prstGeom>
          <a:solidFill>
            <a:srgbClr val="EEF1F9"/>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front</a:t>
            </a:r>
          </a:p>
          <a:p>
            <a:pPr algn="ctr"/>
            <a:r>
              <a:rPr sz="1100" b="0" i="0">
                <a:solidFill>
                  <a:srgbClr val="5B6275"/>
                </a:solidFill>
              </a:rPr>
              <a:t>image</a:t>
            </a:r>
          </a:p>
        </p:txBody>
      </p:sp>
      <p:sp>
        <p:nvSpPr>
          <p:cNvPr id="12" name="Rounded Rectangle 11"/>
          <p:cNvSpPr/>
          <p:nvPr/>
        </p:nvSpPr>
        <p:spPr>
          <a:xfrm>
            <a:off x="2423160" y="2697480"/>
            <a:ext cx="1645920" cy="5029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0" i="0">
                <a:solidFill>
                  <a:srgbClr val="1F2433"/>
                </a:solidFill>
              </a:rPr>
              <a:t>6 joints</a:t>
            </a:r>
          </a:p>
        </p:txBody>
      </p:sp>
      <p:sp>
        <p:nvSpPr>
          <p:cNvPr id="13" name="Rounded Rectangle 12"/>
          <p:cNvSpPr/>
          <p:nvPr/>
        </p:nvSpPr>
        <p:spPr>
          <a:xfrm>
            <a:off x="2423160" y="3246120"/>
            <a:ext cx="1645920" cy="5029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0" i="0">
                <a:solidFill>
                  <a:srgbClr val="E30613"/>
                </a:solidFill>
              </a:rPr>
              <a:t>6 actions</a:t>
            </a:r>
          </a:p>
        </p:txBody>
      </p:sp>
      <p:sp>
        <p:nvSpPr>
          <p:cNvPr id="14" name="Rectangle 13"/>
          <p:cNvSpPr/>
          <p:nvPr/>
        </p:nvSpPr>
        <p:spPr>
          <a:xfrm>
            <a:off x="2423160" y="3794760"/>
            <a:ext cx="1645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0" i="0">
                <a:solidFill>
                  <a:srgbClr val="5B6275"/>
                </a:solidFill>
              </a:rPr>
              <a:t>frame 1</a:t>
            </a:r>
          </a:p>
        </p:txBody>
      </p:sp>
      <p:sp>
        <p:nvSpPr>
          <p:cNvPr id="15" name="Rounded Rectangle 14"/>
          <p:cNvSpPr/>
          <p:nvPr/>
        </p:nvSpPr>
        <p:spPr>
          <a:xfrm>
            <a:off x="4297679" y="1828800"/>
            <a:ext cx="1645920" cy="822960"/>
          </a:xfrm>
          <a:prstGeom prst="roundRect">
            <a:avLst>
              <a:gd name="adj" fmla="val 12000"/>
            </a:avLst>
          </a:prstGeom>
          <a:solidFill>
            <a:srgbClr val="EEF1F9"/>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front</a:t>
            </a:r>
          </a:p>
          <a:p>
            <a:pPr algn="ctr"/>
            <a:r>
              <a:rPr sz="1100" b="0" i="0">
                <a:solidFill>
                  <a:srgbClr val="5B6275"/>
                </a:solidFill>
              </a:rPr>
              <a:t>image</a:t>
            </a:r>
          </a:p>
        </p:txBody>
      </p:sp>
      <p:sp>
        <p:nvSpPr>
          <p:cNvPr id="16" name="Rounded Rectangle 15"/>
          <p:cNvSpPr/>
          <p:nvPr/>
        </p:nvSpPr>
        <p:spPr>
          <a:xfrm>
            <a:off x="4297679" y="2697480"/>
            <a:ext cx="1645920" cy="5029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0" i="0">
                <a:solidFill>
                  <a:srgbClr val="1F2433"/>
                </a:solidFill>
              </a:rPr>
              <a:t>6 joints</a:t>
            </a:r>
          </a:p>
        </p:txBody>
      </p:sp>
      <p:sp>
        <p:nvSpPr>
          <p:cNvPr id="17" name="Rounded Rectangle 16"/>
          <p:cNvSpPr/>
          <p:nvPr/>
        </p:nvSpPr>
        <p:spPr>
          <a:xfrm>
            <a:off x="4297679" y="3246120"/>
            <a:ext cx="1645920" cy="5029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0" i="0">
                <a:solidFill>
                  <a:srgbClr val="E30613"/>
                </a:solidFill>
              </a:rPr>
              <a:t>6 actions</a:t>
            </a:r>
          </a:p>
        </p:txBody>
      </p:sp>
      <p:sp>
        <p:nvSpPr>
          <p:cNvPr id="18" name="Rectangle 17"/>
          <p:cNvSpPr/>
          <p:nvPr/>
        </p:nvSpPr>
        <p:spPr>
          <a:xfrm>
            <a:off x="4297679" y="3794760"/>
            <a:ext cx="1645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0" i="0">
                <a:solidFill>
                  <a:srgbClr val="5B6275"/>
                </a:solidFill>
              </a:rPr>
              <a:t>frame 2</a:t>
            </a:r>
          </a:p>
        </p:txBody>
      </p:sp>
      <p:sp>
        <p:nvSpPr>
          <p:cNvPr id="19" name="Rounded Rectangle 18"/>
          <p:cNvSpPr/>
          <p:nvPr/>
        </p:nvSpPr>
        <p:spPr>
          <a:xfrm>
            <a:off x="6172199" y="1828800"/>
            <a:ext cx="1645920" cy="822960"/>
          </a:xfrm>
          <a:prstGeom prst="roundRect">
            <a:avLst>
              <a:gd name="adj" fmla="val 12000"/>
            </a:avLst>
          </a:prstGeom>
          <a:solidFill>
            <a:srgbClr val="EEF1F9"/>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front</a:t>
            </a:r>
          </a:p>
          <a:p>
            <a:pPr algn="ctr"/>
            <a:r>
              <a:rPr sz="1100" b="0" i="0">
                <a:solidFill>
                  <a:srgbClr val="5B6275"/>
                </a:solidFill>
              </a:rPr>
              <a:t>image</a:t>
            </a:r>
          </a:p>
        </p:txBody>
      </p:sp>
      <p:sp>
        <p:nvSpPr>
          <p:cNvPr id="20" name="Rounded Rectangle 19"/>
          <p:cNvSpPr/>
          <p:nvPr/>
        </p:nvSpPr>
        <p:spPr>
          <a:xfrm>
            <a:off x="6172199" y="2697480"/>
            <a:ext cx="1645920" cy="5029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0" i="0">
                <a:solidFill>
                  <a:srgbClr val="1F2433"/>
                </a:solidFill>
              </a:rPr>
              <a:t>6 joints</a:t>
            </a:r>
          </a:p>
        </p:txBody>
      </p:sp>
      <p:sp>
        <p:nvSpPr>
          <p:cNvPr id="21" name="Rounded Rectangle 20"/>
          <p:cNvSpPr/>
          <p:nvPr/>
        </p:nvSpPr>
        <p:spPr>
          <a:xfrm>
            <a:off x="6172199" y="3246120"/>
            <a:ext cx="1645920" cy="5029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0" i="0">
                <a:solidFill>
                  <a:srgbClr val="E30613"/>
                </a:solidFill>
              </a:rPr>
              <a:t>6 actions</a:t>
            </a:r>
          </a:p>
        </p:txBody>
      </p:sp>
      <p:sp>
        <p:nvSpPr>
          <p:cNvPr id="22" name="Rectangle 21"/>
          <p:cNvSpPr/>
          <p:nvPr/>
        </p:nvSpPr>
        <p:spPr>
          <a:xfrm>
            <a:off x="6172199" y="3794760"/>
            <a:ext cx="1645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0" i="0">
                <a:solidFill>
                  <a:srgbClr val="5B6275"/>
                </a:solidFill>
              </a:rPr>
              <a:t>frame 3</a:t>
            </a:r>
          </a:p>
        </p:txBody>
      </p:sp>
      <p:sp>
        <p:nvSpPr>
          <p:cNvPr id="23" name="Rectangle 22"/>
          <p:cNvSpPr/>
          <p:nvPr/>
        </p:nvSpPr>
        <p:spPr>
          <a:xfrm>
            <a:off x="8046719" y="2057400"/>
            <a:ext cx="164592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200" b="0" i="0">
                <a:solidFill>
                  <a:srgbClr val="5B6275"/>
                </a:solidFill>
              </a:rPr>
              <a:t>…</a:t>
            </a:r>
          </a:p>
        </p:txBody>
      </p:sp>
      <p:sp>
        <p:nvSpPr>
          <p:cNvPr id="24" name="Rounded Rectangle 23"/>
          <p:cNvSpPr/>
          <p:nvPr/>
        </p:nvSpPr>
        <p:spPr>
          <a:xfrm>
            <a:off x="9921240" y="1828800"/>
            <a:ext cx="1645920" cy="822960"/>
          </a:xfrm>
          <a:prstGeom prst="roundRect">
            <a:avLst>
              <a:gd name="adj" fmla="val 12000"/>
            </a:avLst>
          </a:prstGeom>
          <a:solidFill>
            <a:srgbClr val="EEF1F9"/>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front</a:t>
            </a:r>
          </a:p>
          <a:p>
            <a:pPr algn="ctr"/>
            <a:r>
              <a:rPr sz="1100" b="0" i="0">
                <a:solidFill>
                  <a:srgbClr val="5B6275"/>
                </a:solidFill>
              </a:rPr>
              <a:t>image</a:t>
            </a:r>
          </a:p>
        </p:txBody>
      </p:sp>
      <p:sp>
        <p:nvSpPr>
          <p:cNvPr id="25" name="Rounded Rectangle 24"/>
          <p:cNvSpPr/>
          <p:nvPr/>
        </p:nvSpPr>
        <p:spPr>
          <a:xfrm>
            <a:off x="9921240" y="2697480"/>
            <a:ext cx="1645920" cy="5029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0" i="0">
                <a:solidFill>
                  <a:srgbClr val="1F2433"/>
                </a:solidFill>
              </a:rPr>
              <a:t>6 joints</a:t>
            </a:r>
          </a:p>
        </p:txBody>
      </p:sp>
      <p:sp>
        <p:nvSpPr>
          <p:cNvPr id="26" name="Rounded Rectangle 25"/>
          <p:cNvSpPr/>
          <p:nvPr/>
        </p:nvSpPr>
        <p:spPr>
          <a:xfrm>
            <a:off x="9921240" y="3246120"/>
            <a:ext cx="1645920" cy="5029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0" i="0">
                <a:solidFill>
                  <a:srgbClr val="E30613"/>
                </a:solidFill>
              </a:rPr>
              <a:t>6 actions</a:t>
            </a:r>
          </a:p>
        </p:txBody>
      </p:sp>
      <p:sp>
        <p:nvSpPr>
          <p:cNvPr id="27" name="Rectangle 26"/>
          <p:cNvSpPr/>
          <p:nvPr/>
        </p:nvSpPr>
        <p:spPr>
          <a:xfrm>
            <a:off x="9921240" y="3794760"/>
            <a:ext cx="1645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0" i="0">
                <a:solidFill>
                  <a:srgbClr val="5B6275"/>
                </a:solidFill>
              </a:rPr>
              <a:t>frame 599</a:t>
            </a:r>
          </a:p>
        </p:txBody>
      </p:sp>
      <p:sp>
        <p:nvSpPr>
          <p:cNvPr id="28" name="Rectangle 27"/>
          <p:cNvSpPr/>
          <p:nvPr/>
        </p:nvSpPr>
        <p:spPr>
          <a:xfrm>
            <a:off x="548640" y="1417320"/>
            <a:ext cx="110642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1" i="0">
                <a:solidFill>
                  <a:srgbClr val="164194"/>
                </a:solidFill>
              </a:rPr>
              <a:t>One episode = one attempt at the task, from reset to finish (here 20 s × 30 fps = 600 frames)</a:t>
            </a:r>
          </a:p>
        </p:txBody>
      </p:sp>
      <p:sp>
        <p:nvSpPr>
          <p:cNvPr id="29" name="Rounded Rectangle 28"/>
          <p:cNvSpPr/>
          <p:nvPr/>
        </p:nvSpPr>
        <p:spPr>
          <a:xfrm>
            <a:off x="548640" y="4343400"/>
            <a:ext cx="3520440" cy="13258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Frame</a:t>
            </a:r>
          </a:p>
          <a:p>
            <a:pPr algn="l"/>
            <a:r>
              <a:rPr sz="1500" b="0" i="0">
                <a:solidFill>
                  <a:srgbClr val="1F2433"/>
                </a:solidFill>
              </a:rPr>
              <a:t>one time step: observation + action + timestamp</a:t>
            </a:r>
          </a:p>
        </p:txBody>
      </p:sp>
      <p:sp>
        <p:nvSpPr>
          <p:cNvPr id="30" name="Rounded Rectangle 29"/>
          <p:cNvSpPr/>
          <p:nvPr/>
        </p:nvSpPr>
        <p:spPr>
          <a:xfrm>
            <a:off x="4325112" y="4343400"/>
            <a:ext cx="3520440" cy="13258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Episode</a:t>
            </a:r>
          </a:p>
          <a:p>
            <a:pPr algn="l"/>
            <a:r>
              <a:rPr sz="1500" b="0" i="0">
                <a:solidFill>
                  <a:srgbClr val="1F2433"/>
                </a:solidFill>
              </a:rPr>
              <a:t>an ordered sequence of frames for one attempt</a:t>
            </a:r>
          </a:p>
        </p:txBody>
      </p:sp>
      <p:sp>
        <p:nvSpPr>
          <p:cNvPr id="31" name="Rounded Rectangle 30"/>
          <p:cNvSpPr/>
          <p:nvPr/>
        </p:nvSpPr>
        <p:spPr>
          <a:xfrm>
            <a:off x="8101583" y="4343400"/>
            <a:ext cx="3520440" cy="13258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Dataset</a:t>
            </a:r>
          </a:p>
          <a:p>
            <a:pPr algn="l"/>
            <a:r>
              <a:rPr sz="1500" b="0" i="0">
                <a:solidFill>
                  <a:srgbClr val="1F2433"/>
                </a:solidFill>
              </a:rPr>
              <a:t>many episodes of the same task, plus metadata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Inside one frame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463040"/>
            <a:ext cx="402336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Field</a:t>
            </a:r>
          </a:p>
        </p:txBody>
      </p:sp>
      <p:sp>
        <p:nvSpPr>
          <p:cNvPr id="8" name="Rounded Rectangle 7"/>
          <p:cNvSpPr/>
          <p:nvPr/>
        </p:nvSpPr>
        <p:spPr>
          <a:xfrm>
            <a:off x="4663440" y="1463040"/>
            <a:ext cx="219456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Shape</a:t>
            </a:r>
          </a:p>
        </p:txBody>
      </p:sp>
      <p:sp>
        <p:nvSpPr>
          <p:cNvPr id="9" name="Rounded Rectangle 8"/>
          <p:cNvSpPr/>
          <p:nvPr/>
        </p:nvSpPr>
        <p:spPr>
          <a:xfrm>
            <a:off x="6949440" y="1463040"/>
            <a:ext cx="466344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Meaning</a:t>
            </a:r>
          </a:p>
        </p:txBody>
      </p:sp>
      <p:sp>
        <p:nvSpPr>
          <p:cNvPr id="10" name="Rounded Rectangle 9"/>
          <p:cNvSpPr/>
          <p:nvPr/>
        </p:nvSpPr>
        <p:spPr>
          <a:xfrm>
            <a:off x="548640" y="2011680"/>
            <a:ext cx="40233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observation.state</a:t>
            </a:r>
          </a:p>
        </p:txBody>
      </p:sp>
      <p:sp>
        <p:nvSpPr>
          <p:cNvPr id="11" name="Rounded Rectangle 10"/>
          <p:cNvSpPr/>
          <p:nvPr/>
        </p:nvSpPr>
        <p:spPr>
          <a:xfrm>
            <a:off x="4663440" y="2011680"/>
            <a:ext cx="21945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6 numbers</a:t>
            </a:r>
          </a:p>
        </p:txBody>
      </p:sp>
      <p:sp>
        <p:nvSpPr>
          <p:cNvPr id="12" name="Rounded Rectangle 11"/>
          <p:cNvSpPr/>
          <p:nvPr/>
        </p:nvSpPr>
        <p:spPr>
          <a:xfrm>
            <a:off x="6949440" y="2011680"/>
            <a:ext cx="466344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follower joint positions</a:t>
            </a:r>
          </a:p>
        </p:txBody>
      </p:sp>
      <p:sp>
        <p:nvSpPr>
          <p:cNvPr id="13" name="Rounded Rectangle 12"/>
          <p:cNvSpPr/>
          <p:nvPr/>
        </p:nvSpPr>
        <p:spPr>
          <a:xfrm>
            <a:off x="548640" y="2633472"/>
            <a:ext cx="40233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observation.images.front</a:t>
            </a:r>
          </a:p>
        </p:txBody>
      </p:sp>
      <p:sp>
        <p:nvSpPr>
          <p:cNvPr id="14" name="Rounded Rectangle 13"/>
          <p:cNvSpPr/>
          <p:nvPr/>
        </p:nvSpPr>
        <p:spPr>
          <a:xfrm>
            <a:off x="4663440" y="2633472"/>
            <a:ext cx="21945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480 × 640 × 3</a:t>
            </a:r>
          </a:p>
        </p:txBody>
      </p:sp>
      <p:sp>
        <p:nvSpPr>
          <p:cNvPr id="15" name="Rounded Rectangle 14"/>
          <p:cNvSpPr/>
          <p:nvPr/>
        </p:nvSpPr>
        <p:spPr>
          <a:xfrm>
            <a:off x="6949440" y="2633472"/>
            <a:ext cx="466344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front camera image</a:t>
            </a:r>
          </a:p>
        </p:txBody>
      </p:sp>
      <p:sp>
        <p:nvSpPr>
          <p:cNvPr id="16" name="Rounded Rectangle 15"/>
          <p:cNvSpPr/>
          <p:nvPr/>
        </p:nvSpPr>
        <p:spPr>
          <a:xfrm>
            <a:off x="548640" y="3255264"/>
            <a:ext cx="40233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observation.images.wrist</a:t>
            </a:r>
          </a:p>
        </p:txBody>
      </p:sp>
      <p:sp>
        <p:nvSpPr>
          <p:cNvPr id="17" name="Rounded Rectangle 16"/>
          <p:cNvSpPr/>
          <p:nvPr/>
        </p:nvSpPr>
        <p:spPr>
          <a:xfrm>
            <a:off x="4663440" y="3255264"/>
            <a:ext cx="21945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480 × 640 × 3</a:t>
            </a:r>
          </a:p>
        </p:txBody>
      </p:sp>
      <p:sp>
        <p:nvSpPr>
          <p:cNvPr id="18" name="Rounded Rectangle 17"/>
          <p:cNvSpPr/>
          <p:nvPr/>
        </p:nvSpPr>
        <p:spPr>
          <a:xfrm>
            <a:off x="6949440" y="3255264"/>
            <a:ext cx="466344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wrist camera image</a:t>
            </a:r>
          </a:p>
        </p:txBody>
      </p:sp>
      <p:sp>
        <p:nvSpPr>
          <p:cNvPr id="19" name="Rounded Rectangle 18"/>
          <p:cNvSpPr/>
          <p:nvPr/>
        </p:nvSpPr>
        <p:spPr>
          <a:xfrm>
            <a:off x="548640" y="3877056"/>
            <a:ext cx="4023360" cy="5486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E30613"/>
                </a:solidFill>
              </a:rPr>
              <a:t>action</a:t>
            </a:r>
          </a:p>
        </p:txBody>
      </p:sp>
      <p:sp>
        <p:nvSpPr>
          <p:cNvPr id="20" name="Rounded Rectangle 19"/>
          <p:cNvSpPr/>
          <p:nvPr/>
        </p:nvSpPr>
        <p:spPr>
          <a:xfrm>
            <a:off x="4663440" y="3877056"/>
            <a:ext cx="2194560" cy="5486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6 numbers</a:t>
            </a:r>
          </a:p>
        </p:txBody>
      </p:sp>
      <p:sp>
        <p:nvSpPr>
          <p:cNvPr id="21" name="Rounded Rectangle 20"/>
          <p:cNvSpPr/>
          <p:nvPr/>
        </p:nvSpPr>
        <p:spPr>
          <a:xfrm>
            <a:off x="6949440" y="3877056"/>
            <a:ext cx="4663440" cy="5486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leader joint positions (the command)</a:t>
            </a:r>
          </a:p>
        </p:txBody>
      </p:sp>
      <p:sp>
        <p:nvSpPr>
          <p:cNvPr id="22" name="Rounded Rectangle 21"/>
          <p:cNvSpPr/>
          <p:nvPr/>
        </p:nvSpPr>
        <p:spPr>
          <a:xfrm>
            <a:off x="548640" y="4498848"/>
            <a:ext cx="40233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F2433"/>
                </a:solidFill>
              </a:rPr>
              <a:t>timestamp · frame_index · episode_index</a:t>
            </a:r>
          </a:p>
        </p:txBody>
      </p:sp>
      <p:sp>
        <p:nvSpPr>
          <p:cNvPr id="23" name="Rounded Rectangle 22"/>
          <p:cNvSpPr/>
          <p:nvPr/>
        </p:nvSpPr>
        <p:spPr>
          <a:xfrm>
            <a:off x="4663440" y="4498848"/>
            <a:ext cx="21945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numbers</a:t>
            </a:r>
          </a:p>
        </p:txBody>
      </p:sp>
      <p:sp>
        <p:nvSpPr>
          <p:cNvPr id="24" name="Rounded Rectangle 23"/>
          <p:cNvSpPr/>
          <p:nvPr/>
        </p:nvSpPr>
        <p:spPr>
          <a:xfrm>
            <a:off x="6949440" y="4498848"/>
            <a:ext cx="466344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where this frame sits in time</a:t>
            </a:r>
          </a:p>
        </p:txBody>
      </p:sp>
      <p:sp>
        <p:nvSpPr>
          <p:cNvPr id="25" name="Rounded Rectangle 24"/>
          <p:cNvSpPr/>
          <p:nvPr/>
        </p:nvSpPr>
        <p:spPr>
          <a:xfrm>
            <a:off x="548640" y="5120640"/>
            <a:ext cx="40233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F2433"/>
                </a:solidFill>
              </a:rPr>
              <a:t>task</a:t>
            </a:r>
          </a:p>
        </p:txBody>
      </p:sp>
      <p:sp>
        <p:nvSpPr>
          <p:cNvPr id="26" name="Rounded Rectangle 25"/>
          <p:cNvSpPr/>
          <p:nvPr/>
        </p:nvSpPr>
        <p:spPr>
          <a:xfrm>
            <a:off x="4663440" y="5120640"/>
            <a:ext cx="21945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text</a:t>
            </a:r>
          </a:p>
        </p:txBody>
      </p:sp>
      <p:sp>
        <p:nvSpPr>
          <p:cNvPr id="27" name="Rounded Rectangle 26"/>
          <p:cNvSpPr/>
          <p:nvPr/>
        </p:nvSpPr>
        <p:spPr>
          <a:xfrm>
            <a:off x="6949440" y="5120640"/>
            <a:ext cx="466344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“Pick the cube and place it in the bin”</a:t>
            </a:r>
          </a:p>
        </p:txBody>
      </p:sp>
      <p:sp>
        <p:nvSpPr>
          <p:cNvPr id="28" name="Rectangle 27"/>
          <p:cNvSpPr/>
          <p:nvPr/>
        </p:nvSpPr>
        <p:spPr>
          <a:xfrm>
            <a:off x="548640" y="5760720"/>
            <a:ext cx="110642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200" b="0" i="1">
                <a:solidFill>
                  <a:srgbClr val="5B6275"/>
                </a:solidFill>
              </a:rPr>
              <a:t>Field names follow LeRobot's dataset format. Camera names (front, wrist) are chosen by you when recording and must stay the same.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State vs action: command and result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graphicFrame>
        <p:nvGraphicFramePr>
          <p:cNvPr id="7" name="Chart 6"/>
          <p:cNvGraphicFramePr>
            <a:graphicFrameLocks noGrp="1"/>
          </p:cNvGraphicFramePr>
          <p:nvPr/>
        </p:nvGraphicFramePr>
        <p:xfrm>
          <a:off x="457200" y="1463040"/>
          <a:ext cx="6949440" cy="4297680"/>
        </p:xfrm>
        <a:graphic>
          <a:graphicData uri="http://schemas.openxmlformats.org/drawingml/2006/chart">
            <c:chart xmlns:c="http://schemas.openxmlformats.org/drawingml/2006/chart" r:id="rId2"/>
          </a:graphicData>
        </a:graphic>
      </p:graphicFrame>
      <p:sp>
        <p:nvSpPr>
          <p:cNvPr id="8" name="Rounded Rectangle 7"/>
          <p:cNvSpPr/>
          <p:nvPr/>
        </p:nvSpPr>
        <p:spPr>
          <a:xfrm>
            <a:off x="7772400" y="1600200"/>
            <a:ext cx="3840480" cy="14173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800" b="1" i="0">
                <a:solidFill>
                  <a:srgbClr val="E30613"/>
                </a:solidFill>
              </a:rPr>
              <a:t>Action</a:t>
            </a:r>
          </a:p>
          <a:p>
            <a:pPr algn="l"/>
            <a:r>
              <a:rPr sz="1500" b="0" i="0">
                <a:solidFill>
                  <a:srgbClr val="1F2433"/>
                </a:solidFill>
              </a:rPr>
              <a:t>where the follower was told to go</a:t>
            </a:r>
          </a:p>
        </p:txBody>
      </p:sp>
      <p:sp>
        <p:nvSpPr>
          <p:cNvPr id="9" name="Rounded Rectangle 8"/>
          <p:cNvSpPr/>
          <p:nvPr/>
        </p:nvSpPr>
        <p:spPr>
          <a:xfrm>
            <a:off x="7772400" y="3154680"/>
            <a:ext cx="3840480" cy="14173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800" b="1" i="0">
                <a:solidFill>
                  <a:srgbClr val="164194"/>
                </a:solidFill>
              </a:rPr>
              <a:t>State</a:t>
            </a:r>
          </a:p>
          <a:p>
            <a:pPr algn="l"/>
            <a:r>
              <a:rPr sz="1500" b="0" i="0">
                <a:solidFill>
                  <a:srgbClr val="1F2433"/>
                </a:solidFill>
              </a:rPr>
              <a:t>where the follower actually is</a:t>
            </a:r>
          </a:p>
        </p:txBody>
      </p:sp>
      <p:sp>
        <p:nvSpPr>
          <p:cNvPr id="10" name="Rectangle 9"/>
          <p:cNvSpPr/>
          <p:nvPr/>
        </p:nvSpPr>
        <p:spPr>
          <a:xfrm>
            <a:off x="7772400" y="4709160"/>
            <a:ext cx="384048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400" b="0" i="0">
                <a:solidFill>
                  <a:srgbClr val="5B6275"/>
                </a:solidFill>
              </a:rPr>
              <a:t>The follower lags a few frames and may not reach the command (for example when gripping). The policy learns to output commands.</a:t>
            </a:r>
          </a:p>
        </p:txBody>
      </p:sp>
      <p:sp>
        <p:nvSpPr>
          <p:cNvPr id="11" name="Rectangle 10"/>
          <p:cNvSpPr/>
          <p:nvPr/>
        </p:nvSpPr>
        <p:spPr>
          <a:xfrm>
            <a:off x="548640" y="5806440"/>
            <a:ext cx="67665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100" b="0" i="1">
                <a:solidFill>
                  <a:srgbClr val="5B6275"/>
                </a:solidFill>
              </a:rPr>
              <a:t>Illustrative curve. Replace with a joint trace from your own L2 teleoperation.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LeRobot stores a dataset (format v3.0)</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54480"/>
            <a:ext cx="2743200" cy="6858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my_dataset/</a:t>
            </a:r>
          </a:p>
        </p:txBody>
      </p:sp>
      <p:sp>
        <p:nvSpPr>
          <p:cNvPr id="8" name="Rounded Rectangle 7"/>
          <p:cNvSpPr/>
          <p:nvPr/>
        </p:nvSpPr>
        <p:spPr>
          <a:xfrm>
            <a:off x="1188720" y="2514600"/>
            <a:ext cx="210312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164194"/>
                </a:solidFill>
              </a:rPr>
              <a:t>meta/</a:t>
            </a:r>
          </a:p>
        </p:txBody>
      </p:sp>
      <p:sp>
        <p:nvSpPr>
          <p:cNvPr id="9" name="Rounded Rectangle 8"/>
          <p:cNvSpPr/>
          <p:nvPr/>
        </p:nvSpPr>
        <p:spPr>
          <a:xfrm>
            <a:off x="3520440" y="2468880"/>
            <a:ext cx="4206240" cy="1664208"/>
          </a:xfrm>
          <a:prstGeom prst="roundRect">
            <a:avLst>
              <a:gd name="adj" fmla="val 12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info.json · schema, fps, features</a:t>
            </a:r>
          </a:p>
          <a:p>
            <a:pPr algn="l"/>
            <a:r>
              <a:rPr sz="1400" b="0" i="0">
                <a:solidFill>
                  <a:srgbClr val="1F2433"/>
                </a:solidFill>
              </a:rPr>
              <a:t>stats.json · normalisation statistics</a:t>
            </a:r>
          </a:p>
          <a:p>
            <a:pPr algn="l"/>
            <a:r>
              <a:rPr sz="1400" b="0" i="0">
                <a:solidFill>
                  <a:srgbClr val="1F2433"/>
                </a:solidFill>
              </a:rPr>
              <a:t>tasks · the task text</a:t>
            </a:r>
          </a:p>
          <a:p>
            <a:pPr algn="l"/>
            <a:r>
              <a:rPr sz="1400" b="0" i="0">
                <a:solidFill>
                  <a:srgbClr val="1F2433"/>
                </a:solidFill>
              </a:rPr>
              <a:t>episodes/ · lengths and offsets</a:t>
            </a:r>
          </a:p>
        </p:txBody>
      </p:sp>
      <p:sp>
        <p:nvSpPr>
          <p:cNvPr id="10" name="Rounded Rectangle 9"/>
          <p:cNvSpPr/>
          <p:nvPr/>
        </p:nvSpPr>
        <p:spPr>
          <a:xfrm>
            <a:off x="1188720" y="4160520"/>
            <a:ext cx="210312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164194"/>
                </a:solidFill>
              </a:rPr>
              <a:t>data/</a:t>
            </a:r>
          </a:p>
        </p:txBody>
      </p:sp>
      <p:sp>
        <p:nvSpPr>
          <p:cNvPr id="11" name="Rounded Rectangle 10"/>
          <p:cNvSpPr/>
          <p:nvPr/>
        </p:nvSpPr>
        <p:spPr>
          <a:xfrm>
            <a:off x="3520440" y="4160520"/>
            <a:ext cx="4206240" cy="969264"/>
          </a:xfrm>
          <a:prstGeom prst="roundRect">
            <a:avLst>
              <a:gd name="adj" fmla="val 12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Parquet files · numbers for every frame</a:t>
            </a:r>
          </a:p>
          <a:p>
            <a:pPr algn="l"/>
            <a:r>
              <a:rPr sz="1400" b="0" i="0">
                <a:solidFill>
                  <a:srgbClr val="1F2433"/>
                </a:solidFill>
              </a:rPr>
              <a:t>(state, action, timestamps, indices)</a:t>
            </a:r>
          </a:p>
        </p:txBody>
      </p:sp>
      <p:sp>
        <p:nvSpPr>
          <p:cNvPr id="12" name="Rounded Rectangle 11"/>
          <p:cNvSpPr/>
          <p:nvPr/>
        </p:nvSpPr>
        <p:spPr>
          <a:xfrm>
            <a:off x="1188720" y="5166360"/>
            <a:ext cx="210312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164194"/>
                </a:solidFill>
              </a:rPr>
              <a:t>videos/</a:t>
            </a:r>
          </a:p>
        </p:txBody>
      </p:sp>
      <p:sp>
        <p:nvSpPr>
          <p:cNvPr id="13" name="Rounded Rectangle 12"/>
          <p:cNvSpPr/>
          <p:nvPr/>
        </p:nvSpPr>
        <p:spPr>
          <a:xfrm>
            <a:off x="3520440" y="5166360"/>
            <a:ext cx="4206240" cy="969264"/>
          </a:xfrm>
          <a:prstGeom prst="roundRect">
            <a:avLst>
              <a:gd name="adj" fmla="val 12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MP4 files · one stream per camera</a:t>
            </a:r>
          </a:p>
          <a:p>
            <a:pPr algn="l"/>
            <a:r>
              <a:rPr sz="1400" b="0" i="0">
                <a:solidFill>
                  <a:srgbClr val="1F2433"/>
                </a:solidFill>
              </a:rPr>
              <a:t>(front, wrist)</a:t>
            </a:r>
          </a:p>
        </p:txBody>
      </p:sp>
      <p:cxnSp>
        <p:nvCxnSpPr>
          <p:cNvPr id="14" name="Connector 13"/>
          <p:cNvCxnSpPr/>
          <p:nvPr/>
        </p:nvCxnSpPr>
        <p:spPr>
          <a:xfrm>
            <a:off x="822960" y="2834640"/>
            <a:ext cx="365760" cy="0"/>
          </a:xfrm>
          <a:prstGeom prst="line">
            <a:avLst/>
          </a:prstGeom>
          <a:ln>
            <a:solidFill>
              <a:srgbClr val="5B627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22960" y="4480560"/>
            <a:ext cx="365760" cy="0"/>
          </a:xfrm>
          <a:prstGeom prst="line">
            <a:avLst/>
          </a:prstGeom>
          <a:ln>
            <a:solidFill>
              <a:srgbClr val="5B627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22960" y="5486400"/>
            <a:ext cx="365760" cy="0"/>
          </a:xfrm>
          <a:prstGeom prst="line">
            <a:avLst/>
          </a:prstGeom>
          <a:ln>
            <a:solidFill>
              <a:srgbClr val="5B627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22960" y="2240280"/>
            <a:ext cx="0" cy="3246120"/>
          </a:xfrm>
          <a:prstGeom prst="line">
            <a:avLst/>
          </a:prstGeom>
          <a:ln>
            <a:solidFill>
              <a:srgbClr val="5B6275"/>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46720" y="1554480"/>
            <a:ext cx="3566160" cy="4206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700" b="1" i="0">
                <a:solidFill>
                  <a:srgbClr val="164194"/>
                </a:solidFill>
              </a:rPr>
              <a:t>Why this design?</a:t>
            </a:r>
          </a:p>
          <a:p>
            <a:pPr algn="l"/>
            <a:r>
              <a:rPr sz="1400" b="0" i="0">
                <a:solidFill>
                  <a:srgbClr val="1F2433"/>
                </a:solidFill>
              </a:rPr>
              <a:t>Numbers are small and fast to read: Parquet.</a:t>
            </a:r>
          </a:p>
          <a:p>
            <a:pPr algn="l"/>
            <a:r>
              <a:rPr sz="1400" b="0" i="0">
                <a:solidFill>
                  <a:srgbClr val="1F2433"/>
                </a:solidFill>
              </a:rPr>
              <a:t>Images are huge: stored as compressed video.</a:t>
            </a:r>
          </a:p>
          <a:p>
            <a:pPr algn="l"/>
            <a:r>
              <a:rPr sz="1400" b="0" i="0">
                <a:solidFill>
                  <a:srgbClr val="1F2433"/>
                </a:solidFill>
              </a:rPr>
              <a:t>Many episodes per file: quick to load and stream from the Hugging Face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Normalisation: the same scaling at training and on the arm</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54480"/>
            <a:ext cx="5303520" cy="22860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800" b="1" i="0">
                <a:solidFill>
                  <a:srgbClr val="164194"/>
                </a:solidFill>
              </a:rPr>
              <a:t>During training</a:t>
            </a:r>
          </a:p>
          <a:p>
            <a:pPr algn="l"/>
            <a:r>
              <a:rPr sz="1600" b="0" i="0">
                <a:solidFill>
                  <a:srgbClr val="1F2433"/>
                </a:solidFill>
              </a:rPr>
              <a:t>Each signal is rescaled using its mean and spread from stats.json, so the network sees numbers of similar size.</a:t>
            </a:r>
          </a:p>
        </p:txBody>
      </p:sp>
      <p:sp>
        <p:nvSpPr>
          <p:cNvPr id="8" name="Rounded Rectangle 7"/>
          <p:cNvSpPr/>
          <p:nvPr/>
        </p:nvSpPr>
        <p:spPr>
          <a:xfrm>
            <a:off x="6309360" y="1554480"/>
            <a:ext cx="5303520" cy="22860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800" b="1" i="0">
                <a:solidFill>
                  <a:srgbClr val="E30613"/>
                </a:solidFill>
              </a:rPr>
              <a:t>On the real arm</a:t>
            </a:r>
          </a:p>
          <a:p>
            <a:pPr algn="l"/>
            <a:r>
              <a:rPr sz="1600" b="0" i="0">
                <a:solidFill>
                  <a:srgbClr val="1F2433"/>
                </a:solidFill>
              </a:rPr>
              <a:t>The same rescaling must be applied to live readings, and undone on the policy's output. LeRobot does this for you.</a:t>
            </a:r>
          </a:p>
        </p:txBody>
      </p:sp>
      <p:sp>
        <p:nvSpPr>
          <p:cNvPr id="9" name="Rounded Rectangle 8"/>
          <p:cNvSpPr/>
          <p:nvPr/>
        </p:nvSpPr>
        <p:spPr>
          <a:xfrm>
            <a:off x="548640" y="4114800"/>
            <a:ext cx="11064240" cy="15087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Example: </a:t>
            </a:r>
            <a:r>
              <a:rPr sz="1700" b="0" i="0">
                <a:solidFill>
                  <a:srgbClr val="1F2433"/>
                </a:solidFill>
              </a:rPr>
              <a:t>elbow_flex mean = 60, spread = 20.  A reading of 80 becomes (80 − 60) ÷ 20 = </a:t>
            </a:r>
            <a:r>
              <a:rPr sz="1700" b="1" i="0">
                <a:solidFill>
                  <a:srgbClr val="164194"/>
                </a:solidFill>
              </a:rPr>
              <a:t>+1.0</a:t>
            </a:r>
          </a:p>
          <a:p>
            <a:pPr algn="l"/>
            <a:r>
              <a:rPr sz="1700" b="0" i="1">
                <a:solidFill>
                  <a:srgbClr val="5B6275"/>
                </a:solidFill>
              </a:rPr>
              <a:t>If the scaling were different on the arm, the policy would see a different number for the same pose.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how big is our dataset?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ectangle 6"/>
          <p:cNvSpPr/>
          <p:nvPr/>
        </p:nvSpPr>
        <p:spPr>
          <a:xfrm>
            <a:off x="548640" y="1463040"/>
            <a:ext cx="110642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2000" b="1" i="0">
                <a:solidFill>
                  <a:srgbClr val="164194"/>
                </a:solidFill>
              </a:rPr>
              <a:t>50 episodes × 20 seconds × 30 frames per second</a:t>
            </a:r>
          </a:p>
        </p:txBody>
      </p:sp>
      <p:sp>
        <p:nvSpPr>
          <p:cNvPr id="8" name="Rounded Rectangle 7"/>
          <p:cNvSpPr/>
          <p:nvPr/>
        </p:nvSpPr>
        <p:spPr>
          <a:xfrm>
            <a:off x="548640" y="2148840"/>
            <a:ext cx="2606040" cy="1920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600" b="1" i="0">
                <a:solidFill>
                  <a:srgbClr val="164194"/>
                </a:solidFill>
              </a:rPr>
              <a:t>30,000</a:t>
            </a:r>
          </a:p>
          <a:p>
            <a:pPr algn="ctr"/>
            <a:r>
              <a:rPr sz="1400" b="0" i="0">
                <a:solidFill>
                  <a:srgbClr val="5B6275"/>
                </a:solidFill>
              </a:rPr>
              <a:t>frames</a:t>
            </a:r>
          </a:p>
        </p:txBody>
      </p:sp>
      <p:sp>
        <p:nvSpPr>
          <p:cNvPr id="9" name="Rounded Rectangle 8"/>
          <p:cNvSpPr/>
          <p:nvPr/>
        </p:nvSpPr>
        <p:spPr>
          <a:xfrm>
            <a:off x="3337560" y="2148840"/>
            <a:ext cx="2606040" cy="1920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600" b="1" i="0">
                <a:solidFill>
                  <a:srgbClr val="164194"/>
                </a:solidFill>
              </a:rPr>
              <a:t>60,000</a:t>
            </a:r>
          </a:p>
          <a:p>
            <a:pPr algn="ctr"/>
            <a:r>
              <a:rPr sz="1400" b="0" i="0">
                <a:solidFill>
                  <a:srgbClr val="5B6275"/>
                </a:solidFill>
              </a:rPr>
              <a:t>camera images (2 cameras)</a:t>
            </a:r>
          </a:p>
        </p:txBody>
      </p:sp>
      <p:sp>
        <p:nvSpPr>
          <p:cNvPr id="10" name="Rounded Rectangle 9"/>
          <p:cNvSpPr/>
          <p:nvPr/>
        </p:nvSpPr>
        <p:spPr>
          <a:xfrm>
            <a:off x="6126479" y="2148840"/>
            <a:ext cx="2606040" cy="1920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600" b="1" i="0">
                <a:solidFill>
                  <a:srgbClr val="164194"/>
                </a:solidFill>
              </a:rPr>
              <a:t>180,000</a:t>
            </a:r>
          </a:p>
          <a:p>
            <a:pPr algn="ctr"/>
            <a:r>
              <a:rPr sz="1400" b="0" i="0">
                <a:solidFill>
                  <a:srgbClr val="5B6275"/>
                </a:solidFill>
              </a:rPr>
              <a:t>joint values in the state</a:t>
            </a:r>
          </a:p>
        </p:txBody>
      </p:sp>
      <p:sp>
        <p:nvSpPr>
          <p:cNvPr id="11" name="Rounded Rectangle 10"/>
          <p:cNvSpPr/>
          <p:nvPr/>
        </p:nvSpPr>
        <p:spPr>
          <a:xfrm>
            <a:off x="8915399" y="2148840"/>
            <a:ext cx="2606040" cy="1920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600" b="1" i="0">
                <a:solidFill>
                  <a:srgbClr val="164194"/>
                </a:solidFill>
              </a:rPr>
              <a:t>≈ 1 hour</a:t>
            </a:r>
          </a:p>
          <a:p>
            <a:pPr algn="ctr"/>
            <a:r>
              <a:rPr sz="1400" b="0" i="0">
                <a:solidFill>
                  <a:srgbClr val="5B6275"/>
                </a:solidFill>
              </a:rPr>
              <a:t>to record, with resets</a:t>
            </a:r>
          </a:p>
        </p:txBody>
      </p:sp>
      <p:sp>
        <p:nvSpPr>
          <p:cNvPr id="12" name="Rounded Rectangle 11"/>
          <p:cNvSpPr/>
          <p:nvPr/>
        </p:nvSpPr>
        <p:spPr>
          <a:xfrm>
            <a:off x="548640" y="4389120"/>
            <a:ext cx="11064240" cy="1280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Compare: </a:t>
            </a:r>
            <a:r>
              <a:rPr sz="1700" b="0" i="0">
                <a:solidFill>
                  <a:srgbClr val="1F2433"/>
                </a:solidFill>
              </a:rPr>
              <a:t>ImageNet has over a million images, collected by scraping. Every one of our 60,000 images comes from a person physically performing the task.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Three ways to collect</a:t>
            </a:r>
          </a:p>
          <a:p>
            <a:pPr algn="l"/>
            <a:r>
              <a:rPr sz="1800" b="0" i="0">
                <a:solidFill>
                  <a:srgbClr val="DDE5F7"/>
                </a:solidFill>
              </a:rPr>
              <a:t>Teleoperation, kinesthetic teaching and domain-randomised simulation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ways to collect robot data</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3520440" cy="6858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Teleoperation</a:t>
            </a:r>
          </a:p>
        </p:txBody>
      </p:sp>
      <p:sp>
        <p:nvSpPr>
          <p:cNvPr id="8" name="Rounded Rectangle 7"/>
          <p:cNvSpPr/>
          <p:nvPr/>
        </p:nvSpPr>
        <p:spPr>
          <a:xfrm>
            <a:off x="548640" y="2286000"/>
            <a:ext cx="3520440" cy="33832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1" i="0">
                <a:solidFill>
                  <a:srgbClr val="164194"/>
                </a:solidFill>
              </a:rPr>
              <a:t>Control the robot through a separate device</a:t>
            </a:r>
          </a:p>
          <a:p>
            <a:pPr algn="l"/>
            <a:r>
              <a:rPr sz="1500" b="0" i="0">
                <a:solidFill>
                  <a:srgbClr val="1F2433"/>
                </a:solidFill>
              </a:rPr>
              <a:t>• keyboard, gamepad, SpaceMouse, VR, or our SO-101 leader arm</a:t>
            </a:r>
          </a:p>
          <a:p>
            <a:pPr algn="l"/>
            <a:r>
              <a:rPr sz="1500" b="0" i="0">
                <a:solidFill>
                  <a:srgbClr val="1F2433"/>
                </a:solidFill>
              </a:rPr>
              <a:t>• you never touch the robot that does the task</a:t>
            </a:r>
          </a:p>
          <a:p>
            <a:pPr algn="l"/>
            <a:r>
              <a:rPr sz="1500" b="0" i="0">
                <a:solidFill>
                  <a:srgbClr val="1F2433"/>
                </a:solidFill>
              </a:rPr>
              <a:t>• the leader arm needs no retargeting: its joints match the follower’s 1:1</a:t>
            </a:r>
          </a:p>
        </p:txBody>
      </p:sp>
      <p:sp>
        <p:nvSpPr>
          <p:cNvPr id="9" name="Rounded Rectangle 8"/>
          <p:cNvSpPr/>
          <p:nvPr/>
        </p:nvSpPr>
        <p:spPr>
          <a:xfrm>
            <a:off x="4297679" y="1508760"/>
            <a:ext cx="3520440" cy="68580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Kinesthetic teaching</a:t>
            </a:r>
          </a:p>
        </p:txBody>
      </p:sp>
      <p:sp>
        <p:nvSpPr>
          <p:cNvPr id="10" name="Rounded Rectangle 9"/>
          <p:cNvSpPr/>
          <p:nvPr/>
        </p:nvSpPr>
        <p:spPr>
          <a:xfrm>
            <a:off x="4297679" y="2286000"/>
            <a:ext cx="3520440" cy="33832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1" i="0">
                <a:solidFill>
                  <a:srgbClr val="0F6E6A"/>
                </a:solidFill>
              </a:rPr>
              <a:t>Physically guide the robot itself</a:t>
            </a:r>
          </a:p>
          <a:p>
            <a:pPr algn="l"/>
            <a:r>
              <a:rPr sz="1500" b="0" i="0">
                <a:solidFill>
                  <a:srgbClr val="1F2433"/>
                </a:solidFill>
              </a:rPr>
              <a:t>• motors off or in a compliant mode; you push the arm through the task</a:t>
            </a:r>
          </a:p>
          <a:p>
            <a:pPr algn="l"/>
            <a:r>
              <a:rPr sz="1500" b="0" i="0">
                <a:solidFill>
                  <a:srgbClr val="1F2433"/>
                </a:solidFill>
              </a:rPr>
              <a:t>• the robot records its own joint positions</a:t>
            </a:r>
          </a:p>
          <a:p>
            <a:pPr algn="l"/>
            <a:r>
              <a:rPr sz="1500" b="0" i="0">
                <a:solidFill>
                  <a:srgbClr val="1F2433"/>
                </a:solidFill>
              </a:rPr>
              <a:t>• e.g. Franka guiding mode, UR Freedrive, SO-101 follower with torque off</a:t>
            </a:r>
          </a:p>
        </p:txBody>
      </p:sp>
      <p:sp>
        <p:nvSpPr>
          <p:cNvPr id="11" name="Rounded Rectangle 10"/>
          <p:cNvSpPr/>
          <p:nvPr/>
        </p:nvSpPr>
        <p:spPr>
          <a:xfrm>
            <a:off x="8046719" y="1508760"/>
            <a:ext cx="3520440" cy="68580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Domain-randomised simulation</a:t>
            </a:r>
          </a:p>
        </p:txBody>
      </p:sp>
      <p:sp>
        <p:nvSpPr>
          <p:cNvPr id="12" name="Rounded Rectangle 11"/>
          <p:cNvSpPr/>
          <p:nvPr/>
        </p:nvSpPr>
        <p:spPr>
          <a:xfrm>
            <a:off x="8046719" y="2286000"/>
            <a:ext cx="3520440" cy="33832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1" i="0">
                <a:solidFill>
                  <a:srgbClr val="E30613"/>
                </a:solidFill>
              </a:rPr>
              <a:t>Generate data in a varied virtual world</a:t>
            </a:r>
          </a:p>
          <a:p>
            <a:pPr algn="l"/>
            <a:r>
              <a:rPr sz="1500" b="0" i="0">
                <a:solidFill>
                  <a:srgbClr val="1F2433"/>
                </a:solidFill>
              </a:rPr>
              <a:t>• physics, looks and sensor noise change every episode</a:t>
            </a:r>
          </a:p>
          <a:p>
            <a:pPr algn="l"/>
            <a:r>
              <a:rPr sz="1500" b="0" i="0">
                <a:solidFill>
                  <a:srgbClr val="1F2433"/>
                </a:solidFill>
              </a:rPr>
              <a:t>• cheap, scalable, labels for free</a:t>
            </a:r>
          </a:p>
        </p:txBody>
      </p:sp>
      <p:sp>
        <p:nvSpPr>
          <p:cNvPr id="13" name="Rectangle 12"/>
          <p:cNvSpPr/>
          <p:nvPr/>
        </p:nvSpPr>
        <p:spPr>
          <a:xfrm>
            <a:off x="548640" y="5760720"/>
            <a:ext cx="110642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200" b="0" i="1">
                <a:solidFill>
                  <a:srgbClr val="5B6275"/>
                </a:solidFill>
              </a:rPr>
              <a:t>The test: does your hand touch the robot that does the task? No → teleoperation. Yes → kinesthetic teaching. Leader–follower is teleoperation, as in LeRobot, ALOHA and GELLO.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Teleoperation: the device leaves a signature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graphicFrame>
        <p:nvGraphicFramePr>
          <p:cNvPr id="7" name="Chart 6"/>
          <p:cNvGraphicFramePr>
            <a:graphicFrameLocks noGrp="1"/>
          </p:cNvGraphicFramePr>
          <p:nvPr/>
        </p:nvGraphicFramePr>
        <p:xfrm>
          <a:off x="457200" y="1463040"/>
          <a:ext cx="6766560" cy="4206240"/>
        </p:xfrm>
        <a:graphic>
          <a:graphicData uri="http://schemas.openxmlformats.org/drawingml/2006/chart">
            <c:chart xmlns:c="http://schemas.openxmlformats.org/drawingml/2006/chart" r:id="rId2"/>
          </a:graphicData>
        </a:graphic>
      </p:graphicFrame>
      <p:sp>
        <p:nvSpPr>
          <p:cNvPr id="8" name="Rounded Rectangle 7"/>
          <p:cNvSpPr/>
          <p:nvPr/>
        </p:nvSpPr>
        <p:spPr>
          <a:xfrm>
            <a:off x="7589520" y="1554480"/>
            <a:ext cx="4023360" cy="4114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700" b="1" i="0">
                <a:solidFill>
                  <a:srgbClr val="164194"/>
                </a:solidFill>
              </a:rPr>
              <a:t>What a device does to the data</a:t>
            </a:r>
          </a:p>
          <a:p>
            <a:pPr algn="l"/>
            <a:r>
              <a:rPr sz="1500" b="0" i="0">
                <a:solidFill>
                  <a:srgbClr val="1F2433"/>
                </a:solidFill>
              </a:rPr>
              <a:t>• Keyboard: fixed-size steps, pauses between key presses</a:t>
            </a:r>
          </a:p>
          <a:p>
            <a:pPr algn="l"/>
            <a:r>
              <a:rPr sz="1500" b="0" i="0">
                <a:solidFill>
                  <a:srgbClr val="1F2433"/>
                </a:solidFill>
              </a:rPr>
              <a:t>• Gamepad / SpaceMouse: smoother, but still retargeted</a:t>
            </a:r>
          </a:p>
          <a:p>
            <a:pPr algn="l"/>
            <a:r>
              <a:rPr sz="1500" b="0" i="0">
                <a:solidFill>
                  <a:srgbClr val="1F2433"/>
                </a:solidFill>
              </a:rPr>
              <a:t>• VR hand tracking: natural, needs a headset and fast network</a:t>
            </a:r>
          </a:p>
          <a:p>
            <a:pPr algn="l"/>
            <a:r>
              <a:rPr sz="1500" b="0" i="0">
                <a:solidFill>
                  <a:srgbClr val="1F2433"/>
                </a:solidFill>
              </a:rPr>
              <a:t>• SO-101 leader arm: smooth, joint-matched, no retargeting</a:t>
            </a:r>
          </a:p>
          <a:p>
            <a:pPr algn="l"/>
            <a:r>
              <a:rPr sz="1500" b="1" i="0">
                <a:solidFill>
                  <a:srgbClr val="E30613"/>
                </a:solidFill>
              </a:rPr>
              <a:t>The policy copies whatever style the data has.</a:t>
            </a:r>
          </a:p>
        </p:txBody>
      </p:sp>
      <p:sp>
        <p:nvSpPr>
          <p:cNvPr id="9" name="Rectangle 8"/>
          <p:cNvSpPr/>
          <p:nvPr/>
        </p:nvSpPr>
        <p:spPr>
          <a:xfrm>
            <a:off x="548640" y="5760720"/>
            <a:ext cx="67665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100" b="0" i="1">
                <a:solidFill>
                  <a:srgbClr val="5B6275"/>
                </a:solidFill>
              </a:rPr>
              <a:t>Illustrative traces of the same reach: keyboard teleop vs leader-arm teleop.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Kinesthetic teaching: guiding the robot itself</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4937760" cy="420624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PHOTO / VIDEO</a:t>
            </a:r>
          </a:p>
          <a:p>
            <a:pPr algn="ctr"/>
            <a:r>
              <a:rPr sz="1300" b="0" i="0">
                <a:solidFill>
                  <a:srgbClr val="5B6275"/>
                </a:solidFill>
              </a:rPr>
              <a:t>Photo: a hand guiding the SO-101 follower with its torque off</a:t>
            </a:r>
          </a:p>
        </p:txBody>
      </p:sp>
      <p:sp>
        <p:nvSpPr>
          <p:cNvPr id="8" name="Rounded Rectangle 7"/>
          <p:cNvSpPr/>
          <p:nvPr/>
        </p:nvSpPr>
        <p:spPr>
          <a:xfrm>
            <a:off x="5852160" y="1508760"/>
            <a:ext cx="5760720" cy="11430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0F6E6A"/>
                </a:solidFill>
              </a:rPr>
              <a:t>Hand-guiding (lead-through)</a:t>
            </a:r>
          </a:p>
          <a:p>
            <a:pPr algn="l"/>
            <a:r>
              <a:rPr sz="1500" b="0" i="0">
                <a:solidFill>
                  <a:srgbClr val="1F2433"/>
                </a:solidFill>
              </a:rPr>
              <a:t>torque off or compliant; push the robot itself and it records its joints</a:t>
            </a:r>
          </a:p>
        </p:txBody>
      </p:sp>
      <p:sp>
        <p:nvSpPr>
          <p:cNvPr id="9" name="Rounded Rectangle 8"/>
          <p:cNvSpPr/>
          <p:nvPr/>
        </p:nvSpPr>
        <p:spPr>
          <a:xfrm>
            <a:off x="5852160" y="2788920"/>
            <a:ext cx="5760720" cy="11430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0F6E6A"/>
                </a:solidFill>
              </a:rPr>
              <a:t>Record, then replay</a:t>
            </a:r>
          </a:p>
          <a:p>
            <a:pPr algn="l"/>
            <a:r>
              <a:rPr sz="1500" b="0" i="0">
                <a:solidFill>
                  <a:srgbClr val="1F2433"/>
                </a:solidFill>
              </a:rPr>
              <a:t>replay the saved path with nobody in view to capture clean camera images</a:t>
            </a:r>
          </a:p>
        </p:txBody>
      </p:sp>
      <p:sp>
        <p:nvSpPr>
          <p:cNvPr id="10" name="Rounded Rectangle 9"/>
          <p:cNvSpPr/>
          <p:nvPr/>
        </p:nvSpPr>
        <p:spPr>
          <a:xfrm>
            <a:off x="5852160" y="4069080"/>
            <a:ext cx="2788920" cy="16459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1" i="0">
                <a:solidFill>
                  <a:srgbClr val="0F6E6A"/>
                </a:solidFill>
              </a:rPr>
              <a:t>Strengths</a:t>
            </a:r>
          </a:p>
          <a:p>
            <a:pPr algn="l"/>
            <a:r>
              <a:rPr sz="1400" b="0" i="0">
                <a:solidFill>
                  <a:srgbClr val="1F2433"/>
                </a:solidFill>
              </a:rPr>
              <a:t>direct feel of contact; no retargeting; no second device</a:t>
            </a:r>
          </a:p>
        </p:txBody>
      </p:sp>
      <p:sp>
        <p:nvSpPr>
          <p:cNvPr id="11" name="Rounded Rectangle 10"/>
          <p:cNvSpPr/>
          <p:nvPr/>
        </p:nvSpPr>
        <p:spPr>
          <a:xfrm>
            <a:off x="8823960" y="4069080"/>
            <a:ext cx="2788920" cy="16459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1" i="0">
                <a:solidFill>
                  <a:srgbClr val="E30613"/>
                </a:solidFill>
              </a:rPr>
              <a:t>Limits</a:t>
            </a:r>
          </a:p>
          <a:p>
            <a:pPr algn="l"/>
            <a:r>
              <a:rPr sz="1400" b="0" i="0">
                <a:solidFill>
                  <a:srgbClr val="1F2433"/>
                </a:solidFill>
              </a:rPr>
              <a:t>your hand is in the camera images; tiring; you hold the arm’s full weight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Domain-randomised simulation: many worlds, not one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120640" cy="420624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PHOTO / VIDEO</a:t>
            </a:r>
          </a:p>
          <a:p>
            <a:pPr algn="ctr"/>
            <a:r>
              <a:rPr sz="1300" b="0" i="0">
                <a:solidFill>
                  <a:srgbClr val="5B6275"/>
                </a:solidFill>
              </a:rPr>
              <a:t>Contact sheet: 16 randomised scenes from Isaac Lab</a:t>
            </a:r>
          </a:p>
        </p:txBody>
      </p:sp>
      <p:sp>
        <p:nvSpPr>
          <p:cNvPr id="8" name="Rounded Rectangle 7"/>
          <p:cNvSpPr/>
          <p:nvPr/>
        </p:nvSpPr>
        <p:spPr>
          <a:xfrm>
            <a:off x="6035040" y="1508760"/>
            <a:ext cx="5577840" cy="804672"/>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E30613"/>
                </a:solidFill>
              </a:rPr>
              <a:t>Physics: </a:t>
            </a:r>
            <a:r>
              <a:rPr sz="1500" b="0" i="0">
                <a:solidFill>
                  <a:srgbClr val="1F2433"/>
                </a:solidFill>
              </a:rPr>
              <a:t>cube mass, table friction, motor stiffness</a:t>
            </a:r>
          </a:p>
        </p:txBody>
      </p:sp>
      <p:sp>
        <p:nvSpPr>
          <p:cNvPr id="9" name="Rounded Rectangle 8"/>
          <p:cNvSpPr/>
          <p:nvPr/>
        </p:nvSpPr>
        <p:spPr>
          <a:xfrm>
            <a:off x="6035040" y="2423160"/>
            <a:ext cx="5577840" cy="804672"/>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E30613"/>
                </a:solidFill>
              </a:rPr>
              <a:t>Appearance: </a:t>
            </a:r>
            <a:r>
              <a:rPr sz="1500" b="0" i="0">
                <a:solidFill>
                  <a:srgbClr val="1F2433"/>
                </a:solidFill>
              </a:rPr>
              <a:t>colours, textures, lighting</a:t>
            </a:r>
          </a:p>
        </p:txBody>
      </p:sp>
      <p:sp>
        <p:nvSpPr>
          <p:cNvPr id="10" name="Rounded Rectangle 9"/>
          <p:cNvSpPr/>
          <p:nvPr/>
        </p:nvSpPr>
        <p:spPr>
          <a:xfrm>
            <a:off x="6035040" y="3337560"/>
            <a:ext cx="5577840" cy="804672"/>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E30613"/>
                </a:solidFill>
              </a:rPr>
              <a:t>Sensing: </a:t>
            </a:r>
            <a:r>
              <a:rPr sz="1500" b="0" i="0">
                <a:solidFill>
                  <a:srgbClr val="1F2433"/>
                </a:solidFill>
              </a:rPr>
              <a:t>noise on joint readings, small offsets</a:t>
            </a:r>
          </a:p>
        </p:txBody>
      </p:sp>
      <p:sp>
        <p:nvSpPr>
          <p:cNvPr id="11" name="Rounded Rectangle 10"/>
          <p:cNvSpPr/>
          <p:nvPr/>
        </p:nvSpPr>
        <p:spPr>
          <a:xfrm>
            <a:off x="6035040" y="4251960"/>
            <a:ext cx="5577840" cy="804672"/>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E30613"/>
                </a:solidFill>
              </a:rPr>
              <a:t>Start state: </a:t>
            </a:r>
            <a:r>
              <a:rPr sz="1500" b="0" i="0">
                <a:solidFill>
                  <a:srgbClr val="1F2433"/>
                </a:solidFill>
              </a:rPr>
              <a:t>where the cube is placed each episode</a:t>
            </a:r>
          </a:p>
        </p:txBody>
      </p:sp>
      <p:sp>
        <p:nvSpPr>
          <p:cNvPr id="12" name="Rounded Rectangle 11"/>
          <p:cNvSpPr/>
          <p:nvPr/>
        </p:nvSpPr>
        <p:spPr>
          <a:xfrm>
            <a:off x="6035040" y="5212080"/>
            <a:ext cx="5577840" cy="548640"/>
          </a:xfrm>
          <a:prstGeom prst="roundRect">
            <a:avLst>
              <a:gd name="adj" fmla="val 12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0" i="1">
                <a:solidFill>
                  <a:srgbClr val="5B6275"/>
                </a:solidFill>
              </a:rPr>
              <a:t>Idea from Tobin et al. (2017): make reality look like one more variation.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Comparing the three methods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3337560" y="1508760"/>
            <a:ext cx="2651760" cy="5943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Teleop (incl. leader arm)</a:t>
            </a:r>
          </a:p>
        </p:txBody>
      </p:sp>
      <p:sp>
        <p:nvSpPr>
          <p:cNvPr id="8" name="Rounded Rectangle 7"/>
          <p:cNvSpPr/>
          <p:nvPr/>
        </p:nvSpPr>
        <p:spPr>
          <a:xfrm>
            <a:off x="6080759" y="1508760"/>
            <a:ext cx="2651760" cy="59436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Kinesthetic (hand-guiding)</a:t>
            </a:r>
          </a:p>
        </p:txBody>
      </p:sp>
      <p:sp>
        <p:nvSpPr>
          <p:cNvPr id="9" name="Rounded Rectangle 8"/>
          <p:cNvSpPr/>
          <p:nvPr/>
        </p:nvSpPr>
        <p:spPr>
          <a:xfrm>
            <a:off x="8823960" y="1508760"/>
            <a:ext cx="2743200" cy="59436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Randomised simulation</a:t>
            </a:r>
          </a:p>
        </p:txBody>
      </p:sp>
      <p:sp>
        <p:nvSpPr>
          <p:cNvPr id="10" name="Rounded Rectangle 9"/>
          <p:cNvSpPr/>
          <p:nvPr/>
        </p:nvSpPr>
        <p:spPr>
          <a:xfrm>
            <a:off x="594360" y="2194560"/>
            <a:ext cx="2651760" cy="777240"/>
          </a:xfrm>
          <a:prstGeom prst="roundRect">
            <a:avLst>
              <a:gd name="adj" fmla="val 12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64194"/>
                </a:solidFill>
              </a:rPr>
              <a:t>Cost per usable episode</a:t>
            </a:r>
          </a:p>
        </p:txBody>
      </p:sp>
      <p:sp>
        <p:nvSpPr>
          <p:cNvPr id="11" name="Rounded Rectangle 10"/>
          <p:cNvSpPr/>
          <p:nvPr/>
        </p:nvSpPr>
        <p:spPr>
          <a:xfrm>
            <a:off x="3337560" y="2194560"/>
            <a:ext cx="26517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medium (human time)</a:t>
            </a:r>
          </a:p>
        </p:txBody>
      </p:sp>
      <p:sp>
        <p:nvSpPr>
          <p:cNvPr id="12" name="Rounded Rectangle 11"/>
          <p:cNvSpPr/>
          <p:nvPr/>
        </p:nvSpPr>
        <p:spPr>
          <a:xfrm>
            <a:off x="6080759" y="2194560"/>
            <a:ext cx="26517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medium–high (human time)</a:t>
            </a:r>
          </a:p>
        </p:txBody>
      </p:sp>
      <p:sp>
        <p:nvSpPr>
          <p:cNvPr id="13" name="Rounded Rectangle 12"/>
          <p:cNvSpPr/>
          <p:nvPr/>
        </p:nvSpPr>
        <p:spPr>
          <a:xfrm>
            <a:off x="8823960" y="2194560"/>
            <a:ext cx="274320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very low once set up</a:t>
            </a:r>
          </a:p>
        </p:txBody>
      </p:sp>
      <p:sp>
        <p:nvSpPr>
          <p:cNvPr id="14" name="Rounded Rectangle 13"/>
          <p:cNvSpPr/>
          <p:nvPr/>
        </p:nvSpPr>
        <p:spPr>
          <a:xfrm>
            <a:off x="594360" y="3063239"/>
            <a:ext cx="2651760" cy="777240"/>
          </a:xfrm>
          <a:prstGeom prst="roundRect">
            <a:avLst>
              <a:gd name="adj" fmla="val 12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64194"/>
                </a:solidFill>
              </a:rPr>
              <a:t>Realism</a:t>
            </a:r>
          </a:p>
        </p:txBody>
      </p:sp>
      <p:sp>
        <p:nvSpPr>
          <p:cNvPr id="15" name="Rounded Rectangle 14"/>
          <p:cNvSpPr/>
          <p:nvPr/>
        </p:nvSpPr>
        <p:spPr>
          <a:xfrm>
            <a:off x="3337560" y="3063239"/>
            <a:ext cx="26517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real robot; style set by device</a:t>
            </a:r>
          </a:p>
        </p:txBody>
      </p:sp>
      <p:sp>
        <p:nvSpPr>
          <p:cNvPr id="16" name="Rounded Rectangle 15"/>
          <p:cNvSpPr/>
          <p:nvPr/>
        </p:nvSpPr>
        <p:spPr>
          <a:xfrm>
            <a:off x="6080759" y="3063239"/>
            <a:ext cx="26517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real robot; hand in camera view</a:t>
            </a:r>
          </a:p>
        </p:txBody>
      </p:sp>
      <p:sp>
        <p:nvSpPr>
          <p:cNvPr id="17" name="Rounded Rectangle 16"/>
          <p:cNvSpPr/>
          <p:nvPr/>
        </p:nvSpPr>
        <p:spPr>
          <a:xfrm>
            <a:off x="8823960" y="3063239"/>
            <a:ext cx="274320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simulated: reality gap</a:t>
            </a:r>
          </a:p>
        </p:txBody>
      </p:sp>
      <p:sp>
        <p:nvSpPr>
          <p:cNvPr id="18" name="Rounded Rectangle 17"/>
          <p:cNvSpPr/>
          <p:nvPr/>
        </p:nvSpPr>
        <p:spPr>
          <a:xfrm>
            <a:off x="594360" y="3931920"/>
            <a:ext cx="2651760" cy="777240"/>
          </a:xfrm>
          <a:prstGeom prst="roundRect">
            <a:avLst>
              <a:gd name="adj" fmla="val 12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64194"/>
                </a:solidFill>
              </a:rPr>
              <a:t>Scale</a:t>
            </a:r>
          </a:p>
        </p:txBody>
      </p:sp>
      <p:sp>
        <p:nvSpPr>
          <p:cNvPr id="19" name="Rounded Rectangle 18"/>
          <p:cNvSpPr/>
          <p:nvPr/>
        </p:nvSpPr>
        <p:spPr>
          <a:xfrm>
            <a:off x="3337560" y="3931920"/>
            <a:ext cx="26517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limited by people</a:t>
            </a:r>
          </a:p>
        </p:txBody>
      </p:sp>
      <p:sp>
        <p:nvSpPr>
          <p:cNvPr id="20" name="Rounded Rectangle 19"/>
          <p:cNvSpPr/>
          <p:nvPr/>
        </p:nvSpPr>
        <p:spPr>
          <a:xfrm>
            <a:off x="6080759" y="3931920"/>
            <a:ext cx="26517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limited by people</a:t>
            </a:r>
          </a:p>
        </p:txBody>
      </p:sp>
      <p:sp>
        <p:nvSpPr>
          <p:cNvPr id="21" name="Rounded Rectangle 20"/>
          <p:cNvSpPr/>
          <p:nvPr/>
        </p:nvSpPr>
        <p:spPr>
          <a:xfrm>
            <a:off x="8823960" y="3931920"/>
            <a:ext cx="274320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thousands in parallel</a:t>
            </a:r>
          </a:p>
        </p:txBody>
      </p:sp>
      <p:sp>
        <p:nvSpPr>
          <p:cNvPr id="22" name="Rounded Rectangle 21"/>
          <p:cNvSpPr/>
          <p:nvPr/>
        </p:nvSpPr>
        <p:spPr>
          <a:xfrm>
            <a:off x="594360" y="4800600"/>
            <a:ext cx="2651760" cy="777240"/>
          </a:xfrm>
          <a:prstGeom prst="roundRect">
            <a:avLst>
              <a:gd name="adj" fmla="val 12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64194"/>
                </a:solidFill>
              </a:rPr>
              <a:t>Who uses it in this course</a:t>
            </a:r>
          </a:p>
        </p:txBody>
      </p:sp>
      <p:sp>
        <p:nvSpPr>
          <p:cNvPr id="23" name="Rounded Rectangle 22"/>
          <p:cNvSpPr/>
          <p:nvPr/>
        </p:nvSpPr>
        <p:spPr>
          <a:xfrm>
            <a:off x="3337560" y="4800600"/>
            <a:ext cx="26517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Lab 4 (keyboard), L9–L14 (leader)</a:t>
            </a:r>
          </a:p>
        </p:txBody>
      </p:sp>
      <p:sp>
        <p:nvSpPr>
          <p:cNvPr id="24" name="Rounded Rectangle 23"/>
          <p:cNvSpPr/>
          <p:nvPr/>
        </p:nvSpPr>
        <p:spPr>
          <a:xfrm>
            <a:off x="6080759" y="4800600"/>
            <a:ext cx="26517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awareness; record-then-replay</a:t>
            </a:r>
          </a:p>
        </p:txBody>
      </p:sp>
      <p:sp>
        <p:nvSpPr>
          <p:cNvPr id="25" name="Rounded Rectangle 24"/>
          <p:cNvSpPr/>
          <p:nvPr/>
        </p:nvSpPr>
        <p:spPr>
          <a:xfrm>
            <a:off x="8823960" y="4800600"/>
            <a:ext cx="274320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RL training (L5–L8)</a:t>
            </a:r>
          </a:p>
        </p:txBody>
      </p:sp>
      <p:sp>
        <p:nvSpPr>
          <p:cNvPr id="26" name="Rectangle 25"/>
          <p:cNvSpPr/>
          <p:nvPr/>
        </p:nvSpPr>
        <p:spPr>
          <a:xfrm>
            <a:off x="548640" y="5715000"/>
            <a:ext cx="110642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1" i="0">
                <a:solidFill>
                  <a:srgbClr val="164194"/>
                </a:solidFill>
              </a:rPr>
              <a:t>No method wins on everything. Real projects mix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Scaling up (for awareness)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54480"/>
            <a:ext cx="5394960" cy="2743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2000" b="1" i="0">
                <a:solidFill>
                  <a:srgbClr val="164194"/>
                </a:solidFill>
              </a:rPr>
              <a:t>Isaac Lab Mimic</a:t>
            </a:r>
          </a:p>
          <a:p>
            <a:pPr algn="l"/>
            <a:r>
              <a:rPr sz="1600" b="0" i="0">
                <a:solidFill>
                  <a:srgbClr val="1F2433"/>
                </a:solidFill>
              </a:rPr>
              <a:t>Record about 10 human demos, split them into sub-tasks, and let the simulator re-stitch them in new scenes.</a:t>
            </a:r>
          </a:p>
          <a:p>
            <a:pPr algn="l"/>
            <a:r>
              <a:rPr sz="2200" b="1" i="0">
                <a:solidFill>
                  <a:srgbClr val="164194"/>
                </a:solidFill>
              </a:rPr>
              <a:t>10 demos → 1,000 demos</a:t>
            </a:r>
          </a:p>
        </p:txBody>
      </p:sp>
      <p:sp>
        <p:nvSpPr>
          <p:cNvPr id="8" name="Rounded Rectangle 7"/>
          <p:cNvSpPr/>
          <p:nvPr/>
        </p:nvSpPr>
        <p:spPr>
          <a:xfrm>
            <a:off x="6217920" y="1554480"/>
            <a:ext cx="5394960" cy="2743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2000" b="1" i="0">
                <a:solidFill>
                  <a:srgbClr val="0F6E6A"/>
                </a:solidFill>
              </a:rPr>
              <a:t>LeIsaac</a:t>
            </a:r>
          </a:p>
          <a:p>
            <a:pPr algn="l"/>
            <a:r>
              <a:rPr sz="1600" b="0" i="0">
                <a:solidFill>
                  <a:srgbClr val="1F2433"/>
                </a:solidFill>
              </a:rPr>
              <a:t>The real SO-101 leader arm drives a simulated SO-101, and the demos are recorded straight into LeRobot format.</a:t>
            </a:r>
          </a:p>
          <a:p>
            <a:pPr algn="l"/>
            <a:r>
              <a:rPr sz="2200" b="1" i="0">
                <a:solidFill>
                  <a:srgbClr val="0F6E6A"/>
                </a:solidFill>
              </a:rPr>
              <a:t>leader-arm teleop + simulation</a:t>
            </a:r>
          </a:p>
        </p:txBody>
      </p:sp>
      <p:sp>
        <p:nvSpPr>
          <p:cNvPr id="9" name="Rectangle 8"/>
          <p:cNvSpPr/>
          <p:nvPr/>
        </p:nvSpPr>
        <p:spPr>
          <a:xfrm>
            <a:off x="548640" y="4572000"/>
            <a:ext cx="1106424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0" i="0">
                <a:solidFill>
                  <a:srgbClr val="5B6275"/>
                </a:solidFill>
              </a:rPr>
              <a:t>Mimic is mentioned only (Linux, GPU-heavy, not needed for our task). LeIsaac appears in Labs 4 and 10 where the lab machines support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Quality, coverage and randomisation</a:t>
            </a:r>
          </a:p>
          <a:p>
            <a:pPr algn="l"/>
            <a:r>
              <a:rPr sz="1800" b="0" i="0">
                <a:solidFill>
                  <a:srgbClr val="DDE5F7"/>
                </a:solidFill>
              </a:rPr>
              <a:t>Deciding what to keep, and how wide to vary the world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Good demo, bad demo</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5486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Keep</a:t>
            </a:r>
          </a:p>
        </p:txBody>
      </p:sp>
      <p:sp>
        <p:nvSpPr>
          <p:cNvPr id="8" name="Rounded Rectangle 7"/>
          <p:cNvSpPr/>
          <p:nvPr/>
        </p:nvSpPr>
        <p:spPr>
          <a:xfrm>
            <a:off x="548640" y="2148840"/>
            <a:ext cx="5394960" cy="219456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0" i="0">
                <a:solidFill>
                  <a:srgbClr val="1F2433"/>
                </a:solidFill>
              </a:rPr>
              <a:t>• smooth and direct</a:t>
            </a:r>
          </a:p>
          <a:p>
            <a:pPr algn="l"/>
            <a:r>
              <a:rPr sz="1600" b="0" i="0">
                <a:solidFill>
                  <a:srgbClr val="1F2433"/>
                </a:solidFill>
              </a:rPr>
              <a:t>• one consistent grasp strategy</a:t>
            </a:r>
          </a:p>
          <a:p>
            <a:pPr algn="l"/>
            <a:r>
              <a:rPr sz="1600" b="0" i="0">
                <a:solidFill>
                  <a:srgbClr val="1F2433"/>
                </a:solidFill>
              </a:rPr>
              <a:t>• no pauses or hesitation</a:t>
            </a:r>
          </a:p>
          <a:p>
            <a:pPr algn="l"/>
            <a:r>
              <a:rPr sz="1600" b="0" i="0">
                <a:solidFill>
                  <a:srgbClr val="1F2433"/>
                </a:solidFill>
              </a:rPr>
              <a:t>• ends cleanly once the cube is in the bin</a:t>
            </a:r>
          </a:p>
        </p:txBody>
      </p:sp>
      <p:sp>
        <p:nvSpPr>
          <p:cNvPr id="9" name="Rounded Rectangle 8"/>
          <p:cNvSpPr/>
          <p:nvPr/>
        </p:nvSpPr>
        <p:spPr>
          <a:xfrm>
            <a:off x="6217920" y="1508760"/>
            <a:ext cx="5394960" cy="54864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Discard</a:t>
            </a:r>
          </a:p>
        </p:txBody>
      </p:sp>
      <p:sp>
        <p:nvSpPr>
          <p:cNvPr id="10" name="Rounded Rectangle 9"/>
          <p:cNvSpPr/>
          <p:nvPr/>
        </p:nvSpPr>
        <p:spPr>
          <a:xfrm>
            <a:off x="6217920" y="2148840"/>
            <a:ext cx="5394960" cy="219456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0" i="0">
                <a:solidFill>
                  <a:srgbClr val="1F2433"/>
                </a:solidFill>
              </a:rPr>
              <a:t>• pauses or long hesitation</a:t>
            </a:r>
          </a:p>
          <a:p>
            <a:pPr algn="l"/>
            <a:r>
              <a:rPr sz="1600" b="0" i="0">
                <a:solidFill>
                  <a:srgbClr val="1F2433"/>
                </a:solidFill>
              </a:rPr>
              <a:t>• regrasping or a dropped cube</a:t>
            </a:r>
          </a:p>
          <a:p>
            <a:pPr algn="l"/>
            <a:r>
              <a:rPr sz="1600" b="0" i="0">
                <a:solidFill>
                  <a:srgbClr val="1F2433"/>
                </a:solidFill>
              </a:rPr>
              <a:t>• a different strategy from the rest</a:t>
            </a:r>
          </a:p>
          <a:p>
            <a:pPr algn="l"/>
            <a:r>
              <a:rPr sz="1600" b="0" i="0">
                <a:solidFill>
                  <a:srgbClr val="1F2433"/>
                </a:solidFill>
              </a:rPr>
              <a:t>• cut off before the task finished</a:t>
            </a:r>
          </a:p>
        </p:txBody>
      </p:sp>
      <p:sp>
        <p:nvSpPr>
          <p:cNvPr id="11" name="Rounded Rectangle 10"/>
          <p:cNvSpPr/>
          <p:nvPr/>
        </p:nvSpPr>
        <p:spPr>
          <a:xfrm>
            <a:off x="548640" y="4572000"/>
            <a:ext cx="11064240" cy="11430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The policy copies everything, </a:t>
            </a:r>
            <a:r>
              <a:rPr sz="1700" b="0" i="0">
                <a:solidFill>
                  <a:srgbClr val="1F2433"/>
                </a:solidFill>
              </a:rPr>
              <a:t>including the pauses and the regrasps. A bad demo is not neutral: it teaches the wrong behaviour.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Coverage: spread the demos over where the policy will work</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54480"/>
            <a:ext cx="5669280" cy="4114800"/>
          </a:xfrm>
          <a:prstGeom prst="roundRect">
            <a:avLst>
              <a:gd name="adj" fmla="val 12000"/>
            </a:avLst>
          </a:prstGeom>
          <a:solidFill>
            <a:srgbClr val="EEF1F9"/>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0" i="0">
                <a:solidFill>
                  <a:srgbClr val="1F2433"/>
                </a:solidFill>
              </a:rPr>
              <a:t/>
            </a:r>
          </a:p>
        </p:txBody>
      </p:sp>
      <p:sp>
        <p:nvSpPr>
          <p:cNvPr id="8" name="Rounded Rectangle 7"/>
          <p:cNvSpPr/>
          <p:nvPr/>
        </p:nvSpPr>
        <p:spPr>
          <a:xfrm>
            <a:off x="2834640" y="1737360"/>
            <a:ext cx="1097280" cy="640080"/>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bin</a:t>
            </a:r>
          </a:p>
        </p:txBody>
      </p:sp>
      <p:sp>
        <p:nvSpPr>
          <p:cNvPr id="9" name="Rounded Rectangle 8"/>
          <p:cNvSpPr/>
          <p:nvPr/>
        </p:nvSpPr>
        <p:spPr>
          <a:xfrm>
            <a:off x="2880360" y="4892040"/>
            <a:ext cx="1005840" cy="640080"/>
          </a:xfrm>
          <a:prstGeom prst="roundRect">
            <a:avLst>
              <a:gd name="adj" fmla="val 12000"/>
            </a:avLst>
          </a:prstGeom>
          <a:solidFill>
            <a:srgbClr val="5B62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FFFFFF"/>
                </a:solidFill>
              </a:rPr>
              <a:t>robot base</a:t>
            </a:r>
          </a:p>
        </p:txBody>
      </p:sp>
      <p:sp>
        <p:nvSpPr>
          <p:cNvPr id="10" name="Oval 9"/>
          <p:cNvSpPr/>
          <p:nvPr/>
        </p:nvSpPr>
        <p:spPr>
          <a:xfrm>
            <a:off x="1143000" y="2697479"/>
            <a:ext cx="640080" cy="64008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1</a:t>
            </a:r>
          </a:p>
        </p:txBody>
      </p:sp>
      <p:sp>
        <p:nvSpPr>
          <p:cNvPr id="11" name="Rectangle 10"/>
          <p:cNvSpPr/>
          <p:nvPr/>
        </p:nvSpPr>
        <p:spPr>
          <a:xfrm>
            <a:off x="914400" y="3364991"/>
            <a:ext cx="109728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300" b="1" i="0">
                <a:solidFill>
                  <a:srgbClr val="164194"/>
                </a:solidFill>
              </a:rPr>
              <a:t>× 10</a:t>
            </a:r>
          </a:p>
        </p:txBody>
      </p:sp>
      <p:sp>
        <p:nvSpPr>
          <p:cNvPr id="12" name="Oval 11"/>
          <p:cNvSpPr/>
          <p:nvPr/>
        </p:nvSpPr>
        <p:spPr>
          <a:xfrm>
            <a:off x="3063240" y="2423160"/>
            <a:ext cx="640080" cy="64008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2</a:t>
            </a:r>
          </a:p>
        </p:txBody>
      </p:sp>
      <p:sp>
        <p:nvSpPr>
          <p:cNvPr id="13" name="Rectangle 12"/>
          <p:cNvSpPr/>
          <p:nvPr/>
        </p:nvSpPr>
        <p:spPr>
          <a:xfrm>
            <a:off x="2834640" y="3090672"/>
            <a:ext cx="109728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300" b="1" i="0">
                <a:solidFill>
                  <a:srgbClr val="164194"/>
                </a:solidFill>
              </a:rPr>
              <a:t>× 10</a:t>
            </a:r>
          </a:p>
        </p:txBody>
      </p:sp>
      <p:sp>
        <p:nvSpPr>
          <p:cNvPr id="14" name="Oval 13"/>
          <p:cNvSpPr/>
          <p:nvPr/>
        </p:nvSpPr>
        <p:spPr>
          <a:xfrm>
            <a:off x="4983480" y="2697479"/>
            <a:ext cx="640080" cy="64008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3</a:t>
            </a:r>
          </a:p>
        </p:txBody>
      </p:sp>
      <p:sp>
        <p:nvSpPr>
          <p:cNvPr id="15" name="Rectangle 14"/>
          <p:cNvSpPr/>
          <p:nvPr/>
        </p:nvSpPr>
        <p:spPr>
          <a:xfrm>
            <a:off x="4754880" y="3364991"/>
            <a:ext cx="109728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300" b="1" i="0">
                <a:solidFill>
                  <a:srgbClr val="164194"/>
                </a:solidFill>
              </a:rPr>
              <a:t>× 10</a:t>
            </a:r>
          </a:p>
        </p:txBody>
      </p:sp>
      <p:sp>
        <p:nvSpPr>
          <p:cNvPr id="16" name="Oval 15"/>
          <p:cNvSpPr/>
          <p:nvPr/>
        </p:nvSpPr>
        <p:spPr>
          <a:xfrm>
            <a:off x="1691640" y="3794760"/>
            <a:ext cx="640080" cy="64008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4</a:t>
            </a:r>
          </a:p>
        </p:txBody>
      </p:sp>
      <p:sp>
        <p:nvSpPr>
          <p:cNvPr id="17" name="Rectangle 16"/>
          <p:cNvSpPr/>
          <p:nvPr/>
        </p:nvSpPr>
        <p:spPr>
          <a:xfrm>
            <a:off x="1463040" y="4462272"/>
            <a:ext cx="109728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300" b="1" i="0">
                <a:solidFill>
                  <a:srgbClr val="164194"/>
                </a:solidFill>
              </a:rPr>
              <a:t>× 10</a:t>
            </a:r>
          </a:p>
        </p:txBody>
      </p:sp>
      <p:sp>
        <p:nvSpPr>
          <p:cNvPr id="18" name="Oval 17"/>
          <p:cNvSpPr/>
          <p:nvPr/>
        </p:nvSpPr>
        <p:spPr>
          <a:xfrm>
            <a:off x="4434840" y="3794760"/>
            <a:ext cx="640080" cy="64008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5</a:t>
            </a:r>
          </a:p>
        </p:txBody>
      </p:sp>
      <p:sp>
        <p:nvSpPr>
          <p:cNvPr id="19" name="Rectangle 18"/>
          <p:cNvSpPr/>
          <p:nvPr/>
        </p:nvSpPr>
        <p:spPr>
          <a:xfrm>
            <a:off x="4206240" y="4462272"/>
            <a:ext cx="109728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300" b="1" i="0">
                <a:solidFill>
                  <a:srgbClr val="164194"/>
                </a:solidFill>
              </a:rPr>
              <a:t>× 10</a:t>
            </a:r>
          </a:p>
        </p:txBody>
      </p:sp>
      <p:sp>
        <p:nvSpPr>
          <p:cNvPr id="20" name="Rectangle 19"/>
          <p:cNvSpPr/>
          <p:nvPr/>
        </p:nvSpPr>
        <p:spPr>
          <a:xfrm>
            <a:off x="548640" y="5715000"/>
            <a:ext cx="56692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0" i="1">
                <a:solidFill>
                  <a:srgbClr val="5B6275"/>
                </a:solidFill>
              </a:rPr>
              <a:t>Grid mat (taped down, never moved)</a:t>
            </a:r>
          </a:p>
        </p:txBody>
      </p:sp>
      <p:sp>
        <p:nvSpPr>
          <p:cNvPr id="21" name="Rounded Rectangle 20"/>
          <p:cNvSpPr/>
          <p:nvPr/>
        </p:nvSpPr>
        <p:spPr>
          <a:xfrm>
            <a:off x="6583680" y="1554480"/>
            <a:ext cx="5029200" cy="1371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200" b="1" i="0">
                <a:solidFill>
                  <a:srgbClr val="164194"/>
                </a:solidFill>
              </a:rPr>
              <a:t>5 positions × 10 episodes = 50</a:t>
            </a:r>
          </a:p>
        </p:txBody>
      </p:sp>
      <p:sp>
        <p:nvSpPr>
          <p:cNvPr id="22" name="Rounded Rectangle 21"/>
          <p:cNvSpPr/>
          <p:nvPr/>
        </p:nvSpPr>
        <p:spPr>
          <a:xfrm>
            <a:off x="6583680" y="3108960"/>
            <a:ext cx="5029200" cy="11887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E30613"/>
                </a:solidFill>
              </a:rPr>
              <a:t>25 episodes has been shown to be too few</a:t>
            </a:r>
          </a:p>
          <a:p>
            <a:pPr algn="ctr"/>
            <a:r>
              <a:rPr sz="1300" b="0" i="0">
                <a:solidFill>
                  <a:srgbClr val="5B6275"/>
                </a:solidFill>
              </a:rPr>
              <a:t>(LeRobot's guidance for SO-100/101 tasks)</a:t>
            </a:r>
          </a:p>
        </p:txBody>
      </p:sp>
      <p:sp>
        <p:nvSpPr>
          <p:cNvPr id="23" name="Rounded Rectangle 22"/>
          <p:cNvSpPr/>
          <p:nvPr/>
        </p:nvSpPr>
        <p:spPr>
          <a:xfrm>
            <a:off x="6583680" y="4480560"/>
            <a:ext cx="5029200" cy="11887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0" i="0">
                <a:solidFill>
                  <a:srgbClr val="1F2433"/>
                </a:solidFill>
              </a:rPr>
              <a:t>Fifty repetitions of one easy position teach the policy one position.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Curation: a written rule, not a feeling</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548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Discard log (one row per episode)</a:t>
            </a:r>
          </a:p>
        </p:txBody>
      </p:sp>
      <p:sp>
        <p:nvSpPr>
          <p:cNvPr id="8" name="Rounded Rectangle 7"/>
          <p:cNvSpPr/>
          <p:nvPr/>
        </p:nvSpPr>
        <p:spPr>
          <a:xfrm>
            <a:off x="548640" y="2148840"/>
            <a:ext cx="59436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64194"/>
                </a:solidFill>
              </a:rPr>
              <a:t>Ep</a:t>
            </a:r>
          </a:p>
        </p:txBody>
      </p:sp>
      <p:sp>
        <p:nvSpPr>
          <p:cNvPr id="9" name="Rounded Rectangle 8"/>
          <p:cNvSpPr/>
          <p:nvPr/>
        </p:nvSpPr>
        <p:spPr>
          <a:xfrm>
            <a:off x="1188720" y="2148840"/>
            <a:ext cx="105156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64194"/>
                </a:solidFill>
              </a:rPr>
              <a:t>Keep?</a:t>
            </a:r>
          </a:p>
        </p:txBody>
      </p:sp>
      <p:sp>
        <p:nvSpPr>
          <p:cNvPr id="10" name="Rounded Rectangle 9"/>
          <p:cNvSpPr/>
          <p:nvPr/>
        </p:nvSpPr>
        <p:spPr>
          <a:xfrm>
            <a:off x="2286000" y="2148840"/>
            <a:ext cx="150876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64194"/>
                </a:solidFill>
              </a:rPr>
              <a:t>Rule</a:t>
            </a:r>
          </a:p>
        </p:txBody>
      </p:sp>
      <p:sp>
        <p:nvSpPr>
          <p:cNvPr id="11" name="Rounded Rectangle 10"/>
          <p:cNvSpPr/>
          <p:nvPr/>
        </p:nvSpPr>
        <p:spPr>
          <a:xfrm>
            <a:off x="3840480" y="2148840"/>
            <a:ext cx="210312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i="0">
                <a:solidFill>
                  <a:srgbClr val="164194"/>
                </a:solidFill>
              </a:rPr>
              <a:t>Note</a:t>
            </a:r>
          </a:p>
        </p:txBody>
      </p:sp>
      <p:sp>
        <p:nvSpPr>
          <p:cNvPr id="12" name="Rounded Rectangle 11"/>
          <p:cNvSpPr/>
          <p:nvPr/>
        </p:nvSpPr>
        <p:spPr>
          <a:xfrm>
            <a:off x="548640" y="2651760"/>
            <a:ext cx="594360" cy="457200"/>
          </a:xfrm>
          <a:prstGeom prst="roundRect">
            <a:avLst>
              <a:gd name="adj" fmla="val 12000"/>
            </a:avLst>
          </a:prstGeom>
          <a:solidFill>
            <a:srgbClr val="F7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0</a:t>
            </a:r>
          </a:p>
        </p:txBody>
      </p:sp>
      <p:sp>
        <p:nvSpPr>
          <p:cNvPr id="13" name="Rounded Rectangle 12"/>
          <p:cNvSpPr/>
          <p:nvPr/>
        </p:nvSpPr>
        <p:spPr>
          <a:xfrm>
            <a:off x="1188720" y="2651760"/>
            <a:ext cx="1051560" cy="457200"/>
          </a:xfrm>
          <a:prstGeom prst="roundRect">
            <a:avLst>
              <a:gd name="adj" fmla="val 12000"/>
            </a:avLst>
          </a:prstGeom>
          <a:solidFill>
            <a:srgbClr val="F7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keep</a:t>
            </a:r>
          </a:p>
        </p:txBody>
      </p:sp>
      <p:sp>
        <p:nvSpPr>
          <p:cNvPr id="14" name="Rounded Rectangle 13"/>
          <p:cNvSpPr/>
          <p:nvPr/>
        </p:nvSpPr>
        <p:spPr>
          <a:xfrm>
            <a:off x="2286000" y="2651760"/>
            <a:ext cx="1508760" cy="457200"/>
          </a:xfrm>
          <a:prstGeom prst="roundRect">
            <a:avLst>
              <a:gd name="adj" fmla="val 12000"/>
            </a:avLst>
          </a:prstGeom>
          <a:solidFill>
            <a:srgbClr val="F7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a:t>
            </a:r>
          </a:p>
        </p:txBody>
      </p:sp>
      <p:sp>
        <p:nvSpPr>
          <p:cNvPr id="15" name="Rounded Rectangle 14"/>
          <p:cNvSpPr/>
          <p:nvPr/>
        </p:nvSpPr>
        <p:spPr>
          <a:xfrm>
            <a:off x="3840480" y="2651760"/>
            <a:ext cx="2103120" cy="457200"/>
          </a:xfrm>
          <a:prstGeom prst="roundRect">
            <a:avLst>
              <a:gd name="adj" fmla="val 12000"/>
            </a:avLst>
          </a:prstGeom>
          <a:solidFill>
            <a:srgbClr val="F7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
            </a:r>
          </a:p>
        </p:txBody>
      </p:sp>
      <p:sp>
        <p:nvSpPr>
          <p:cNvPr id="16" name="Rounded Rectangle 15"/>
          <p:cNvSpPr/>
          <p:nvPr/>
        </p:nvSpPr>
        <p:spPr>
          <a:xfrm>
            <a:off x="548640" y="3154680"/>
            <a:ext cx="594360" cy="457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1</a:t>
            </a:r>
          </a:p>
        </p:txBody>
      </p:sp>
      <p:sp>
        <p:nvSpPr>
          <p:cNvPr id="17" name="Rounded Rectangle 16"/>
          <p:cNvSpPr/>
          <p:nvPr/>
        </p:nvSpPr>
        <p:spPr>
          <a:xfrm>
            <a:off x="1188720" y="3154680"/>
            <a:ext cx="1051560" cy="457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discard</a:t>
            </a:r>
          </a:p>
        </p:txBody>
      </p:sp>
      <p:sp>
        <p:nvSpPr>
          <p:cNvPr id="18" name="Rounded Rectangle 17"/>
          <p:cNvSpPr/>
          <p:nvPr/>
        </p:nvSpPr>
        <p:spPr>
          <a:xfrm>
            <a:off x="2286000" y="3154680"/>
            <a:ext cx="1508760" cy="457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pause &gt; 1 s</a:t>
            </a:r>
          </a:p>
        </p:txBody>
      </p:sp>
      <p:sp>
        <p:nvSpPr>
          <p:cNvPr id="19" name="Rounded Rectangle 18"/>
          <p:cNvSpPr/>
          <p:nvPr/>
        </p:nvSpPr>
        <p:spPr>
          <a:xfrm>
            <a:off x="3840480" y="3154680"/>
            <a:ext cx="2103120" cy="457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operator distracted</a:t>
            </a:r>
          </a:p>
        </p:txBody>
      </p:sp>
      <p:sp>
        <p:nvSpPr>
          <p:cNvPr id="20" name="Rounded Rectangle 19"/>
          <p:cNvSpPr/>
          <p:nvPr/>
        </p:nvSpPr>
        <p:spPr>
          <a:xfrm>
            <a:off x="548640" y="3657600"/>
            <a:ext cx="594360" cy="457200"/>
          </a:xfrm>
          <a:prstGeom prst="roundRect">
            <a:avLst>
              <a:gd name="adj" fmla="val 12000"/>
            </a:avLst>
          </a:prstGeom>
          <a:solidFill>
            <a:srgbClr val="F7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2</a:t>
            </a:r>
          </a:p>
        </p:txBody>
      </p:sp>
      <p:sp>
        <p:nvSpPr>
          <p:cNvPr id="21" name="Rounded Rectangle 20"/>
          <p:cNvSpPr/>
          <p:nvPr/>
        </p:nvSpPr>
        <p:spPr>
          <a:xfrm>
            <a:off x="1188720" y="3657600"/>
            <a:ext cx="1051560" cy="457200"/>
          </a:xfrm>
          <a:prstGeom prst="roundRect">
            <a:avLst>
              <a:gd name="adj" fmla="val 12000"/>
            </a:avLst>
          </a:prstGeom>
          <a:solidFill>
            <a:srgbClr val="F7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keep</a:t>
            </a:r>
          </a:p>
        </p:txBody>
      </p:sp>
      <p:sp>
        <p:nvSpPr>
          <p:cNvPr id="22" name="Rounded Rectangle 21"/>
          <p:cNvSpPr/>
          <p:nvPr/>
        </p:nvSpPr>
        <p:spPr>
          <a:xfrm>
            <a:off x="2286000" y="3657600"/>
            <a:ext cx="1508760" cy="457200"/>
          </a:xfrm>
          <a:prstGeom prst="roundRect">
            <a:avLst>
              <a:gd name="adj" fmla="val 12000"/>
            </a:avLst>
          </a:prstGeom>
          <a:solidFill>
            <a:srgbClr val="F7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a:t>
            </a:r>
          </a:p>
        </p:txBody>
      </p:sp>
      <p:sp>
        <p:nvSpPr>
          <p:cNvPr id="23" name="Rounded Rectangle 22"/>
          <p:cNvSpPr/>
          <p:nvPr/>
        </p:nvSpPr>
        <p:spPr>
          <a:xfrm>
            <a:off x="3840480" y="3657600"/>
            <a:ext cx="2103120" cy="457200"/>
          </a:xfrm>
          <a:prstGeom prst="roundRect">
            <a:avLst>
              <a:gd name="adj" fmla="val 12000"/>
            </a:avLst>
          </a:prstGeom>
          <a:solidFill>
            <a:srgbClr val="F7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
            </a:r>
          </a:p>
        </p:txBody>
      </p:sp>
      <p:sp>
        <p:nvSpPr>
          <p:cNvPr id="24" name="Rounded Rectangle 23"/>
          <p:cNvSpPr/>
          <p:nvPr/>
        </p:nvSpPr>
        <p:spPr>
          <a:xfrm>
            <a:off x="548640" y="4160520"/>
            <a:ext cx="594360" cy="457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3</a:t>
            </a:r>
          </a:p>
        </p:txBody>
      </p:sp>
      <p:sp>
        <p:nvSpPr>
          <p:cNvPr id="25" name="Rounded Rectangle 24"/>
          <p:cNvSpPr/>
          <p:nvPr/>
        </p:nvSpPr>
        <p:spPr>
          <a:xfrm>
            <a:off x="1188720" y="4160520"/>
            <a:ext cx="1051560" cy="457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discard</a:t>
            </a:r>
          </a:p>
        </p:txBody>
      </p:sp>
      <p:sp>
        <p:nvSpPr>
          <p:cNvPr id="26" name="Rounded Rectangle 25"/>
          <p:cNvSpPr/>
          <p:nvPr/>
        </p:nvSpPr>
        <p:spPr>
          <a:xfrm>
            <a:off x="2286000" y="4160520"/>
            <a:ext cx="1508760" cy="457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regrasp</a:t>
            </a:r>
          </a:p>
        </p:txBody>
      </p:sp>
      <p:sp>
        <p:nvSpPr>
          <p:cNvPr id="27" name="Rounded Rectangle 26"/>
          <p:cNvSpPr/>
          <p:nvPr/>
        </p:nvSpPr>
        <p:spPr>
          <a:xfrm>
            <a:off x="3840480" y="4160520"/>
            <a:ext cx="2103120" cy="457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1F2433"/>
                </a:solidFill>
              </a:rPr>
              <a:t>cube slipped</a:t>
            </a:r>
          </a:p>
        </p:txBody>
      </p:sp>
      <p:sp>
        <p:nvSpPr>
          <p:cNvPr id="28" name="Rounded Rectangle 27"/>
          <p:cNvSpPr/>
          <p:nvPr/>
        </p:nvSpPr>
        <p:spPr>
          <a:xfrm>
            <a:off x="6217920" y="1508760"/>
            <a:ext cx="5394960" cy="5486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Datasheet (ships with the dataset)</a:t>
            </a:r>
          </a:p>
        </p:txBody>
      </p:sp>
      <p:sp>
        <p:nvSpPr>
          <p:cNvPr id="29" name="Rounded Rectangle 28"/>
          <p:cNvSpPr/>
          <p:nvPr/>
        </p:nvSpPr>
        <p:spPr>
          <a:xfrm>
            <a:off x="6217920" y="2148840"/>
            <a:ext cx="5394960" cy="2743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0" i="0">
                <a:solidFill>
                  <a:srgbClr val="1F2433"/>
                </a:solidFill>
              </a:rPr>
              <a:t>• task text and episode count</a:t>
            </a:r>
          </a:p>
          <a:p>
            <a:pPr algn="l"/>
            <a:r>
              <a:rPr sz="1500" b="0" i="0">
                <a:solidFill>
                  <a:srgbClr val="1F2433"/>
                </a:solidFill>
              </a:rPr>
              <a:t>• coverage map (which positions, how many)</a:t>
            </a:r>
          </a:p>
          <a:p>
            <a:pPr algn="l"/>
            <a:r>
              <a:rPr sz="1500" b="0" i="0">
                <a:solidFill>
                  <a:srgbClr val="1F2433"/>
                </a:solidFill>
              </a:rPr>
              <a:t>• camera set-up and names</a:t>
            </a:r>
          </a:p>
          <a:p>
            <a:pPr algn="l"/>
            <a:r>
              <a:rPr sz="1500" b="0" i="0">
                <a:solidFill>
                  <a:srgbClr val="1F2433"/>
                </a:solidFill>
              </a:rPr>
              <a:t>• known defects</a:t>
            </a:r>
          </a:p>
          <a:p>
            <a:pPr algn="l"/>
            <a:r>
              <a:rPr sz="1500" b="0" i="0">
                <a:solidFill>
                  <a:srgbClr val="1F2433"/>
                </a:solidFill>
              </a:rPr>
              <a:t>• the discard log</a:t>
            </a:r>
          </a:p>
        </p:txBody>
      </p:sp>
      <p:sp>
        <p:nvSpPr>
          <p:cNvPr id="30" name="Rectangle 29"/>
          <p:cNvSpPr/>
          <p:nvPr/>
        </p:nvSpPr>
        <p:spPr>
          <a:xfrm>
            <a:off x="548640" y="5120640"/>
            <a:ext cx="1106424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400" b="0" i="1">
                <a:solidFill>
                  <a:srgbClr val="5B6275"/>
                </a:solidFill>
              </a:rPr>
              <a:t>Based on “Datasheets for Datasets” (Gebru et al., 2018). Discarding is normal; hiding what you discarded is not.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reality gap in three parts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4251960" y="2880360"/>
            <a:ext cx="3657600" cy="11887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200" b="1" i="0">
                <a:solidFill>
                  <a:srgbClr val="FFFFFF"/>
                </a:solidFill>
              </a:rPr>
              <a:t>Reality gap</a:t>
            </a:r>
          </a:p>
          <a:p>
            <a:pPr algn="ctr"/>
            <a:r>
              <a:rPr sz="1500" b="0" i="0">
                <a:solidFill>
                  <a:srgbClr val="FFFFFF"/>
                </a:solidFill>
              </a:rPr>
              <a:t>sim ≠ real</a:t>
            </a:r>
          </a:p>
        </p:txBody>
      </p:sp>
      <p:sp>
        <p:nvSpPr>
          <p:cNvPr id="8" name="Rounded Rectangle 7"/>
          <p:cNvSpPr/>
          <p:nvPr/>
        </p:nvSpPr>
        <p:spPr>
          <a:xfrm>
            <a:off x="548640" y="1508760"/>
            <a:ext cx="3611880" cy="13258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800" b="1" i="0">
                <a:solidFill>
                  <a:srgbClr val="E30613"/>
                </a:solidFill>
              </a:rPr>
              <a:t>Dynamics</a:t>
            </a:r>
          </a:p>
          <a:p>
            <a:pPr algn="l"/>
            <a:r>
              <a:rPr sz="1400" b="0" i="0">
                <a:solidFill>
                  <a:srgbClr val="1F2433"/>
                </a:solidFill>
              </a:rPr>
              <a:t>mass, friction, servo response, backlash</a:t>
            </a:r>
          </a:p>
          <a:p>
            <a:pPr algn="l"/>
            <a:r>
              <a:rPr sz="1300" b="1" i="0">
                <a:solidFill>
                  <a:srgbClr val="164194"/>
                </a:solidFill>
              </a:rPr>
              <a:t>→ randomise mass, friction, motor gains</a:t>
            </a:r>
          </a:p>
        </p:txBody>
      </p:sp>
      <p:sp>
        <p:nvSpPr>
          <p:cNvPr id="9" name="Rounded Rectangle 8"/>
          <p:cNvSpPr/>
          <p:nvPr/>
        </p:nvSpPr>
        <p:spPr>
          <a:xfrm>
            <a:off x="8001000" y="1508760"/>
            <a:ext cx="3611880" cy="13258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800" b="1" i="0">
                <a:solidFill>
                  <a:srgbClr val="E30613"/>
                </a:solidFill>
              </a:rPr>
              <a:t>Appearance</a:t>
            </a:r>
          </a:p>
          <a:p>
            <a:pPr algn="l"/>
            <a:r>
              <a:rPr sz="1400" b="0" i="0">
                <a:solidFill>
                  <a:srgbClr val="1F2433"/>
                </a:solidFill>
              </a:rPr>
              <a:t>colours, textures, lighting, shadows</a:t>
            </a:r>
          </a:p>
          <a:p>
            <a:pPr algn="l"/>
            <a:r>
              <a:rPr sz="1300" b="1" i="0">
                <a:solidFill>
                  <a:srgbClr val="164194"/>
                </a:solidFill>
              </a:rPr>
              <a:t>→ randomise colours and textures</a:t>
            </a:r>
          </a:p>
        </p:txBody>
      </p:sp>
      <p:sp>
        <p:nvSpPr>
          <p:cNvPr id="10" name="Rounded Rectangle 9"/>
          <p:cNvSpPr/>
          <p:nvPr/>
        </p:nvSpPr>
        <p:spPr>
          <a:xfrm>
            <a:off x="4251960" y="4434840"/>
            <a:ext cx="3611880" cy="13258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800" b="1" i="0">
                <a:solidFill>
                  <a:srgbClr val="E30613"/>
                </a:solidFill>
              </a:rPr>
              <a:t>Sensing</a:t>
            </a:r>
          </a:p>
          <a:p>
            <a:pPr algn="l"/>
            <a:r>
              <a:rPr sz="1400" b="0" i="0">
                <a:solidFill>
                  <a:srgbClr val="1F2433"/>
                </a:solidFill>
              </a:rPr>
              <a:t>noise, offsets, delay</a:t>
            </a:r>
          </a:p>
          <a:p>
            <a:pPr algn="l"/>
            <a:r>
              <a:rPr sz="1300" b="1" i="0">
                <a:solidFill>
                  <a:srgbClr val="164194"/>
                </a:solidFill>
              </a:rPr>
              <a:t>→ add noise to observations</a:t>
            </a:r>
          </a:p>
        </p:txBody>
      </p:sp>
      <p:cxnSp>
        <p:nvCxnSpPr>
          <p:cNvPr id="11" name="Connector 10"/>
          <p:cNvCxnSpPr/>
          <p:nvPr/>
        </p:nvCxnSpPr>
        <p:spPr>
          <a:xfrm>
            <a:off x="4206240" y="2194560"/>
            <a:ext cx="640080" cy="640080"/>
          </a:xfrm>
          <a:prstGeom prst="line">
            <a:avLst/>
          </a:prstGeom>
          <a:ln w="2540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315200" y="2194560"/>
            <a:ext cx="640079" cy="640080"/>
          </a:xfrm>
          <a:prstGeom prst="line">
            <a:avLst/>
          </a:prstGeom>
          <a:ln w="2540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080760" y="4114800"/>
            <a:ext cx="0" cy="274320"/>
          </a:xfrm>
          <a:prstGeom prst="line">
            <a:avLst/>
          </a:prstGeom>
          <a:ln w="2540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wide should the randomisation be?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graphicFrame>
        <p:nvGraphicFramePr>
          <p:cNvPr id="7" name="Chart 6"/>
          <p:cNvGraphicFramePr>
            <a:graphicFrameLocks noGrp="1"/>
          </p:cNvGraphicFramePr>
          <p:nvPr/>
        </p:nvGraphicFramePr>
        <p:xfrm>
          <a:off x="457200" y="1463040"/>
          <a:ext cx="6766560" cy="4206240"/>
        </p:xfrm>
        <a:graphic>
          <a:graphicData uri="http://schemas.openxmlformats.org/drawingml/2006/chart">
            <c:chart xmlns:c="http://schemas.openxmlformats.org/drawingml/2006/chart" r:id="rId2"/>
          </a:graphicData>
        </a:graphic>
      </p:graphicFrame>
      <p:sp>
        <p:nvSpPr>
          <p:cNvPr id="8" name="Rounded Rectangle 7"/>
          <p:cNvSpPr/>
          <p:nvPr/>
        </p:nvSpPr>
        <p:spPr>
          <a:xfrm>
            <a:off x="7589520" y="1554480"/>
            <a:ext cx="4023360" cy="11887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E30613"/>
                </a:solidFill>
              </a:rPr>
              <a:t>Too narrow</a:t>
            </a:r>
          </a:p>
          <a:p>
            <a:pPr algn="l"/>
            <a:r>
              <a:rPr sz="1500" b="0" i="0">
                <a:solidFill>
                  <a:srgbClr val="1F2433"/>
                </a:solidFill>
              </a:rPr>
              <a:t>the policy overfits the simulator</a:t>
            </a:r>
          </a:p>
        </p:txBody>
      </p:sp>
      <p:sp>
        <p:nvSpPr>
          <p:cNvPr id="9" name="Rounded Rectangle 8"/>
          <p:cNvSpPr/>
          <p:nvPr/>
        </p:nvSpPr>
        <p:spPr>
          <a:xfrm>
            <a:off x="7589520" y="2880360"/>
            <a:ext cx="4023360" cy="11887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E30613"/>
                </a:solidFill>
              </a:rPr>
              <a:t>Too wide</a:t>
            </a:r>
          </a:p>
          <a:p>
            <a:pPr algn="l"/>
            <a:r>
              <a:rPr sz="1500" b="0" i="0">
                <a:solidFill>
                  <a:srgbClr val="1F2433"/>
                </a:solidFill>
              </a:rPr>
              <a:t>the task becomes hard to learn at all</a:t>
            </a:r>
          </a:p>
        </p:txBody>
      </p:sp>
      <p:sp>
        <p:nvSpPr>
          <p:cNvPr id="10" name="Rounded Rectangle 9"/>
          <p:cNvSpPr/>
          <p:nvPr/>
        </p:nvSpPr>
        <p:spPr>
          <a:xfrm>
            <a:off x="7589520" y="4206240"/>
            <a:ext cx="4023360" cy="146304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0F6E6A"/>
                </a:solidFill>
              </a:rPr>
              <a:t>Matched</a:t>
            </a:r>
          </a:p>
          <a:p>
            <a:pPr algn="l"/>
            <a:r>
              <a:rPr sz="1500" b="0" i="0">
                <a:solidFill>
                  <a:srgbClr val="1F2433"/>
                </a:solidFill>
              </a:rPr>
              <a:t>cover what you cannot measure, sized to what you can (e.g. measured friction ± a margin)</a:t>
            </a:r>
          </a:p>
        </p:txBody>
      </p:sp>
      <p:sp>
        <p:nvSpPr>
          <p:cNvPr id="11" name="Rectangle 10"/>
          <p:cNvSpPr/>
          <p:nvPr/>
        </p:nvSpPr>
        <p:spPr>
          <a:xfrm>
            <a:off x="548640" y="5760720"/>
            <a:ext cx="67665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100" b="0" i="1">
                <a:solidFill>
                  <a:srgbClr val="5B6275"/>
                </a:solidFill>
              </a:rPr>
              <a:t>Sketch of the trade-off; not measured data.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Activity: Good demo, bad demo</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4160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800" b="1" i="0">
                <a:solidFill>
                  <a:srgbClr val="164194"/>
                </a:solidFill>
              </a:rPr>
              <a:t>Part A · six clips (10 min)</a:t>
            </a:r>
          </a:p>
          <a:p>
            <a:pPr algn="l"/>
            <a:r>
              <a:rPr sz="1500" b="0" i="0">
                <a:solidFill>
                  <a:srgbClr val="1F2433"/>
                </a:solidFill>
              </a:rPr>
              <a:t>Watch each clip from the real arm.</a:t>
            </a:r>
          </a:p>
          <a:p>
            <a:pPr algn="l"/>
            <a:r>
              <a:rPr sz="1500" b="0" i="0">
                <a:solidFill>
                  <a:srgbClr val="1F2433"/>
                </a:solidFill>
              </a:rPr>
              <a:t>Keep or discard? Name the rule.</a:t>
            </a:r>
          </a:p>
        </p:txBody>
      </p:sp>
      <p:sp>
        <p:nvSpPr>
          <p:cNvPr id="8" name="Rounded Rectangle 7"/>
          <p:cNvSpPr/>
          <p:nvPr/>
        </p:nvSpPr>
        <p:spPr>
          <a:xfrm>
            <a:off x="777240" y="3017520"/>
            <a:ext cx="1508760" cy="1051560"/>
          </a:xfrm>
          <a:prstGeom prst="roundRect">
            <a:avLst>
              <a:gd name="adj" fmla="val 12000"/>
            </a:avLst>
          </a:prstGeom>
          <a:solidFill>
            <a:srgbClr val="FFFFFF"/>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Clip 1</a:t>
            </a:r>
          </a:p>
        </p:txBody>
      </p:sp>
      <p:sp>
        <p:nvSpPr>
          <p:cNvPr id="9" name="Rounded Rectangle 8"/>
          <p:cNvSpPr/>
          <p:nvPr/>
        </p:nvSpPr>
        <p:spPr>
          <a:xfrm>
            <a:off x="2468880" y="3017520"/>
            <a:ext cx="1508760" cy="1051560"/>
          </a:xfrm>
          <a:prstGeom prst="roundRect">
            <a:avLst>
              <a:gd name="adj" fmla="val 12000"/>
            </a:avLst>
          </a:prstGeom>
          <a:solidFill>
            <a:srgbClr val="FFFFFF"/>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Clip 2</a:t>
            </a:r>
          </a:p>
        </p:txBody>
      </p:sp>
      <p:sp>
        <p:nvSpPr>
          <p:cNvPr id="10" name="Rounded Rectangle 9"/>
          <p:cNvSpPr/>
          <p:nvPr/>
        </p:nvSpPr>
        <p:spPr>
          <a:xfrm>
            <a:off x="4160520" y="3017520"/>
            <a:ext cx="1508760" cy="1051560"/>
          </a:xfrm>
          <a:prstGeom prst="roundRect">
            <a:avLst>
              <a:gd name="adj" fmla="val 12000"/>
            </a:avLst>
          </a:prstGeom>
          <a:solidFill>
            <a:srgbClr val="FFFFFF"/>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Clip 3</a:t>
            </a:r>
          </a:p>
        </p:txBody>
      </p:sp>
      <p:sp>
        <p:nvSpPr>
          <p:cNvPr id="11" name="Rounded Rectangle 10"/>
          <p:cNvSpPr/>
          <p:nvPr/>
        </p:nvSpPr>
        <p:spPr>
          <a:xfrm>
            <a:off x="777240" y="4251960"/>
            <a:ext cx="1508760" cy="1051560"/>
          </a:xfrm>
          <a:prstGeom prst="roundRect">
            <a:avLst>
              <a:gd name="adj" fmla="val 12000"/>
            </a:avLst>
          </a:prstGeom>
          <a:solidFill>
            <a:srgbClr val="FFFFFF"/>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Clip 4</a:t>
            </a:r>
          </a:p>
        </p:txBody>
      </p:sp>
      <p:sp>
        <p:nvSpPr>
          <p:cNvPr id="12" name="Rounded Rectangle 11"/>
          <p:cNvSpPr/>
          <p:nvPr/>
        </p:nvSpPr>
        <p:spPr>
          <a:xfrm>
            <a:off x="2468880" y="4251960"/>
            <a:ext cx="1508760" cy="1051560"/>
          </a:xfrm>
          <a:prstGeom prst="roundRect">
            <a:avLst>
              <a:gd name="adj" fmla="val 12000"/>
            </a:avLst>
          </a:prstGeom>
          <a:solidFill>
            <a:srgbClr val="FFFFFF"/>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Clip 5</a:t>
            </a:r>
          </a:p>
        </p:txBody>
      </p:sp>
      <p:sp>
        <p:nvSpPr>
          <p:cNvPr id="13" name="Rounded Rectangle 12"/>
          <p:cNvSpPr/>
          <p:nvPr/>
        </p:nvSpPr>
        <p:spPr>
          <a:xfrm>
            <a:off x="4160520" y="4251960"/>
            <a:ext cx="1508760" cy="1051560"/>
          </a:xfrm>
          <a:prstGeom prst="roundRect">
            <a:avLst>
              <a:gd name="adj" fmla="val 12000"/>
            </a:avLst>
          </a:prstGeom>
          <a:solidFill>
            <a:srgbClr val="FFFFFF"/>
          </a:solidFill>
          <a:ln w="15875">
            <a:solidFill>
              <a:srgbClr val="C9D0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Clip 6</a:t>
            </a:r>
          </a:p>
        </p:txBody>
      </p:sp>
      <p:sp>
        <p:nvSpPr>
          <p:cNvPr id="14" name="Rounded Rectangle 13"/>
          <p:cNvSpPr/>
          <p:nvPr/>
        </p:nvSpPr>
        <p:spPr>
          <a:xfrm>
            <a:off x="6217920" y="1508760"/>
            <a:ext cx="5394960" cy="41605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800" b="1" i="0">
                <a:solidFill>
                  <a:srgbClr val="0F6E6A"/>
                </a:solidFill>
              </a:rPr>
              <a:t>Part B · choose a method (5 min)</a:t>
            </a:r>
          </a:p>
          <a:p>
            <a:pPr algn="l"/>
            <a:r>
              <a:rPr sz="1500" b="0" i="0">
                <a:solidFill>
                  <a:srgbClr val="1F2433"/>
                </a:solidFill>
              </a:rPr>
              <a:t>1. Train a policy to reach targets using thousands of attempts.</a:t>
            </a:r>
          </a:p>
          <a:p>
            <a:pPr algn="l"/>
            <a:r>
              <a:rPr sz="1500" b="0" i="0">
                <a:solidFill>
                  <a:srgbClr val="1F2433"/>
                </a:solidFill>
              </a:rPr>
              <a:t>2. Teach the arm a smooth pick-and-place from 50 examples.</a:t>
            </a:r>
          </a:p>
          <a:p>
            <a:pPr algn="l"/>
            <a:r>
              <a:rPr sz="1500" b="0" i="0">
                <a:solidFill>
                  <a:srgbClr val="1F2433"/>
                </a:solidFill>
              </a:rPr>
              <a:t>3. Test whether a policy copes with different table colours before using the real arm.</a:t>
            </a:r>
          </a:p>
          <a:p>
            <a:pPr algn="l"/>
            <a:r>
              <a:rPr sz="1500" b="1" i="0">
                <a:solidFill>
                  <a:srgbClr val="1F2433"/>
                </a:solidFill>
              </a:rPr>
              <a:t>Teleoperation, kinesthetic or randomised simulation? Why?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Exit ticket</a:t>
            </a:r>
          </a:p>
        </p:txBody>
      </p:sp>
      <p:sp>
        <p:nvSpPr>
          <p:cNvPr id="3" name="Text Placeholder 2"/>
          <p:cNvSpPr>
            <a:spLocks noGrp="1"/>
          </p:cNvSpPr>
          <p:nvPr>
            <p:ph type="body" idx="11" sz="quarter"/>
          </p:nvPr>
        </p:nvSpPr>
        <p:spPr/>
        <p:txBody>
          <a:bodyPr/>
          <a:lstStyle/>
          <a:p>
            <a:pPr/>
            <a:r>
              <a:rPr sz="2200"/>
              <a:t>Answer before you leave:</a:t>
            </a:r>
          </a:p>
          <a:p>
            <a:pPr lvl="1"/>
            <a:r>
              <a:rPr sz="2000"/>
              <a:t>A dataset has 40 episodes of 15 s at 30 fps with 2 cameras. How many frames and images?</a:t>
            </a:r>
          </a:p>
          <a:p>
            <a:pPr lvl="1"/>
            <a:r>
              <a:rPr sz="2000"/>
              <a:t>Match each to the gap it closes: friction randomisation · colour randomisation · joint noise</a:t>
            </a:r>
          </a:p>
          <a:p>
            <a:pPr lvl="1"/>
            <a:r>
              <a:rPr sz="2000"/>
              <a:t>State the coverage rule for our pick-and-place dataset.</a:t>
            </a:r>
          </a:p>
          <a:p>
            <a:pPr lvl="1"/>
            <a:r>
              <a:rPr sz="2000"/>
              <a:t>What is the difference between state and action on the SO-101?</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week: L4 lab · Collect data three ways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548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Sim station · Isaac Lab</a:t>
            </a:r>
          </a:p>
        </p:txBody>
      </p:sp>
      <p:sp>
        <p:nvSpPr>
          <p:cNvPr id="8" name="Rounded Rectangle 7"/>
          <p:cNvSpPr/>
          <p:nvPr/>
        </p:nvSpPr>
        <p:spPr>
          <a:xfrm>
            <a:off x="548640" y="2103120"/>
            <a:ext cx="5394960" cy="21031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0" i="0">
                <a:solidFill>
                  <a:srgbClr val="1F2433"/>
                </a:solidFill>
              </a:rPr>
              <a:t>Switch on randomisation; make a 16-scene contact sheet</a:t>
            </a:r>
          </a:p>
          <a:p>
            <a:pPr algn="l"/>
            <a:r>
              <a:rPr sz="1500" b="0" i="0">
                <a:solidFill>
                  <a:srgbClr val="1F2433"/>
                </a:solidFill>
              </a:rPr>
              <a:t>Name the gap each term targets</a:t>
            </a:r>
          </a:p>
          <a:p>
            <a:pPr algn="l"/>
            <a:r>
              <a:rPr sz="1500" b="0" i="0">
                <a:solidFill>
                  <a:srgbClr val="1F2433"/>
                </a:solidFill>
              </a:rPr>
              <a:t>Teleoperate the simulated arm and record 5 demos</a:t>
            </a:r>
          </a:p>
        </p:txBody>
      </p:sp>
      <p:sp>
        <p:nvSpPr>
          <p:cNvPr id="9" name="Rounded Rectangle 8"/>
          <p:cNvSpPr/>
          <p:nvPr/>
        </p:nvSpPr>
        <p:spPr>
          <a:xfrm>
            <a:off x="6217920" y="1508760"/>
            <a:ext cx="5394960" cy="5486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Arm station · SO-101</a:t>
            </a:r>
          </a:p>
        </p:txBody>
      </p:sp>
      <p:sp>
        <p:nvSpPr>
          <p:cNvPr id="10" name="Rounded Rectangle 9"/>
          <p:cNvSpPr/>
          <p:nvPr/>
        </p:nvSpPr>
        <p:spPr>
          <a:xfrm>
            <a:off x="6217920" y="2103120"/>
            <a:ext cx="5394960" cy="21031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0" i="0">
                <a:solidFill>
                  <a:srgbClr val="1F2433"/>
                </a:solidFill>
              </a:rPr>
              <a:t>Record 10 episodes with the leader arm</a:t>
            </a:r>
          </a:p>
          <a:p>
            <a:pPr algn="l"/>
            <a:r>
              <a:rPr sz="1500" b="0" i="0">
                <a:solidFill>
                  <a:srgbClr val="1F2433"/>
                </a:solidFill>
              </a:rPr>
              <a:t>Replay one episode on the follower</a:t>
            </a:r>
          </a:p>
          <a:p>
            <a:pPr algn="l"/>
            <a:r>
              <a:rPr sz="1500" b="0" i="0">
                <a:solidFill>
                  <a:srgbClr val="1F2433"/>
                </a:solidFill>
              </a:rPr>
              <a:t>Inspect the dataset and fill the quality log</a:t>
            </a:r>
          </a:p>
        </p:txBody>
      </p:sp>
      <p:sp>
        <p:nvSpPr>
          <p:cNvPr id="11" name="Rounded Rectangle 10"/>
          <p:cNvSpPr/>
          <p:nvPr/>
        </p:nvSpPr>
        <p:spPr>
          <a:xfrm>
            <a:off x="548640" y="4480560"/>
            <a:ext cx="11064240" cy="11887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E30613"/>
                </a:solidFill>
              </a:rPr>
              <a:t>Bring: </a:t>
            </a:r>
            <a:r>
              <a:rPr sz="1600" b="0" i="0">
                <a:solidFill>
                  <a:srgbClr val="1F2433"/>
                </a:solidFill>
              </a:rPr>
              <a:t>your pod's calibration ids from Lab 2 (the same ids must be used for every recording).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and further reading</a:t>
            </a:r>
          </a:p>
        </p:txBody>
      </p:sp>
      <p:sp>
        <p:nvSpPr>
          <p:cNvPr id="3" name="Text Placeholder 2"/>
          <p:cNvSpPr>
            <a:spLocks noGrp="1"/>
          </p:cNvSpPr>
          <p:nvPr>
            <p:ph type="body" idx="11" sz="quarter"/>
          </p:nvPr>
        </p:nvSpPr>
        <p:spPr/>
        <p:txBody>
          <a:bodyPr/>
          <a:lstStyle/>
          <a:p>
            <a:pPr/>
            <a:r>
              <a:rPr sz="1400"/>
              <a:t>Hugging Face. LeRobotDataset v3.0. https://huggingface.co/docs/lerobot/lerobot-dataset-v3</a:t>
            </a:r>
          </a:p>
          <a:p>
            <a:pPr/>
            <a:r>
              <a:rPr sz="1400"/>
              <a:t>Hugging Face. Imitation Learning on Real-World Robots (recording tips). https://huggingface.co/docs/lerobot/il_robots</a:t>
            </a:r>
          </a:p>
          <a:p>
            <a:pPr/>
            <a:r>
              <a:rPr sz="1400"/>
              <a:t>Hugging Face blog. LeRobot Community Datasets. https://huggingface.co/blog/lerobot-datasets</a:t>
            </a:r>
          </a:p>
          <a:p>
            <a:pPr/>
            <a:r>
              <a:rPr sz="1400"/>
              <a:t>Tobin et al. (2017). Domain Randomization for Transferring Deep Neural Networks from Simulation to the Real World. https://arxiv.org/abs/1703.06907</a:t>
            </a:r>
          </a:p>
          <a:p>
            <a:pPr/>
            <a:r>
              <a:rPr sz="1400"/>
              <a:t>OpenAI (2018). Learning Dexterous In-Hand Manipulation. https://arxiv.org/abs/1808.00177</a:t>
            </a:r>
          </a:p>
          <a:p>
            <a:pPr/>
            <a:r>
              <a:rPr sz="1400"/>
              <a:t>Weng, L. (2019). Domain Randomization for Sim2Real Transfer. https://lilianweng.github.io/posts/2019-05-05-domain-randomization/</a:t>
            </a:r>
          </a:p>
          <a:p>
            <a:pPr/>
            <a:r>
              <a:rPr sz="1400"/>
              <a:t>Gebru et al. (2018). Datasheets for Datasets. https://arxiv.org/abs/1803.09010</a:t>
            </a:r>
          </a:p>
          <a:p>
            <a:pPr/>
            <a:r>
              <a:rPr sz="1400"/>
              <a:t>Isaac Lab. Teleoperation and imitation learning. https://isaac-sim.github.io/IsaacLab/v2.3.2/source/overview/imitation-learning/teleop_imitation.html</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L3</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customXml/itemProps2.xml><?xml version="1.0" encoding="utf-8"?>
<ds:datastoreItem xmlns:ds="http://schemas.openxmlformats.org/officeDocument/2006/customXml" ds:itemID="{A30EE154-A736-456D-A3E2-27745362195B}">
  <ds:schemaRefs>
    <ds:schemaRef ds:uri="http://schemas.microsoft.com/sharepoint/v3/contenttype/forms"/>
  </ds:schemaRefs>
</ds:datastoreItem>
</file>

<file path=customXml/itemProps3.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SEN 129(23) A19</Template>
  <TotalTime>7148</TotalTime>
  <Words>356</Words>
  <Application>Microsoft Office PowerPoint</Application>
  <PresentationFormat>Widescreen</PresentationFormat>
  <Paragraphs>35</Paragraphs>
  <Slides>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Arvo</vt:lpstr>
      <vt:lpstr>Avenir Book</vt:lpstr>
      <vt:lpstr>Aptos</vt:lpstr>
      <vt:lpstr>Arial</vt:lpstr>
      <vt:lpstr>Calibri</vt:lpstr>
      <vt:lpstr>Calibri Light</vt:lpstr>
      <vt:lpstr>Roboto</vt:lpstr>
      <vt:lpstr>SEN 129(23) A19</vt:lpstr>
      <vt:lpstr>PowerPoint Presentation</vt:lpstr>
      <vt:lpstr>Learning Outcomes</vt:lpstr>
      <vt:lpstr>What is Responsible AI?</vt:lpstr>
      <vt:lpstr>AI Ethics, AI Governance &amp; Responsible AI</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Kheng Kok MAR (NYP)</cp:lastModifiedBy>
  <cp:revision>14</cp:revision>
  <dcterms:created xsi:type="dcterms:W3CDTF">2023-04-05T14:55:09Z</dcterms:created>
  <dcterms:modified xsi:type="dcterms:W3CDTF">2025-07-29T10:11:31Z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