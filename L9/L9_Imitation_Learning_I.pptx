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0"/>
  </p:notesMasterIdLst>
  <p:handoutMasterIdLst>
    <p:handoutMasterId r:id="rId11"/>
  </p:handoutMasterIdLst>
  <p:sldIdLst>
    <p:sldId id="419" r:id="rId5"/>
    <p:sldId id="420" r:id="rId9"/>
    <p:sldId id="421" r:id="rId8"/>
    <p:sldId id="422" r:id="rId7"/>
    <p:sldId id="423" r:id="rId6"/>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77326" autoAdjust="0"/>
  </p:normalViewPr>
  <p:slideViewPr>
    <p:cSldViewPr snapToGrid="0">
      <p:cViewPr varScale="1">
        <p:scale>
          <a:sx n="94" d="100"/>
          <a:sy n="94" d="100"/>
        </p:scale>
        <p:origin x="105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433"/>
                </a:solidFill>
              </a:rPr>
              <a:t>Loss vs training steps (illustrative)</a:t>
            </a:r>
          </a:p>
        </c:rich>
      </c:tx>
      <c:layout/>
      <c:overlay val="0"/>
    </c:title>
    <c:autoTitleDeleted val="0"/>
    <c:plotArea>
      <c:lineChart>
        <c:grouping val="standard"/>
        <c:varyColors val="0"/>
        <c:ser>
          <c:idx val="0"/>
          <c:order val="0"/>
          <c:tx>
            <c:strRef>
              <c:f>Sheet1!$B$1</c:f>
              <c:strCache>
                <c:ptCount val="1"/>
                <c:pt idx="0">
                  <c:v>Training loss</c:v>
                </c:pt>
              </c:strCache>
            </c:strRef>
          </c:tx>
          <c:spPr>
            <a:ln w="38100">
              <a:solidFill>
                <a:srgbClr val="164194"/>
              </a:solidFill>
            </a:ln>
          </c:spPr>
          <c:marker>
            <c:symbol val="none"/>
          </c:marker>
          <c:cat>
            <c:strRef>
              <c:f>Sheet1!$A$2:$A$12</c:f>
              <c:strCache>
                <c:ptCount val="11"/>
                <c:pt idx="0">
                  <c:v>0</c:v>
                </c:pt>
                <c:pt idx="1">
                  <c:v>10k</c:v>
                </c:pt>
                <c:pt idx="2">
                  <c:v>20k</c:v>
                </c:pt>
                <c:pt idx="3">
                  <c:v>30k</c:v>
                </c:pt>
                <c:pt idx="4">
                  <c:v>40k</c:v>
                </c:pt>
                <c:pt idx="5">
                  <c:v>50k</c:v>
                </c:pt>
                <c:pt idx="6">
                  <c:v>60k</c:v>
                </c:pt>
                <c:pt idx="7">
                  <c:v>70k</c:v>
                </c:pt>
                <c:pt idx="8">
                  <c:v>80k</c:v>
                </c:pt>
                <c:pt idx="9">
                  <c:v>90k</c:v>
                </c:pt>
                <c:pt idx="10">
                  <c:v>100k</c:v>
                </c:pt>
              </c:strCache>
            </c:strRef>
          </c:cat>
          <c:val>
            <c:numRef>
              <c:f>Sheet1!$B$2:$B$12</c:f>
              <c:numCache>
                <c:formatCode>General</c:formatCode>
                <c:ptCount val="11"/>
                <c:pt idx="0">
                  <c:v>1.0</c:v>
                </c:pt>
                <c:pt idx="1">
                  <c:v>0.45</c:v>
                </c:pt>
                <c:pt idx="2">
                  <c:v>0.3</c:v>
                </c:pt>
                <c:pt idx="3">
                  <c:v>0.22</c:v>
                </c:pt>
                <c:pt idx="4">
                  <c:v>0.18</c:v>
                </c:pt>
                <c:pt idx="5">
                  <c:v>0.15</c:v>
                </c:pt>
                <c:pt idx="6">
                  <c:v>0.13</c:v>
                </c:pt>
                <c:pt idx="7">
                  <c:v>0.12</c:v>
                </c:pt>
                <c:pt idx="8">
                  <c:v>0.11</c:v>
                </c:pt>
                <c:pt idx="9">
                  <c:v>0.1</c:v>
                </c:pt>
                <c:pt idx="10">
                  <c:v>0.095</c:v>
                </c:pt>
              </c:numCache>
            </c:numRef>
          </c:val>
          <c:smooth/>
        </c:ser>
        <c:ser>
          <c:idx val="1"/>
          <c:order val="1"/>
          <c:tx>
            <c:strRef>
              <c:f>Sheet1!$C$1</c:f>
              <c:strCache>
                <c:ptCount val="1"/>
                <c:pt idx="0">
                  <c:v>Validation loss</c:v>
                </c:pt>
              </c:strCache>
            </c:strRef>
          </c:tx>
          <c:spPr>
            <a:ln w="38100">
              <a:solidFill>
                <a:srgbClr val="E30613"/>
              </a:solidFill>
            </a:ln>
          </c:spPr>
          <c:marker>
            <c:symbol val="none"/>
          </c:marker>
          <c:cat>
            <c:strRef>
              <c:f>Sheet1!$A$2:$A$12</c:f>
              <c:strCache>
                <c:ptCount val="11"/>
                <c:pt idx="0">
                  <c:v>0</c:v>
                </c:pt>
                <c:pt idx="1">
                  <c:v>10k</c:v>
                </c:pt>
                <c:pt idx="2">
                  <c:v>20k</c:v>
                </c:pt>
                <c:pt idx="3">
                  <c:v>30k</c:v>
                </c:pt>
                <c:pt idx="4">
                  <c:v>40k</c:v>
                </c:pt>
                <c:pt idx="5">
                  <c:v>50k</c:v>
                </c:pt>
                <c:pt idx="6">
                  <c:v>60k</c:v>
                </c:pt>
                <c:pt idx="7">
                  <c:v>70k</c:v>
                </c:pt>
                <c:pt idx="8">
                  <c:v>80k</c:v>
                </c:pt>
                <c:pt idx="9">
                  <c:v>90k</c:v>
                </c:pt>
                <c:pt idx="10">
                  <c:v>100k</c:v>
                </c:pt>
              </c:strCache>
            </c:strRef>
          </c:cat>
          <c:val>
            <c:numRef>
              <c:f>Sheet1!$C$2:$C$12</c:f>
              <c:numCache>
                <c:formatCode>General</c:formatCode>
                <c:ptCount val="11"/>
                <c:pt idx="0">
                  <c:v>1.0</c:v>
                </c:pt>
                <c:pt idx="1">
                  <c:v>0.48</c:v>
                </c:pt>
                <c:pt idx="2">
                  <c:v>0.34</c:v>
                </c:pt>
                <c:pt idx="3">
                  <c:v>0.28</c:v>
                </c:pt>
                <c:pt idx="4">
                  <c:v>0.26</c:v>
                </c:pt>
                <c:pt idx="5">
                  <c:v>0.25</c:v>
                </c:pt>
                <c:pt idx="6">
                  <c:v>0.25</c:v>
                </c:pt>
                <c:pt idx="7">
                  <c:v>0.26</c:v>
                </c:pt>
                <c:pt idx="8">
                  <c:v>0.26</c:v>
                </c:pt>
                <c:pt idx="9">
                  <c:v>0.27</c:v>
                </c:pt>
                <c:pt idx="10">
                  <c:v>0.27</c:v>
                </c:pt>
              </c:numCache>
            </c:numRef>
          </c:val>
          <c:smooth/>
        </c:ser>
        <c:marker val="1"/>
        <c:smooth val="0"/>
        <c:axId val="2118791784"/>
        <c:axId val="2140495176"/>
      </c:lineChart>
      <c:catAx>
        <c:axId val="2118791784"/>
        <c:scaling>
          <c:orientation val="minMax"/>
        </c:scaling>
        <c:delete val="0"/>
        <c:axPos val="b"/>
        <c:majorTickMark val="out"/>
        <c:minorTickMark val="none"/>
        <c:tickLblPos val="nextTo"/>
        <c:spPr>
          <a:ln>
            <a:solidFill>
              <a:srgbClr val="C9D0E3"/>
            </a:solidFill>
          </a:ln>
        </c:spPr>
        <c:txPr>
          <a:bodyPr/>
          <a:lstStyle/>
          <a:p>
            <a:pPr>
              <a:defRPr sz="1200">
                <a:solidFill>
                  <a:srgbClr val="5B6275"/>
                </a:solidFill>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3E7F0"/>
              </a:solidFill>
            </a:ln>
          </c:spPr>
        </c:majorGridlines>
        <c:numFmt formatCode="0.0" sourceLinked="0"/>
        <c:majorTickMark val="out"/>
        <c:minorTickMark val="none"/>
        <c:tickLblPos val="nextTo"/>
        <c:spPr>
          <a:ln>
            <a:noFill/>
          </a:ln>
        </c:spPr>
        <c:txPr>
          <a:bodyPr/>
          <a:lstStyle/>
          <a:p>
            <a:pPr>
              <a:defRPr sz="1200">
                <a:solidFill>
                  <a:srgbClr val="5B6275"/>
                </a:solidFill>
              </a:defRPr>
            </a:pPr>
          </a:p>
        </c:txPr>
        <c:crossAx val="2118791784"/>
        <c:crosses val="autoZero"/>
      </c:valAx>
    </c:plotArea>
    <c:legend>
      <c:legendPos val="b"/>
      <c:layout/>
      <c:overlay val="0"/>
      <c:txPr>
        <a:bodyPr/>
        <a:lstStyle/>
        <a:p>
          <a:pPr>
            <a:defRPr sz="1200">
              <a:solidFill>
                <a:srgbClr val="5B6275"/>
              </a:solidFill>
            </a:defRPr>
          </a:pPr>
        </a:p>
      </c:txPr>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29/7/2025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29/7/2025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to close Block D and open Block E. Five minutes, on paper or in the poll.</a:t>
            </a:r>
          </a:p>
          <a:p/>
          <a:p>
            <a:r>
              <a:t>Answers. One: in RL, the reward was a score after every step. It never told the robot what to do; it only said how good the last step was, and the robot had to discover the right actions by trying. Two: the human designed the reward and the simulated world, then stood back. On the real arm the human's job was safety and measurement, not teaching.</a:t>
            </a:r>
          </a:p>
          <a:p/>
          <a:p>
            <a:r>
              <a:t>Three is the bridge to today. If a person showed the task instead, what would replace the reward? The demonstration itself. Every recorded frame says "in this situation, this is what I did". The recorded action becomes the right answer, the label, exactly like the labels you used in supervised learning in the diploma. Hold that thought, because it's the whole of Part 1.</a:t>
            </a:r>
          </a:p>
          <a:p/>
          <a:p>
            <a:r>
              <a:t>While you answer, I'll put your pod's Lesson 4 dataset back on screen. Have a look at it: today you'll see that it's already imitation-learning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map. Block D is done: you took an RL policy all the way from simulation to the real arm. Now we're in Block E, and the lit stages are Collect data and Train. That's the opposite of where RL put its effort. In RL we spent our time designing the reward and the simulated world; in imitation learning we spend it recording good demonstrations.</a:t>
            </a:r>
          </a:p>
          <a:p/>
          <a:p>
            <a:r>
              <a:t>Notice that Blocks E and F together walk the whole lifecycle again: collect and train this fortnight, then deploy, evaluate and improve in Lessons 11 and 12. The evaluation habits from Lab 8, the metrics and the failure log, come straight back.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Block E. For the last four weeks the robot has taught itself. It tried things in simulation, we scored every attempt with a reward, and last week you saw what happened when that policy met the real arm: some of it worked, and some of it taught us a lot about units and signs.</a:t>
            </a:r>
          </a:p>
          <a:p/>
          <a:p>
            <a:r>
              <a:t>Today we switch to the other big family of methods. Instead of letting the robot try and scoring it, a person simply shows it what to do, many times, and the robot learns to copy. That's imitation learning. You've actually been preparing for this since Lesson 4, because the kinesthetic dataset you recorded with the leader arm is exactly the kind of data it learns from.</a:t>
            </a:r>
          </a:p>
          <a:p/>
          <a:p>
            <a:r>
              <a:t>By the end of today you'll understand how copying works as a learning method, why it's harder than it sounds, what ACT, the policy we'll train, actually does, and you'll leave with a written plan for the fifty-episode dataset your pod records next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outcomes for today. First, behaviour cloning, the simplest form of imitation learning. You'll see it's nothing more exotic than supervised learning on pairs of observations and actions.</a:t>
            </a:r>
          </a:p>
          <a:p/>
          <a:p>
            <a:r>
              <a:t>Second, three problems that make cloning harder than it sounds: covariate shift, compounding error and multi-modality. These words sound scary, but each one has a simple picture, and each has a practical fix that changes how you record data.</a:t>
            </a:r>
          </a:p>
          <a:p/>
          <a:p>
            <a:r>
              <a:t>Third, ACT, the policy you will actually train in Lab 10: what goes in, what comes out, and what it needs from you. And fourth, the practical one: your pod will leave today with a written plan for a fifty-episode dataset. That plan is what you execute next week, so it needs to be good.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challenge. In pairs, you have sixty seconds. Write the reward function for "pick the cube and place it in the bin". You know how from Lesson 5: physics, then a measurable quantity, then a reward term. Go.</a:t>
            </a:r>
          </a:p>
          <a:p/>
          <a:p>
            <a:r>
              <a:t>Okay, stop. What did you come up with? Let me guess some of it, on the left. Get the gripper close to the cube. Close the gripper at the right moment, not too early. Lift it above some height. Carry it towards the bin. Open the gripper when it's over the bin. And then all the penalties: don't knock the cube off the table, don't flail, don't jitter. Already that's six or seven terms with weights to tune, and remember Lesson 5: the robot might still find a way to flick the cube into the bin and collect the reward.</a:t>
            </a:r>
          </a:p>
          <a:p/>
          <a:p>
            <a:r>
              <a:t>Now look at the right. The alternative is that one of you takes the leader arm and simply does the task. Fifty times. The follower records every motion. No reward, no weights, no simulator. The recorded actions become the answer key. That's the deal imitation learning offers, and today we'll see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We'll take apart the simplest form of imitation learning, behaviour cloning, and set it side by side with the RL you already know, so you can see exactly what changes and what stays the same.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behaviour cloning in one picture, and the good news is that you already know every part of it.</a:t>
            </a:r>
          </a:p>
          <a:p/>
          <a:p>
            <a:r>
              <a:t>On the left is one recorded frame from a demonstration: what the front camera saw, what the wrist camera saw, and the six joint positions at that instant. That's the input. It goes into the policy network, which predicts an action: six joint targets.</a:t>
            </a:r>
          </a:p>
          <a:p/>
          <a:p>
            <a:r>
              <a:t>Now the important part. We also recorded what the human actually did at that instant: the leader arm's position, which became the follower's target. That's the label. The loss measures how far the prediction is from the label, and training nudges the network so the two get closer. Then the next frame, and the next, thousands of times.</a:t>
            </a:r>
          </a:p>
          <a:p/>
          <a:p>
            <a:r>
              <a:t>If you squint, this is exactly the image classifier from your supervised learning module. Input, prediction, label, loss, update. The only differences are that the input is a robot's view of the world and the label is a motion instead of a class. And look at what's missing: there's no reward anywhere in this picture. The human's recorded action is the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compute a loss on one real-looking frame, so this isn't abstract. These six rows are the six joints. The recorded column is what the human did; the predicted column is what the network said. The values are in the arm's calibrated units, degrees for the joints and zero to a hundred for the gripper, and the numbers are made up but realistic.</a:t>
            </a:r>
          </a:p>
          <a:p/>
          <a:p>
            <a:r>
              <a:t>Take the absolute difference on each row. Zero point eight, one point five, one point zero, one point five, zero point five, and five point zero for the gripper. Add them up: ten point three. Divide by six: about one point seven. That's the L1 loss for this frame, the average absolute error, and it's the loss ACT uses for its actions.</a:t>
            </a:r>
          </a:p>
          <a:p/>
          <a:p>
            <a:r>
              <a:t>Now notice where the biggest error is: the gripper. The network wanted to close five units less than the human did. In loss terms that's one row out of six. On the real arm, that could be the difference between holding the cube and dropping it. Keep that in mind for Lesson 11: a small average loss can still hide the one error that matters.</a:t>
            </a:r>
          </a:p>
          <a:p/>
          <a:p>
            <a:r>
              <a:t>And at the bottom: training does this for every frame in the dataset. Fifty episodes of twenty seconds at thirty frames per second is thirty thousand labelled examples. You worked that number out back in Lesson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you've done both, let's put them side by side. This table is very likely to appear in Test 2 in some form, so it's worth making sure every row makes sense to you.</a:t>
            </a:r>
          </a:p>
          <a:p/>
          <a:p>
            <a:r>
              <a:t>What you write: in RL you wrote a reward function; in IL you record a dataset. Where the data comes from: in RL the robot generates it by trying, in simulation; in IL a human generates it by demonstrating, on the real arm or in simulation. Where the compute goes: RL burns millions of simulated steps on a GPU full of parallel arms; IL is a few hours of ordinary supervised training on one GPU.</a:t>
            </a:r>
          </a:p>
          <a:p/>
          <a:p>
            <a:r>
              <a:t>How each fails is the interesting row. RL fails by reward hacking: it optimises exactly what you wrote. IL fails by copying: it copies your mistakes, and it gets lost when it ends up somewhere you never demonstrated. And what limits each one: for RL, how well you can design the reward and the simulator, and the sim-to-real gap you fought last week. For IL, the quality and coverage of your demonstrations. Which means, in imitation learning, you are the dataset. Your recording discipline next week is the whole game.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big reason imitation learning is so popular for low-cost arms like ours. Think back to last week. We spent the whole of Lesson 7 worrying about backlash, friction, delay and how the simulator differs from reality, and trying to train around all of it with randomisation.</a:t>
            </a:r>
          </a:p>
          <a:p/>
          <a:p>
            <a:r>
              <a:t>When you record a demonstration on the real arm, all of those things are simply already there. The backlash is in the recording: when you reversed the leader arm, the follower lagged, and that lag is in the data. The friction, the load-dependent response, the delay in the loop, the real camera's colours and blur: all recorded. The policy learns from the real machine, warts and all, so there's nothing to model and nothing to randomise.</a:t>
            </a:r>
          </a:p>
          <a:p/>
          <a:p>
            <a:r>
              <a:t>That's why on a real SO-101, imitation learning usually gets you to a working pick-and-place much faster than RL does.</a:t>
            </a:r>
          </a:p>
          <a:p/>
          <a:p>
            <a:r>
              <a:t>But look at the bottom. There's a catch, and it's a big one. The policy can only be as good as the demonstrations, and it only knows what to do in places the demonstrations went. Ask yourself: what happens when it ends up somewhere you never showed it? That's Part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that the comparison has landed. Three tasks. For each, RL or imitation learning? Vote by hand, and be ready to give one reason.</a:t>
            </a:r>
          </a:p>
          <a:p/>
          <a:p>
            <a:r>
              <a:t>Task A: reach a point you type in, using joint readings only. That's RL, and in fact you already did it. Everything the policy observes can be measured on the real arm, the reward is easy to write, it's just distance, and the simulation is good enough. Imitation would work too, but you'd need hundreds of demonstrations to cover every possible target.</a:t>
            </a:r>
          </a:p>
          <a:p/>
          <a:p>
            <a:r>
              <a:t>Task B: fold a small towel. That's imitation learning, and it's not close. Cloth is very hard to simulate well, and try writing a reward for "neatly folded"! But a person can show it in seconds.</a:t>
            </a:r>
          </a:p>
          <a:p/>
          <a:p>
            <a:r>
              <a:t>Task C: pick a cube from anywhere on the grid and put it in the bin, using the cameras. For this unit, imitation learning. RL would need either a camera-based pose estimator, which we said in Lesson 7 is out of scope, or would have to learn from simulated images, which brings in the appearance gap. With demonstrations on the real arm, the real camera images are in the data. Good: that's exactly the task you'll record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from the break. Part one made imitation learning sound easy: record, train, done. Part two is the honest version. Three problems, each with a simple picture, and each with a fix that changes how you'll record data next week.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idea in today's lesson, so let's go slowly.</a:t>
            </a:r>
          </a:p>
          <a:p/>
          <a:p>
            <a:r>
              <a:t>The green band shows where your demonstrations went. Fifty times, you moved the arm along roughly this path from the start to the cube. The policy has seen thousands of frames inside that band, so inside the band it knows what to do.</a:t>
            </a:r>
          </a:p>
          <a:p/>
          <a:p>
            <a:r>
              <a:t>Now follow the red dots. The policy starts well, copying nicely. Then it makes a small error, maybe a centimetre, nothing dramatic. But now look where the arm is: just outside the band. No demonstration ever passed through this exact spot. So the next action is a guess, and a guess is usually a bit worse, which takes it further from the band, where the next guess is worse again. The errors snowball. That's what we call compounding error.</a:t>
            </a:r>
          </a:p>
          <a:p/>
          <a:p>
            <a:r>
              <a:t>The name for the underlying cause is covariate shift. A fancy phrase for a simple thing: the situations the policy meets when it drives are different from the situations in the training data, because its own mistakes take it there. In supervised learning on photos, a wrong prediction doesn't change the next photo. On a robot, every wrong action changes the next observation. That's why this is a robotics problem, and not one you met in the diploma.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fight covariate shift? Every fix is the same idea in a different form: put data where the policy actually goes.</a:t>
            </a:r>
          </a:p>
          <a:p/>
          <a:p>
            <a:r>
              <a:t>Fix one, coverage. Make the green band wider by spreading your episodes over every starting position you'll test. That's the coverage rule from Lesson 3: ten episodes at each of five grid positions. If you record all fifty from the same spot, the band is thin and any small error leaves it.</a:t>
            </a:r>
          </a:p>
          <a:p/>
          <a:p>
            <a:r>
              <a:t>Fix two, recovery demonstrations. Deliberately start a few episodes slightly off, say the arm a little to the side, and show the correction back. Now the data contains examples of getting back on track. Just a handful helps; don't overdo it, or the policy learns to wander.</a:t>
            </a:r>
          </a:p>
          <a:p/>
          <a:p>
            <a:r>
              <a:t>Fix three is the clever one, and you'll use it in Lab 12. Correction rounds, known in the research world as DAgger. Let the trained policy drive. When it starts to drift, a human takes over with the leader arm and shows the fix. Those correction frames go into the dataset, and you retrain. Notice what that achieves: the new data comes exactly from the states the policy itself gets into, which is the precise cure for covariate shift.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number two is sneakier. Imagine there's a block between the start and the goal. Half of your pod's demonstrations went over the top of it, say ten centimetres to the left. The other half went underneath, ten centimetres to the right. Both are perfectly good demonstrations.</a:t>
            </a:r>
          </a:p>
          <a:p/>
          <a:p>
            <a:r>
              <a:t>Now remember how the loss works: the network is pushed towards predictions close to the labels. When the labels at the same situation say "plus ten" half the time and "minus ten" the other half, the prediction that keeps the average loss low is in the middle. Plus ten and minus ten average to zero. And zero goes straight into the block.</a:t>
            </a:r>
          </a:p>
          <a:p/>
          <a:p>
            <a:r>
              <a:t>This is called multi-modality: the data has more than one good answer, more than one mode, and a simple model averages them into a bad one. It happens with grasps too: if some demos grab the cube from the left side and some from the right, a simple policy may reach for the middle and grab nothing.</a:t>
            </a:r>
          </a:p>
          <a:p/>
          <a:p>
            <a:r>
              <a:t>There are two fixes. The data fix, which you control completely: use one consistent strategy. That's the L3 rule, and now you know the reason behind it. And the model fix: use policies that can represent several modes, like ACT's style variable or Diffusion Policy, both coming up in Part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trick that makes modern imitation learning on cheap arms work: action chunking.</a:t>
            </a:r>
          </a:p>
          <a:p/>
          <a:p>
            <a:r>
              <a:t>Top row: a normal policy makes a decision every single step. Every red square is a fresh decision, thirty times a second. Bottom row: a chunking policy makes one decision, but that decision is a whole sequence of future actions, the next k steps. I've drawn k as six to fit the slide; ACT's default in LeRobot is a hundred, which at thirty hertz is more than three seconds of motion from a single decision.</a:t>
            </a:r>
          </a:p>
          <a:p/>
          <a:p>
            <a:r>
              <a:t>Why does that help? Here's a toy model, on the bottom left. Pretend every decision has a one percent chance of a mistake that derails the episode. A twenty-second episode at thirty hertz is six hundred steps. Six hundred decisions, each ninety-nine percent safe: the chance of a clean episode is zero point nine nine to the power six hundred, about zero point two percent. With chunks of a hundred, there are only six decisions: zero point nine nine to the sixth is about ninety-four percent. It's a toy, real errors don't work that simply, but it shows why fewer decisions means less compounding.</a:t>
            </a:r>
          </a:p>
          <a:p/>
          <a:p>
            <a:r>
              <a:t>There are two more benefits on the right. The motion is smoother, because the whole chunk was planned as one smooth sequence. And small pauses and hesitations in your demonstrations matter less, because the policy is predicting a whole stretch of motion, not reacting to every frame. ACT also blends overlapping chunks together to smooth things further, a trick called temporal ensembling.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after the second break. Now we meet the actual policy you'll train next week, ACT. Then we'll look at the two routes for collecting its data, in simulation and on the real arm, and finish by planning your pod's dataset.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ACT, short for Action Chunking with Transformers. It was published in 2023 by Tony Zhao and colleagues, originally for a pair of low-cost arms very much like ours, and it's now one of the standard policies in LeRobot.</a:t>
            </a:r>
          </a:p>
          <a:p/>
          <a:p>
            <a:r>
              <a:t>Follow it left to right. Three inputs, the same ones you've been recording since Lesson 4: the front camera image, the wrist camera image, and the six joint positions. Each image goes through an image encoder, a ResNet-18, the kind of convolutional network you met in deep learning, which turns the picture into a set of features. The joint positions go through a small linear layer.</a:t>
            </a:r>
          </a:p>
          <a:p/>
          <a:p>
            <a:r>
              <a:t>All of that goes into the big red box, a transformer encoder and decoder. You don't need its internals for this unit; just know that it's very good at looking at everything at once and producing a sequence. And the output is a sequence: a chunk of k future joint targets, k times six numbers. The robot executes them at thirty hertz, and then ACT predicts the next chunk.</a:t>
            </a:r>
          </a:p>
          <a:p/>
          <a:p>
            <a:r>
              <a:t>One more box at the bottom: the style variable z. During training, ACT learns a small extra input that captures "which way was this demonstration done". It's how ACT copes with a bit of multi-modality. At deployment it's simply set to its average value. Don't worry about the maths; think of it as a dial for style that's left in the middle position when the arm runs.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ACT need from you? Four numbers to remember.</a:t>
            </a:r>
          </a:p>
          <a:p/>
          <a:p>
            <a:r>
              <a:t>About fifty demonstrations. LeRobot's own guide recommends at least fifty episodes, with about ten at each object position, which is exactly our five-position grid. One GPU: it trains on a single workstation GPU, and the guide says to expect several hours. That's why you'll launch training at the end of Lab 10 and let it run afterwards. A hundred: that's LeRobot's default chunk size, about three point three seconds of motion at our rate. And eighty to ninety percent: in the original paper, ACT reached eighty to ninety percent success on six real tasks, learned from only about ten minutes of demonstrations each.</a:t>
            </a:r>
          </a:p>
          <a:p/>
          <a:p>
            <a:r>
              <a:t>Now the two cards at the bottom, which are the real message. What ACT doesn't need: a reward, a simulator or a model of the servos. Everything we struggled with in Block D is gone. What it does need: clean, consistent, well-covered demonstrations. Look at that line from the LeRobot guide: you should be able to do the task yourself by looking only at the camera images. If the cube is hidden from both cameras at the moment of the grasp, the policy can't learn it, however long you train. That's why Lab 10 is mostly about recording, not about training.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 a second famous imitation-learning policy, just so you know it exists: Diffusion Policy, from Cheng Chi and colleagues, also 2023. We won't train it in this unit.</a:t>
            </a:r>
          </a:p>
          <a:p/>
          <a:p>
            <a:r>
              <a:t>You've probably seen diffusion models that generate images: they start from pure noise and clean it up step by step until a picture appears. Diffusion Policy does the same thing, but what appears is a sequence of actions. Start from random noise, refine it, refine it again, many times, and out comes a smooth trajectory.</a:t>
            </a:r>
          </a:p>
          <a:p/>
          <a:p>
            <a:r>
              <a:t>Why bother? Remember the block from Part 2, where half the demos went over and half went under. A diffusion policy doesn't average them. Depending on where its noise started, it commits to over the top or to underneath, both good answers. That's its big strength: it handles multi-modality naturally.</a:t>
            </a:r>
          </a:p>
          <a:p/>
          <a:p>
            <a:r>
              <a:t>The cost is on the right. All those refinement steps take compute every time the robot makes a decision, so it's heavier to train and slower to run. For our task, with one consistent grasp strategy, ACT is lighter and does the job, which is why we practise ACT.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demonstrations come from? There are two routes, and next week you'll touch both.</a:t>
            </a:r>
          </a:p>
          <a:p/>
          <a:p>
            <a:r>
              <a:t>The top row is the simulation route. The real leader arm drives a simulated follower in Isaac Sim, which you tried in Lab 4. You train ACT on those recordings and check the result in simulation. It's cheap, it's safe, and you can randomise the scene.</a:t>
            </a:r>
          </a:p>
          <a:p/>
          <a:p>
            <a:r>
              <a:t>The bottom row is the real-arm route, the main event of Lab 10. Record leader–follower demonstrations on the real arm, train ACT, and deploy it back on the same arm in Lab 12.</a:t>
            </a:r>
          </a:p>
          <a:p/>
          <a:p>
            <a:r>
              <a:t>So why not just do everything in simulation? The red box. The images a policy sees in simulation don't look like real camera images: the lighting is too clean, shadows are different, the table texture is wrong, the colours are a bit too perfect. That's the appearance gap from Lesson 3. A policy trained only on simulated images usually gets confused by real ones. So in practice you either train on real data, or you co-train: mix simulated and real episodes in one dataset. Co-training is an optional merit extension in the assignment, if your pod wants a challenge.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the appearance gap concrete. On the left is a frame from the simulated front camera, on the right a frame from your pod's real front camera, same scene, same cube, same arm pose.</a:t>
            </a:r>
          </a:p>
          <a:p/>
          <a:p>
            <a:r>
              <a:t>In pairs, two minutes: list three differences that a policy might notice. Not "it looks fake": be specific, the way a network would see it.</a:t>
            </a:r>
          </a:p>
          <a:p/>
          <a:p>
            <a:r>
              <a:t>Here's what usually comes up, and it's on the bottom of the slide. Lighting and shadows: the simulator's light is even, the lab has ceiling lights and a window. Table texture: the simulated table is a flat colour, your grid mat has lines, marks and reflections. The cube's colour: real red under fluorescent light isn't the simulator's red. Camera blur and noise, especially when the arm moves fast. Background clutter: bags, cables, people walking past. And the arm itself: cables, screws, a slightly different shade of plastic.</a:t>
            </a:r>
          </a:p>
          <a:p/>
          <a:p>
            <a:r>
              <a:t>Every one of these is something the network could latch onto. And by the way, this exact comparison is one of your sim-station tasks next week, so you'll do it properly with your own frames.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you'll launch ACT training, so here's the vocabulary you'll see on the screen.</a:t>
            </a:r>
          </a:p>
          <a:p/>
          <a:p>
            <a:r>
              <a:t>A step is one update of the network, using one batch: a handful of training samples picked at random from the dataset. A checkpoint is a saved copy of the network, written every so many steps. Please keep several checkpoints, not just the last one, because in Lab 12 you'll compare them on the real arm.</a:t>
            </a:r>
          </a:p>
          <a:p/>
          <a:p>
            <a:r>
              <a:t>Now the chart. It's illustrative, but it's the shape you'll see. The blue line is the training loss, measured on the episodes the network trains on, and it keeps going down. The red line is the validation loss, measured on a few episodes held back. It falls, then flattens out, and after a while it may even creep up a little: the network has started memorising the training episodes rather than learning the task.</a:t>
            </a:r>
          </a:p>
          <a:p/>
          <a:p>
            <a:r>
              <a:t>And now the red card on the right, which is the key warning for this whole block. A low validation loss does not guarantee the arm succeeds. Remember the gripper in the worked example: a tiny average error, and the one error that mattered. In Lesson 11 we'll see that the checkpoint with the lowest loss is not always the one that picks up the cube most often. The arm, not the curve, has the final say.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worked example, and it carries a warning.</a:t>
            </a:r>
          </a:p>
          <a:p/>
          <a:p>
            <a:r>
              <a:t>Your dataset: fifty episodes, each twenty seconds at thirty frames per second, so six hundred frames each. Fifty times six hundred is thirty thousand frames.</a:t>
            </a:r>
          </a:p>
          <a:p/>
          <a:p>
            <a:r>
              <a:t>Your training run, using example settings: a hundred thousand steps, with a batch of eight samples per step. A hundred thousand times eight is eight hundred thousand samples seen in total.</a:t>
            </a:r>
          </a:p>
          <a:p/>
          <a:p>
            <a:r>
              <a:t>Divide one by the other: eight hundred thousand over thirty thousand is about twenty-seven. So over a full run, the network sees every frame of your dataset roughly twenty-seven times. Each full pass is called an epoch.</a:t>
            </a:r>
          </a:p>
          <a:p/>
          <a:p>
            <a:r>
              <a:t>Now the warning in the red box. That works both ways. A good demonstration is studied twenty-seven times, which is great. But a bad demonstration, the one where you hesitated, or regrasped, or knocked the cube, is also studied twenty-seven times. Training can't tell good from bad; it just copies. That's why the reviewer role in Lab 10 matters so much: every episode the reviewer throws out is an episode the network never learns to copy. Read your own steps and batch size in your training config; the arithmetic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turn all of this into a plan. Each pod, fifteen minutes. Fill in these six boxes on the worksheet, and hand it in before you leave. Lab 10 starts with each pod presenting its plan in one minute, and I check it before anyone records.</a:t>
            </a:r>
          </a:p>
          <a:p/>
          <a:p>
            <a:r>
              <a:t>Let me give you a few things to think about for each box. Grid: which five positions, and how many episodes at each? Ten each is the default. Strategy: describe your one grasp in a sentence, side, approach direction, how far the gripper opens, so that every operator does the same thing. Remember the block-and-average problem. Cameras: where exactly are the front and wrist cameras, and can you see the cube in at least one of them at the moment of the grasp? Roles: who operates, who resets the scene, who reviews, and when do you rotate? Discard rules: write them down as rules, not feelings: a pause longer than a second, a regrasp, a knock. And target count: fifty kept episodes, so plan for some extra recordings to replace the ones the reviewer throws out.</a:t>
            </a:r>
          </a:p>
          <a:p/>
          <a:p>
            <a:r>
              <a:t>I'll walk round. The most common mistake I see is a vague strategy box. "Pick up the cube" isn't a strategy. "Approach from above, centred, gripper fully open, close once" 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quick questions before you go, on your own, about five minutes. The last one is your pod's plan, which you've just written.</a:t>
            </a:r>
          </a:p>
          <a:p/>
          <a:p>
            <a:r>
              <a:t>What I'm looking for. One: in behaviour cloning, the label is the recorded action, what the human did in that frame. Two: covariate shift in two sentences, something like "a small error puts the robot in a state that no demonstration visited. There the policy guesses, the errors get bigger, and they snowball." Three: ACT outputs a chunk of future joint targets, k steps of six numbers, not a single action.</a:t>
            </a:r>
          </a:p>
          <a:p/>
          <a:p>
            <a:r>
              <a:t>Thank you, everyone. Next week the arms will be busy: fifty good episodes per pod. Come rested, and bring your calibration files.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next week. This lab is weighted towards the arm station, so most of your time is recording.</a:t>
            </a:r>
          </a:p>
          <a:p/>
          <a:p>
            <a:r>
              <a:t>At the arm station: about fifty episodes, ten at each of the five grid positions, with your one consistent grasp strategy. The roles rotate: operator, scene reset and reviewer. The reviewer marks every episode keep or discard on the spot, using your written rules, and discarded episodes get re-recorded. Then you write the datasheet, and launch ACT training, which keeps running after the lab.</a:t>
            </a:r>
          </a:p>
          <a:p/>
          <a:p>
            <a:r>
              <a:t>When you're not at the arm, you're at the sim station on your own PC: record about ten simulated demonstrations of the same task, then put a simulated frame next to a real one and list the differences, the spot-the-difference exercise from today, for real.</a:t>
            </a:r>
          </a:p>
          <a:p/>
          <a:p>
            <a:r>
              <a:t>What you need to have at the end: the curated dataset, the datasheet and discard log, and ACT training running with a first screenshot of its loss curve. The datasheet is part of Assignment Part A, so it counts. Bring your plan and your calibration files from Lab 2. See you next week.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wants to go deeper. If you read only one, read the ACT paper's introduction: it's short, very clear, and it's about cheap arms just like ours. The DAgger paper is the classic on correction rounds; skim the introduction for the idea, skip the proofs. And the LeRobot imitation-learning guide is what you'll follow in the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a:bodyPr>
          <a:lstStyle/>
          <a:p>
            <a:pPr marL="0" indent="0">
              <a:lnSpc>
                <a:spcPct val="110000"/>
              </a:lnSpc>
              <a:spcAft>
                <a:spcPts val="600"/>
              </a:spcAft>
              <a:buNone/>
            </a:pPr>
            <a:r>
              <a:rPr lang="en-SG" sz="4800" dirty="0"/>
              <a:t>Imitation Learning I</a:t>
            </a:r>
          </a:p>
          <a:p>
            <a:pPr marL="0" indent="0">
              <a:buNone/>
            </a:pPr>
            <a:r>
              <a:rPr sz="2000" b="1">
                <a:solidFill>
                  <a:srgbClr val="164194"/>
                </a:solidFill>
              </a:rPr>
              <a:t>Learning from</a:t>
            </a:r>
          </a:p>
          <a:p>
            <a:pPr marL="0" indent="0">
              <a:buNone/>
            </a:pPr>
            <a:r>
              <a:rPr sz="2000" b="1">
                <a:solidFill>
                  <a:srgbClr val="164194"/>
                </a:solidFill>
              </a:rPr>
              <a:t>demonstrations</a:t>
            </a:r>
          </a:p>
          <a:p>
            <a:pPr marL="0" indent="0">
              <a:buNone/>
            </a:pPr>
            <a:r>
              <a:rPr sz="1400" b="0">
                <a:solidFill>
                  <a:srgbClr val="5B6275"/>
                </a:solidFill>
              </a:rPr>
              <a:t>Data Acquisition &amp; Policy Learning · Lesson 9</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are: Block E · imitation learning from demonstrations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834640" y="180136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Simulate</a:t>
            </a:r>
          </a:p>
        </p:txBody>
      </p:sp>
      <p:sp>
        <p:nvSpPr>
          <p:cNvPr id="8" name="Rounded Rectangle 7"/>
          <p:cNvSpPr/>
          <p:nvPr/>
        </p:nvSpPr>
        <p:spPr>
          <a:xfrm>
            <a:off x="4297680" y="2651760"/>
            <a:ext cx="1463040" cy="603504"/>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Collect data</a:t>
            </a:r>
          </a:p>
        </p:txBody>
      </p:sp>
      <p:sp>
        <p:nvSpPr>
          <p:cNvPr id="9" name="Rounded Rectangle 8"/>
          <p:cNvSpPr/>
          <p:nvPr/>
        </p:nvSpPr>
        <p:spPr>
          <a:xfrm>
            <a:off x="4297680" y="4343400"/>
            <a:ext cx="1463040" cy="603504"/>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Train</a:t>
            </a:r>
          </a:p>
        </p:txBody>
      </p:sp>
      <p:sp>
        <p:nvSpPr>
          <p:cNvPr id="10" name="Rounded Rectangle 9"/>
          <p:cNvSpPr/>
          <p:nvPr/>
        </p:nvSpPr>
        <p:spPr>
          <a:xfrm>
            <a:off x="2834640" y="518464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Evaluate</a:t>
            </a:r>
          </a:p>
        </p:txBody>
      </p:sp>
      <p:sp>
        <p:nvSpPr>
          <p:cNvPr id="11" name="Rounded Rectangle 10"/>
          <p:cNvSpPr/>
          <p:nvPr/>
        </p:nvSpPr>
        <p:spPr>
          <a:xfrm>
            <a:off x="1371600" y="4343400"/>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Deploy</a:t>
            </a:r>
          </a:p>
        </p:txBody>
      </p:sp>
      <p:sp>
        <p:nvSpPr>
          <p:cNvPr id="12" name="Rounded Rectangle 11"/>
          <p:cNvSpPr/>
          <p:nvPr/>
        </p:nvSpPr>
        <p:spPr>
          <a:xfrm>
            <a:off x="1371600" y="2651760"/>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Improve</a:t>
            </a:r>
          </a:p>
        </p:txBody>
      </p:sp>
      <p:cxnSp>
        <p:nvCxnSpPr>
          <p:cNvPr id="13" name="Connector 12"/>
          <p:cNvCxnSpPr/>
          <p:nvPr/>
        </p:nvCxnSpPr>
        <p:spPr>
          <a:xfrm>
            <a:off x="4032504" y="2377440"/>
            <a:ext cx="530352" cy="310896"/>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29200" y="3310128"/>
            <a:ext cx="0" cy="987552"/>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032504" y="4956048"/>
            <a:ext cx="530352" cy="274320"/>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569464" y="4956048"/>
            <a:ext cx="530352" cy="274320"/>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3120" y="3310128"/>
            <a:ext cx="0" cy="987552"/>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9464" y="2377440"/>
            <a:ext cx="530352" cy="310896"/>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560320" y="3474720"/>
            <a:ext cx="2011680" cy="64008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Physical AI</a:t>
            </a:r>
          </a:p>
          <a:p>
            <a:pPr algn="ctr"/>
            <a:r>
              <a:rPr sz="1400" b="0" i="0">
                <a:solidFill>
                  <a:srgbClr val="5B6275"/>
                </a:solidFill>
              </a:rPr>
              <a:t>lifecycle</a:t>
            </a:r>
          </a:p>
        </p:txBody>
      </p:sp>
      <p:sp>
        <p:nvSpPr>
          <p:cNvPr id="20" name="Rounded Rectangle 19"/>
          <p:cNvSpPr/>
          <p:nvPr/>
        </p:nvSpPr>
        <p:spPr>
          <a:xfrm>
            <a:off x="6675120" y="1508760"/>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A</a:t>
            </a:r>
          </a:p>
        </p:txBody>
      </p:sp>
      <p:sp>
        <p:nvSpPr>
          <p:cNvPr id="21" name="Rectangle 20"/>
          <p:cNvSpPr/>
          <p:nvPr/>
        </p:nvSpPr>
        <p:spPr>
          <a:xfrm>
            <a:off x="7269480" y="149047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Foundations   L1–L2</a:t>
            </a:r>
          </a:p>
        </p:txBody>
      </p:sp>
      <p:sp>
        <p:nvSpPr>
          <p:cNvPr id="22" name="Rounded Rectangle 21"/>
          <p:cNvSpPr/>
          <p:nvPr/>
        </p:nvSpPr>
        <p:spPr>
          <a:xfrm>
            <a:off x="6675120" y="2130552"/>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B</a:t>
            </a:r>
          </a:p>
        </p:txBody>
      </p:sp>
      <p:sp>
        <p:nvSpPr>
          <p:cNvPr id="23" name="Rectangle 22"/>
          <p:cNvSpPr/>
          <p:nvPr/>
        </p:nvSpPr>
        <p:spPr>
          <a:xfrm>
            <a:off x="7269480" y="211226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Collecting robot data   L3–L4</a:t>
            </a:r>
          </a:p>
        </p:txBody>
      </p:sp>
      <p:sp>
        <p:nvSpPr>
          <p:cNvPr id="24" name="Rounded Rectangle 23"/>
          <p:cNvSpPr/>
          <p:nvPr/>
        </p:nvSpPr>
        <p:spPr>
          <a:xfrm>
            <a:off x="6675120" y="2752344"/>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C</a:t>
            </a:r>
          </a:p>
        </p:txBody>
      </p:sp>
      <p:sp>
        <p:nvSpPr>
          <p:cNvPr id="25" name="Rectangle 24"/>
          <p:cNvSpPr/>
          <p:nvPr/>
        </p:nvSpPr>
        <p:spPr>
          <a:xfrm>
            <a:off x="7269480" y="2734056"/>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RL in simulation   L5–L6</a:t>
            </a:r>
          </a:p>
        </p:txBody>
      </p:sp>
      <p:sp>
        <p:nvSpPr>
          <p:cNvPr id="26" name="Rounded Rectangle 25"/>
          <p:cNvSpPr/>
          <p:nvPr/>
        </p:nvSpPr>
        <p:spPr>
          <a:xfrm>
            <a:off x="6675120" y="3374136"/>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D</a:t>
            </a:r>
          </a:p>
        </p:txBody>
      </p:sp>
      <p:sp>
        <p:nvSpPr>
          <p:cNvPr id="27" name="Rectangle 26"/>
          <p:cNvSpPr/>
          <p:nvPr/>
        </p:nvSpPr>
        <p:spPr>
          <a:xfrm>
            <a:off x="7269480" y="3355848"/>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RL: sim → real arm   L7–L8</a:t>
            </a:r>
          </a:p>
        </p:txBody>
      </p:sp>
      <p:sp>
        <p:nvSpPr>
          <p:cNvPr id="28" name="Rounded Rectangle 27"/>
          <p:cNvSpPr/>
          <p:nvPr/>
        </p:nvSpPr>
        <p:spPr>
          <a:xfrm>
            <a:off x="6675120" y="3995928"/>
            <a:ext cx="502920" cy="475488"/>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E</a:t>
            </a:r>
          </a:p>
        </p:txBody>
      </p:sp>
      <p:sp>
        <p:nvSpPr>
          <p:cNvPr id="29" name="Rectangle 28"/>
          <p:cNvSpPr/>
          <p:nvPr/>
        </p:nvSpPr>
        <p:spPr>
          <a:xfrm>
            <a:off x="7269480" y="3977640"/>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Imitation learning   L9–L10</a:t>
            </a:r>
          </a:p>
        </p:txBody>
      </p:sp>
      <p:sp>
        <p:nvSpPr>
          <p:cNvPr id="30" name="Rounded Rectangle 29"/>
          <p:cNvSpPr/>
          <p:nvPr/>
        </p:nvSpPr>
        <p:spPr>
          <a:xfrm>
            <a:off x="6675120" y="4617720"/>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F</a:t>
            </a:r>
          </a:p>
        </p:txBody>
      </p:sp>
      <p:sp>
        <p:nvSpPr>
          <p:cNvPr id="31" name="Rectangle 30"/>
          <p:cNvSpPr/>
          <p:nvPr/>
        </p:nvSpPr>
        <p:spPr>
          <a:xfrm>
            <a:off x="7269480" y="459943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Evaluate &amp; deploy IL   L11–L12</a:t>
            </a:r>
          </a:p>
        </p:txBody>
      </p:sp>
      <p:sp>
        <p:nvSpPr>
          <p:cNvPr id="32" name="Rounded Rectangle 31"/>
          <p:cNvSpPr/>
          <p:nvPr/>
        </p:nvSpPr>
        <p:spPr>
          <a:xfrm>
            <a:off x="6675120" y="523951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G</a:t>
            </a:r>
          </a:p>
        </p:txBody>
      </p:sp>
      <p:sp>
        <p:nvSpPr>
          <p:cNvPr id="33" name="Rectangle 32"/>
          <p:cNvSpPr/>
          <p:nvPr/>
        </p:nvSpPr>
        <p:spPr>
          <a:xfrm>
            <a:off x="7269480" y="522122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Vision-language-action   L13–L14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 check: three questions on Lessons 7–8</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3</a:t>
            </a:fld>
            <a:endParaRPr lang="en-SG"/>
          </a:p>
        </p:txBody>
      </p:sp>
      <p:sp>
        <p:nvSpPr>
          <p:cNvPr id="7" name="Rounded Rectangle 6"/>
          <p:cNvSpPr/>
          <p:nvPr/>
        </p:nvSpPr>
        <p:spPr>
          <a:xfrm>
            <a:off x="548640" y="160020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1</a:t>
            </a:r>
          </a:p>
        </p:txBody>
      </p:sp>
      <p:sp>
        <p:nvSpPr>
          <p:cNvPr id="8" name="Rounded Rectangle 7"/>
          <p:cNvSpPr/>
          <p:nvPr/>
        </p:nvSpPr>
        <p:spPr>
          <a:xfrm>
            <a:off x="1325880" y="160020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In RL, what did the reward do? Did it ever tell the robot which action was right?</a:t>
            </a:r>
          </a:p>
        </p:txBody>
      </p:sp>
      <p:sp>
        <p:nvSpPr>
          <p:cNvPr id="9" name="Rounded Rectangle 8"/>
          <p:cNvSpPr/>
          <p:nvPr/>
        </p:nvSpPr>
        <p:spPr>
          <a:xfrm>
            <a:off x="548640" y="242316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2</a:t>
            </a:r>
          </a:p>
        </p:txBody>
      </p:sp>
      <p:sp>
        <p:nvSpPr>
          <p:cNvPr id="10" name="Rounded Rectangle 9"/>
          <p:cNvSpPr/>
          <p:nvPr/>
        </p:nvSpPr>
        <p:spPr>
          <a:xfrm>
            <a:off x="1325880" y="242316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In Lessons 5–8, what was the human's job? Did a person ever show the arm what to do?</a:t>
            </a:r>
          </a:p>
        </p:txBody>
      </p:sp>
      <p:sp>
        <p:nvSpPr>
          <p:cNvPr id="11" name="Rounded Rectangle 10"/>
          <p:cNvSpPr/>
          <p:nvPr/>
        </p:nvSpPr>
        <p:spPr>
          <a:xfrm>
            <a:off x="548640" y="324612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3</a:t>
            </a:r>
          </a:p>
        </p:txBody>
      </p:sp>
      <p:sp>
        <p:nvSpPr>
          <p:cNvPr id="12" name="Rounded Rectangle 11"/>
          <p:cNvSpPr/>
          <p:nvPr/>
        </p:nvSpPr>
        <p:spPr>
          <a:xfrm>
            <a:off x="1325880" y="324612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If a human demonstrated the task instead, what would replace the reward?</a:t>
            </a:r>
          </a:p>
        </p:txBody>
      </p:sp>
      <p:sp>
        <p:nvSpPr>
          <p:cNvPr id="13" name="TextBox 12"/>
          <p:cNvSpPr txBox="1"/>
          <p:nvPr/>
        </p:nvSpPr>
        <p:spPr>
          <a:xfrm>
            <a:off x="548640" y="4160520"/>
            <a:ext cx="11064240" cy="365760"/>
          </a:xfrm>
          <a:prstGeom prst="rect">
            <a:avLst/>
          </a:prstGeom>
          <a:noFill/>
        </p:spPr>
        <p:txBody>
          <a:bodyPr wrap="square" lIns="0" rIns="0" tIns="0" bIns="0" anchor="t">
            <a:spAutoFit/>
          </a:bodyPr>
          <a:lstStyle/>
          <a:p>
            <a:pPr algn="l"/>
            <a:r>
              <a:rPr sz="1400" b="0" i="1">
                <a:solidFill>
                  <a:srgbClr val="5B6275"/>
                </a:solidFill>
              </a:rPr>
              <a:t>5 minutes, on paper or in the poll. We go through the answers together.</a:t>
            </a:r>
          </a:p>
        </p:txBody>
      </p:sp>
      <p:sp>
        <p:nvSpPr>
          <p:cNvPr id="14" name="Rounded Rectangle 13"/>
          <p:cNvSpPr/>
          <p:nvPr/>
        </p:nvSpPr>
        <p:spPr>
          <a:xfrm>
            <a:off x="548640" y="4754880"/>
            <a:ext cx="11064240" cy="9144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0F6E6A"/>
                </a:solidFill>
              </a:rPr>
              <a:t>On screen: </a:t>
            </a:r>
            <a:r>
              <a:rPr sz="1600" b="0" i="0">
                <a:solidFill>
                  <a:srgbClr val="1F2433"/>
                </a:solidFill>
              </a:rPr>
              <a:t>your pod's 10-episode dataset from Lab 4. Today you will see it is already imitation-learning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4</a:t>
            </a:fld>
            <a:endParaRPr lang="en-SG"/>
          </a:p>
        </p:txBody>
      </p:sp>
      <p:sp>
        <p:nvSpPr>
          <p:cNvPr id="7" name="TextBox 6"/>
          <p:cNvSpPr txBox="1"/>
          <p:nvPr/>
        </p:nvSpPr>
        <p:spPr>
          <a:xfrm>
            <a:off x="548640" y="1371600"/>
            <a:ext cx="11064240" cy="365760"/>
          </a:xfrm>
          <a:prstGeom prst="rect">
            <a:avLst/>
          </a:prstGeom>
          <a:noFill/>
        </p:spPr>
        <p:txBody>
          <a:bodyPr wrap="square" lIns="0" rIns="0" tIns="0" bIns="0" anchor="t">
            <a:spAutoFit/>
          </a:bodyPr>
          <a:lstStyle/>
          <a:p>
            <a:pPr algn="l"/>
            <a:r>
              <a:rPr sz="1600" b="0" i="0">
                <a:solidFill>
                  <a:srgbClr val="5B6275"/>
                </a:solidFill>
              </a:rPr>
              <a:t>By the end of this lesson you should be able to:</a:t>
            </a:r>
          </a:p>
        </p:txBody>
      </p:sp>
      <p:sp>
        <p:nvSpPr>
          <p:cNvPr id="8" name="Rounded Rectangle 7"/>
          <p:cNvSpPr/>
          <p:nvPr/>
        </p:nvSpPr>
        <p:spPr>
          <a:xfrm>
            <a:off x="548640" y="1874519"/>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Oval 8"/>
          <p:cNvSpPr/>
          <p:nvPr/>
        </p:nvSpPr>
        <p:spPr>
          <a:xfrm>
            <a:off x="822959" y="219456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1</a:t>
            </a:r>
          </a:p>
        </p:txBody>
      </p:sp>
      <p:sp>
        <p:nvSpPr>
          <p:cNvPr id="10" name="TextBox 9"/>
          <p:cNvSpPr txBox="1"/>
          <p:nvPr/>
        </p:nvSpPr>
        <p:spPr>
          <a:xfrm>
            <a:off x="1737360" y="2148839"/>
            <a:ext cx="4023360" cy="1371600"/>
          </a:xfrm>
          <a:prstGeom prst="rect">
            <a:avLst/>
          </a:prstGeom>
          <a:noFill/>
        </p:spPr>
        <p:txBody>
          <a:bodyPr wrap="square" lIns="0" rIns="0" tIns="0" bIns="0" anchor="t">
            <a:spAutoFit/>
          </a:bodyPr>
          <a:lstStyle/>
          <a:p>
            <a:pPr algn="l">
              <a:spcAft>
                <a:spcPts val="400"/>
              </a:spcAft>
            </a:pPr>
            <a:r>
              <a:rPr sz="1800" b="1" i="0">
                <a:solidFill>
                  <a:srgbClr val="164194"/>
                </a:solidFill>
              </a:rPr>
              <a:t>Explain cloning</a:t>
            </a:r>
          </a:p>
          <a:p>
            <a:pPr algn="l"/>
            <a:r>
              <a:rPr sz="1500" b="0" i="0">
                <a:solidFill>
                  <a:srgbClr val="1F2433"/>
                </a:solidFill>
              </a:rPr>
              <a:t>behaviour cloning as supervised learning on observation–action pairs</a:t>
            </a:r>
          </a:p>
        </p:txBody>
      </p:sp>
      <p:sp>
        <p:nvSpPr>
          <p:cNvPr id="11" name="Rounded Rectangle 10"/>
          <p:cNvSpPr/>
          <p:nvPr/>
        </p:nvSpPr>
        <p:spPr>
          <a:xfrm>
            <a:off x="6172200" y="1874519"/>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Oval 11"/>
          <p:cNvSpPr/>
          <p:nvPr/>
        </p:nvSpPr>
        <p:spPr>
          <a:xfrm>
            <a:off x="6446520" y="2194560"/>
            <a:ext cx="685800" cy="685800"/>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2</a:t>
            </a:r>
          </a:p>
        </p:txBody>
      </p:sp>
      <p:sp>
        <p:nvSpPr>
          <p:cNvPr id="13" name="TextBox 12"/>
          <p:cNvSpPr txBox="1"/>
          <p:nvPr/>
        </p:nvSpPr>
        <p:spPr>
          <a:xfrm>
            <a:off x="7360920" y="2148839"/>
            <a:ext cx="4023360" cy="1371600"/>
          </a:xfrm>
          <a:prstGeom prst="rect">
            <a:avLst/>
          </a:prstGeom>
          <a:noFill/>
        </p:spPr>
        <p:txBody>
          <a:bodyPr wrap="square" lIns="0" rIns="0" tIns="0" bIns="0" anchor="t">
            <a:spAutoFit/>
          </a:bodyPr>
          <a:lstStyle/>
          <a:p>
            <a:pPr algn="l">
              <a:spcAft>
                <a:spcPts val="400"/>
              </a:spcAft>
            </a:pPr>
            <a:r>
              <a:rPr sz="1800" b="1" i="0">
                <a:solidFill>
                  <a:srgbClr val="0F6E6A"/>
                </a:solidFill>
              </a:rPr>
              <a:t>Name the traps</a:t>
            </a:r>
          </a:p>
          <a:p>
            <a:pPr algn="l"/>
            <a:r>
              <a:rPr sz="1500" b="0" i="0">
                <a:solidFill>
                  <a:srgbClr val="1F2433"/>
                </a:solidFill>
              </a:rPr>
              <a:t>covariate shift, compounding error and multi-modality, and how chunking and coverage help</a:t>
            </a:r>
          </a:p>
        </p:txBody>
      </p:sp>
      <p:sp>
        <p:nvSpPr>
          <p:cNvPr id="14" name="Rounded Rectangle 13"/>
          <p:cNvSpPr/>
          <p:nvPr/>
        </p:nvSpPr>
        <p:spPr>
          <a:xfrm>
            <a:off x="548640" y="3886200"/>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Oval 14"/>
          <p:cNvSpPr/>
          <p:nvPr/>
        </p:nvSpPr>
        <p:spPr>
          <a:xfrm>
            <a:off x="822959" y="4206240"/>
            <a:ext cx="685800" cy="68580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3</a:t>
            </a:r>
          </a:p>
        </p:txBody>
      </p:sp>
      <p:sp>
        <p:nvSpPr>
          <p:cNvPr id="16" name="TextBox 15"/>
          <p:cNvSpPr txBox="1"/>
          <p:nvPr/>
        </p:nvSpPr>
        <p:spPr>
          <a:xfrm>
            <a:off x="1737360" y="4160520"/>
            <a:ext cx="4023360" cy="1371600"/>
          </a:xfrm>
          <a:prstGeom prst="rect">
            <a:avLst/>
          </a:prstGeom>
          <a:noFill/>
        </p:spPr>
        <p:txBody>
          <a:bodyPr wrap="square" lIns="0" rIns="0" tIns="0" bIns="0" anchor="t">
            <a:spAutoFit/>
          </a:bodyPr>
          <a:lstStyle/>
          <a:p>
            <a:pPr algn="l">
              <a:spcAft>
                <a:spcPts val="400"/>
              </a:spcAft>
            </a:pPr>
            <a:r>
              <a:rPr sz="1800" b="1" i="0">
                <a:solidFill>
                  <a:srgbClr val="E30613"/>
                </a:solidFill>
              </a:rPr>
              <a:t>Describe ACT</a:t>
            </a:r>
          </a:p>
          <a:p>
            <a:pPr algn="l"/>
            <a:r>
              <a:rPr sz="1500" b="0" i="0">
                <a:solidFill>
                  <a:srgbClr val="1F2433"/>
                </a:solidFill>
              </a:rPr>
              <a:t>ACT's inputs, outputs and training needs</a:t>
            </a:r>
          </a:p>
        </p:txBody>
      </p:sp>
      <p:sp>
        <p:nvSpPr>
          <p:cNvPr id="17" name="Rounded Rectangle 16"/>
          <p:cNvSpPr/>
          <p:nvPr/>
        </p:nvSpPr>
        <p:spPr>
          <a:xfrm>
            <a:off x="6172200" y="3886200"/>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Oval 17"/>
          <p:cNvSpPr/>
          <p:nvPr/>
        </p:nvSpPr>
        <p:spPr>
          <a:xfrm>
            <a:off x="6446520" y="420624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4</a:t>
            </a:r>
          </a:p>
        </p:txBody>
      </p:sp>
      <p:sp>
        <p:nvSpPr>
          <p:cNvPr id="19" name="TextBox 18"/>
          <p:cNvSpPr txBox="1"/>
          <p:nvPr/>
        </p:nvSpPr>
        <p:spPr>
          <a:xfrm>
            <a:off x="7360920" y="4160520"/>
            <a:ext cx="4023360" cy="1371600"/>
          </a:xfrm>
          <a:prstGeom prst="rect">
            <a:avLst/>
          </a:prstGeom>
          <a:noFill/>
        </p:spPr>
        <p:txBody>
          <a:bodyPr wrap="square" lIns="0" rIns="0" tIns="0" bIns="0" anchor="t">
            <a:spAutoFit/>
          </a:bodyPr>
          <a:lstStyle/>
          <a:p>
            <a:pPr algn="l">
              <a:spcAft>
                <a:spcPts val="400"/>
              </a:spcAft>
            </a:pPr>
            <a:r>
              <a:rPr sz="1800" b="1" i="0">
                <a:solidFill>
                  <a:srgbClr val="164194"/>
                </a:solidFill>
              </a:rPr>
              <a:t>Plan the data</a:t>
            </a:r>
          </a:p>
          <a:p>
            <a:pPr algn="l"/>
            <a:r>
              <a:rPr sz="1500" b="0" i="0">
                <a:solidFill>
                  <a:srgbClr val="1F2433"/>
                </a:solidFill>
              </a:rPr>
              <a:t>a 50-episode dataset for your pod's pick-and-place task, in simulation and on the 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 write the reward for pick-and-place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5</a:t>
            </a:fld>
            <a:endParaRPr lang="en-SG"/>
          </a:p>
        </p:txBody>
      </p:sp>
      <p:sp>
        <p:nvSpPr>
          <p:cNvPr id="7" name="Rounded Rectangle 6"/>
          <p:cNvSpPr/>
          <p:nvPr/>
        </p:nvSpPr>
        <p:spPr>
          <a:xfrm>
            <a:off x="548640" y="1508760"/>
            <a:ext cx="1106424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Pairs, 60 seconds: write the reward for “pick the cube and place it in the bin”.</a:t>
            </a:r>
          </a:p>
        </p:txBody>
      </p:sp>
      <p:sp>
        <p:nvSpPr>
          <p:cNvPr id="8" name="Rounded Rectangle 7"/>
          <p:cNvSpPr/>
          <p:nvPr/>
        </p:nvSpPr>
        <p:spPr>
          <a:xfrm>
            <a:off x="548640" y="2240280"/>
            <a:ext cx="5440680" cy="36118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01168" bIns="201168"/>
          <a:lstStyle/>
          <a:p>
            <a:pPr algn="l">
              <a:spcAft>
                <a:spcPts val="800"/>
              </a:spcAft>
            </a:pPr>
            <a:r>
              <a:rPr sz="1800" b="1" i="0">
                <a:solidFill>
                  <a:srgbClr val="E30613"/>
                </a:solidFill>
              </a:rPr>
              <a:t>Option 1 · write a reward</a:t>
            </a:r>
          </a:p>
          <a:p>
            <a:pPr algn="l">
              <a:spcAft>
                <a:spcPts val="300"/>
              </a:spcAft>
            </a:pPr>
            <a:r>
              <a:rPr sz="1500" b="0" i="0">
                <a:solidFill>
                  <a:srgbClr val="1F2433"/>
                </a:solidFill>
              </a:rPr>
              <a:t>get the gripper close to the cube</a:t>
            </a:r>
          </a:p>
          <a:p>
            <a:pPr algn="l">
              <a:spcAft>
                <a:spcPts val="300"/>
              </a:spcAft>
            </a:pPr>
            <a:r>
              <a:rPr sz="1500" b="0" i="0">
                <a:solidFill>
                  <a:srgbClr val="1F2433"/>
                </a:solidFill>
              </a:rPr>
              <a:t>close the gripper at the right moment</a:t>
            </a:r>
          </a:p>
          <a:p>
            <a:pPr algn="l">
              <a:spcAft>
                <a:spcPts val="300"/>
              </a:spcAft>
            </a:pPr>
            <a:r>
              <a:rPr sz="1500" b="0" i="0">
                <a:solidFill>
                  <a:srgbClr val="1F2433"/>
                </a:solidFill>
              </a:rPr>
              <a:t>lift above a height threshold</a:t>
            </a:r>
          </a:p>
          <a:p>
            <a:pPr algn="l">
              <a:spcAft>
                <a:spcPts val="300"/>
              </a:spcAft>
            </a:pPr>
            <a:r>
              <a:rPr sz="1500" b="0" i="0">
                <a:solidFill>
                  <a:srgbClr val="1F2433"/>
                </a:solidFill>
              </a:rPr>
              <a:t>carry it towards the bin</a:t>
            </a:r>
          </a:p>
          <a:p>
            <a:pPr algn="l">
              <a:spcAft>
                <a:spcPts val="300"/>
              </a:spcAft>
            </a:pPr>
            <a:r>
              <a:rPr sz="1500" b="0" i="0">
                <a:solidFill>
                  <a:srgbClr val="1F2433"/>
                </a:solidFill>
              </a:rPr>
              <a:t>open over the bin, and only there</a:t>
            </a:r>
          </a:p>
          <a:p>
            <a:pPr algn="l">
              <a:spcAft>
                <a:spcPts val="800"/>
              </a:spcAft>
            </a:pPr>
            <a:r>
              <a:rPr sz="1500" b="0" i="0">
                <a:solidFill>
                  <a:srgbClr val="1F2433"/>
                </a:solidFill>
              </a:rPr>
              <a:t>penalties: knocking, flailing, jitter…</a:t>
            </a:r>
          </a:p>
          <a:p>
            <a:pPr algn="l"/>
            <a:r>
              <a:rPr sz="1400" b="1" i="0">
                <a:solidFill>
                  <a:srgbClr val="E30613"/>
                </a:solidFill>
              </a:rPr>
              <a:t>…and it may still flick the cube in (Lesson 5).</a:t>
            </a:r>
          </a:p>
        </p:txBody>
      </p:sp>
      <p:sp>
        <p:nvSpPr>
          <p:cNvPr id="9" name="Rounded Rectangle 8"/>
          <p:cNvSpPr/>
          <p:nvPr/>
        </p:nvSpPr>
        <p:spPr>
          <a:xfrm>
            <a:off x="6172200" y="2240280"/>
            <a:ext cx="5440680" cy="36118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01168" bIns="201168"/>
          <a:lstStyle/>
          <a:p>
            <a:pPr algn="l">
              <a:spcAft>
                <a:spcPts val="800"/>
              </a:spcAft>
            </a:pPr>
            <a:r>
              <a:rPr sz="1800" b="1" i="0">
                <a:solidFill>
                  <a:srgbClr val="0F6E6A"/>
                </a:solidFill>
              </a:rPr>
              <a:t>Option 2 · show it</a:t>
            </a:r>
          </a:p>
          <a:p>
            <a:pPr algn="l">
              <a:spcAft>
                <a:spcPts val="800"/>
              </a:spcAft>
            </a:pPr>
            <a:r>
              <a:rPr sz="1600" b="0" i="0">
                <a:solidFill>
                  <a:srgbClr val="1F2433"/>
                </a:solidFill>
              </a:rPr>
              <a:t>Hand-guide the leader arm through the task, about 50 times.</a:t>
            </a:r>
          </a:p>
          <a:p>
            <a:pPr algn="l">
              <a:spcAft>
                <a:spcPts val="800"/>
              </a:spcAft>
            </a:pPr>
            <a:r>
              <a:rPr sz="1600" b="0" i="0">
                <a:solidFill>
                  <a:srgbClr val="1F2433"/>
                </a:solidFill>
              </a:rPr>
              <a:t>The follower records every frame: what the cameras saw, where the joints were, what the arm did next.</a:t>
            </a:r>
          </a:p>
          <a:p>
            <a:pPr algn="l"/>
            <a:r>
              <a:rPr sz="1600" b="1" i="0">
                <a:solidFill>
                  <a:srgbClr val="0F6E6A"/>
                </a:solidFill>
              </a:rPr>
              <a:t>The recorded actions are the answer key. No reward, no simulator, no servo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6</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From reward to demonstration</a:t>
            </a:r>
          </a:p>
          <a:p>
            <a:pPr algn="l"/>
            <a:r>
              <a:rPr sz="1800" b="0" i="0">
                <a:solidFill>
                  <a:srgbClr val="DDE5F7"/>
                </a:solidFill>
              </a:rPr>
              <a:t>Behaviour cloning, and how it compares with RL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Behaviour cloning: supervised learning on robot frames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7</a:t>
            </a:fld>
            <a:endParaRPr lang="en-SG"/>
          </a:p>
        </p:txBody>
      </p:sp>
      <p:sp>
        <p:nvSpPr>
          <p:cNvPr id="7" name="Rounded Rectangle 6"/>
          <p:cNvSpPr/>
          <p:nvPr/>
        </p:nvSpPr>
        <p:spPr>
          <a:xfrm>
            <a:off x="548640" y="1554480"/>
            <a:ext cx="3017520" cy="3931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500" b="1" i="0">
                <a:solidFill>
                  <a:srgbClr val="164194"/>
                </a:solidFill>
              </a:rPr>
              <a:t>Observation (input)</a:t>
            </a:r>
          </a:p>
        </p:txBody>
      </p:sp>
      <p:sp>
        <p:nvSpPr>
          <p:cNvPr id="8" name="Rounded Rectangle 7"/>
          <p:cNvSpPr/>
          <p:nvPr/>
        </p:nvSpPr>
        <p:spPr>
          <a:xfrm>
            <a:off x="777240" y="2011680"/>
            <a:ext cx="2560320" cy="10058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5B6275"/>
                </a:solidFill>
              </a:rPr>
              <a:t>front camera image</a:t>
            </a:r>
          </a:p>
        </p:txBody>
      </p:sp>
      <p:sp>
        <p:nvSpPr>
          <p:cNvPr id="9" name="Rounded Rectangle 8"/>
          <p:cNvSpPr/>
          <p:nvPr/>
        </p:nvSpPr>
        <p:spPr>
          <a:xfrm>
            <a:off x="777240" y="3154680"/>
            <a:ext cx="2560320" cy="10058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5B6275"/>
                </a:solidFill>
              </a:rPr>
              <a:t>wrist camera image</a:t>
            </a:r>
          </a:p>
        </p:txBody>
      </p:sp>
      <p:sp>
        <p:nvSpPr>
          <p:cNvPr id="10" name="Rounded Rectangle 9"/>
          <p:cNvSpPr/>
          <p:nvPr/>
        </p:nvSpPr>
        <p:spPr>
          <a:xfrm>
            <a:off x="777240" y="4297680"/>
            <a:ext cx="25603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6 joint positions</a:t>
            </a:r>
          </a:p>
        </p:txBody>
      </p:sp>
      <p:cxnSp>
        <p:nvCxnSpPr>
          <p:cNvPr id="11" name="Connector 10"/>
          <p:cNvCxnSpPr/>
          <p:nvPr/>
        </p:nvCxnSpPr>
        <p:spPr>
          <a:xfrm>
            <a:off x="3611880" y="3520440"/>
            <a:ext cx="32004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977639" y="2926080"/>
            <a:ext cx="1920240" cy="11887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Policy</a:t>
            </a:r>
          </a:p>
          <a:p>
            <a:pPr algn="ctr"/>
            <a:r>
              <a:rPr sz="1300" b="0" i="0">
                <a:solidFill>
                  <a:srgbClr val="FFFFFF"/>
                </a:solidFill>
              </a:rPr>
              <a:t>network</a:t>
            </a:r>
          </a:p>
        </p:txBody>
      </p:sp>
      <p:cxnSp>
        <p:nvCxnSpPr>
          <p:cNvPr id="13" name="Connector 12"/>
          <p:cNvCxnSpPr/>
          <p:nvPr/>
        </p:nvCxnSpPr>
        <p:spPr>
          <a:xfrm flipV="1">
            <a:off x="5943600" y="2423160"/>
            <a:ext cx="320040" cy="86868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309360" y="1828800"/>
            <a:ext cx="246888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Predicted action</a:t>
            </a:r>
          </a:p>
          <a:p>
            <a:pPr algn="ctr"/>
            <a:r>
              <a:rPr sz="1300" b="0" i="0">
                <a:solidFill>
                  <a:srgbClr val="DDE5F7"/>
                </a:solidFill>
              </a:rPr>
              <a:t>6 joint targets</a:t>
            </a:r>
          </a:p>
        </p:txBody>
      </p:sp>
      <p:sp>
        <p:nvSpPr>
          <p:cNvPr id="15" name="Rounded Rectangle 14"/>
          <p:cNvSpPr/>
          <p:nvPr/>
        </p:nvSpPr>
        <p:spPr>
          <a:xfrm>
            <a:off x="6309360" y="3611880"/>
            <a:ext cx="2468880" cy="960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Recorded action</a:t>
            </a:r>
          </a:p>
          <a:p>
            <a:pPr algn="ctr"/>
            <a:r>
              <a:rPr sz="1300" b="0" i="0">
                <a:solidFill>
                  <a:srgbClr val="FFFFFF"/>
                </a:solidFill>
              </a:rPr>
              <a:t>what the human did: the label</a:t>
            </a:r>
          </a:p>
        </p:txBody>
      </p:sp>
      <p:cxnSp>
        <p:nvCxnSpPr>
          <p:cNvPr id="16" name="Connector 15"/>
          <p:cNvCxnSpPr/>
          <p:nvPr/>
        </p:nvCxnSpPr>
        <p:spPr>
          <a:xfrm>
            <a:off x="8823960" y="2331720"/>
            <a:ext cx="320040" cy="77724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823960" y="3840480"/>
            <a:ext cx="320040" cy="22860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9720" y="2926080"/>
            <a:ext cx="242316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E30613"/>
                </a:solidFill>
              </a:rPr>
              <a:t>Loss</a:t>
            </a:r>
          </a:p>
          <a:p>
            <a:pPr algn="ctr"/>
            <a:r>
              <a:rPr sz="1300" b="0" i="0">
                <a:solidFill>
                  <a:srgbClr val="1F2433"/>
                </a:solidFill>
              </a:rPr>
              <a:t>how far apart are they?</a:t>
            </a:r>
          </a:p>
        </p:txBody>
      </p:sp>
      <p:cxnSp>
        <p:nvCxnSpPr>
          <p:cNvPr id="19" name="Connector 18"/>
          <p:cNvCxnSpPr/>
          <p:nvPr/>
        </p:nvCxnSpPr>
        <p:spPr>
          <a:xfrm>
            <a:off x="10396728" y="4160520"/>
            <a:ext cx="0" cy="1097280"/>
          </a:xfrm>
          <a:prstGeom prst="line">
            <a:avLst/>
          </a:prstGeom>
          <a:ln w="25400">
            <a:solidFill>
              <a:srgbClr val="5B627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4937760" y="5257800"/>
            <a:ext cx="5458968" cy="0"/>
          </a:xfrm>
          <a:prstGeom prst="line">
            <a:avLst/>
          </a:prstGeom>
          <a:ln w="25400">
            <a:solidFill>
              <a:srgbClr val="5B62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937760" y="4160520"/>
            <a:ext cx="0" cy="1097280"/>
          </a:xfrm>
          <a:prstGeom prst="line">
            <a:avLst/>
          </a:prstGeom>
          <a:ln w="2540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0" y="4892040"/>
            <a:ext cx="4754880" cy="320040"/>
          </a:xfrm>
          <a:prstGeom prst="rect">
            <a:avLst/>
          </a:prstGeom>
          <a:noFill/>
        </p:spPr>
        <p:txBody>
          <a:bodyPr wrap="square" lIns="0" rIns="0" tIns="0" bIns="0" anchor="t">
            <a:spAutoFit/>
          </a:bodyPr>
          <a:lstStyle/>
          <a:p>
            <a:pPr algn="ctr"/>
            <a:r>
              <a:rPr sz="1200" b="1" i="0">
                <a:solidFill>
                  <a:srgbClr val="5B6275"/>
                </a:solidFill>
              </a:rPr>
              <a:t>update the network so prediction and label match</a:t>
            </a:r>
          </a:p>
        </p:txBody>
      </p:sp>
      <p:sp>
        <p:nvSpPr>
          <p:cNvPr id="23" name="Rounded Rectangle 22"/>
          <p:cNvSpPr/>
          <p:nvPr/>
        </p:nvSpPr>
        <p:spPr>
          <a:xfrm>
            <a:off x="548640" y="5623560"/>
            <a:ext cx="1106424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No reward anywhere: the recorded action is the answer 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the loss on one frame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8</a:t>
            </a:fld>
            <a:endParaRPr lang="en-SG"/>
          </a:p>
        </p:txBody>
      </p:sp>
      <p:sp>
        <p:nvSpPr>
          <p:cNvPr id="7" name="Rounded Rectangle 6"/>
          <p:cNvSpPr/>
          <p:nvPr/>
        </p:nvSpPr>
        <p:spPr>
          <a:xfrm>
            <a:off x="548640" y="1508760"/>
            <a:ext cx="237744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FFFFFF"/>
                </a:solidFill>
              </a:rPr>
              <a:t>Joint</a:t>
            </a:r>
          </a:p>
        </p:txBody>
      </p:sp>
      <p:sp>
        <p:nvSpPr>
          <p:cNvPr id="8" name="Rounded Rectangle 7"/>
          <p:cNvSpPr/>
          <p:nvPr/>
        </p:nvSpPr>
        <p:spPr>
          <a:xfrm>
            <a:off x="3017520" y="1508760"/>
            <a:ext cx="192024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FFFFFF"/>
                </a:solidFill>
              </a:rPr>
              <a:t>Recorded (label)</a:t>
            </a:r>
          </a:p>
        </p:txBody>
      </p:sp>
      <p:sp>
        <p:nvSpPr>
          <p:cNvPr id="9" name="Rounded Rectangle 8"/>
          <p:cNvSpPr/>
          <p:nvPr/>
        </p:nvSpPr>
        <p:spPr>
          <a:xfrm>
            <a:off x="5029200" y="1508760"/>
            <a:ext cx="18288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FFFFFF"/>
                </a:solidFill>
              </a:rPr>
              <a:t>Predicted</a:t>
            </a:r>
          </a:p>
        </p:txBody>
      </p:sp>
      <p:sp>
        <p:nvSpPr>
          <p:cNvPr id="10" name="Rounded Rectangle 9"/>
          <p:cNvSpPr/>
          <p:nvPr/>
        </p:nvSpPr>
        <p:spPr>
          <a:xfrm>
            <a:off x="6949440" y="1508760"/>
            <a:ext cx="173736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FFFFFF"/>
                </a:solidFill>
              </a:rPr>
              <a:t>|difference|</a:t>
            </a:r>
          </a:p>
        </p:txBody>
      </p:sp>
      <p:sp>
        <p:nvSpPr>
          <p:cNvPr id="11" name="Rounded Rectangle 10"/>
          <p:cNvSpPr/>
          <p:nvPr/>
        </p:nvSpPr>
        <p:spPr>
          <a:xfrm>
            <a:off x="548640" y="2057400"/>
            <a:ext cx="23774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0" i="0">
                <a:solidFill>
                  <a:srgbClr val="1F2433"/>
                </a:solidFill>
                <a:latin typeface="Courier New"/>
              </a:rPr>
              <a:t>shoulder_pan</a:t>
            </a:r>
          </a:p>
        </p:txBody>
      </p:sp>
      <p:sp>
        <p:nvSpPr>
          <p:cNvPr id="12" name="Rounded Rectangle 11"/>
          <p:cNvSpPr/>
          <p:nvPr/>
        </p:nvSpPr>
        <p:spPr>
          <a:xfrm>
            <a:off x="3017520" y="2057400"/>
            <a:ext cx="19202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10.2</a:t>
            </a:r>
          </a:p>
        </p:txBody>
      </p:sp>
      <p:sp>
        <p:nvSpPr>
          <p:cNvPr id="13" name="Rounded Rectangle 12"/>
          <p:cNvSpPr/>
          <p:nvPr/>
        </p:nvSpPr>
        <p:spPr>
          <a:xfrm>
            <a:off x="5029200" y="2057400"/>
            <a:ext cx="182880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11.0</a:t>
            </a:r>
          </a:p>
        </p:txBody>
      </p:sp>
      <p:sp>
        <p:nvSpPr>
          <p:cNvPr id="14" name="Rounded Rectangle 13"/>
          <p:cNvSpPr/>
          <p:nvPr/>
        </p:nvSpPr>
        <p:spPr>
          <a:xfrm>
            <a:off x="6949440" y="2057400"/>
            <a:ext cx="173736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0.8</a:t>
            </a:r>
          </a:p>
        </p:txBody>
      </p:sp>
      <p:sp>
        <p:nvSpPr>
          <p:cNvPr id="15" name="Rounded Rectangle 14"/>
          <p:cNvSpPr/>
          <p:nvPr/>
        </p:nvSpPr>
        <p:spPr>
          <a:xfrm>
            <a:off x="548640" y="2532888"/>
            <a:ext cx="23774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0" i="0">
                <a:solidFill>
                  <a:srgbClr val="1F2433"/>
                </a:solidFill>
                <a:latin typeface="Courier New"/>
              </a:rPr>
              <a:t>shoulder_lift</a:t>
            </a:r>
          </a:p>
        </p:txBody>
      </p:sp>
      <p:sp>
        <p:nvSpPr>
          <p:cNvPr id="16" name="Rounded Rectangle 15"/>
          <p:cNvSpPr/>
          <p:nvPr/>
        </p:nvSpPr>
        <p:spPr>
          <a:xfrm>
            <a:off x="3017520" y="2532888"/>
            <a:ext cx="19202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48.5</a:t>
            </a:r>
          </a:p>
        </p:txBody>
      </p:sp>
      <p:sp>
        <p:nvSpPr>
          <p:cNvPr id="17" name="Rounded Rectangle 16"/>
          <p:cNvSpPr/>
          <p:nvPr/>
        </p:nvSpPr>
        <p:spPr>
          <a:xfrm>
            <a:off x="5029200" y="2532888"/>
            <a:ext cx="182880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47.0</a:t>
            </a:r>
          </a:p>
        </p:txBody>
      </p:sp>
      <p:sp>
        <p:nvSpPr>
          <p:cNvPr id="18" name="Rounded Rectangle 17"/>
          <p:cNvSpPr/>
          <p:nvPr/>
        </p:nvSpPr>
        <p:spPr>
          <a:xfrm>
            <a:off x="6949440" y="2532888"/>
            <a:ext cx="173736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1.5</a:t>
            </a:r>
          </a:p>
        </p:txBody>
      </p:sp>
      <p:sp>
        <p:nvSpPr>
          <p:cNvPr id="19" name="Rounded Rectangle 18"/>
          <p:cNvSpPr/>
          <p:nvPr/>
        </p:nvSpPr>
        <p:spPr>
          <a:xfrm>
            <a:off x="548640" y="3008376"/>
            <a:ext cx="23774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0" i="0">
                <a:solidFill>
                  <a:srgbClr val="1F2433"/>
                </a:solidFill>
                <a:latin typeface="Courier New"/>
              </a:rPr>
              <a:t>elbow_flex</a:t>
            </a:r>
          </a:p>
        </p:txBody>
      </p:sp>
      <p:sp>
        <p:nvSpPr>
          <p:cNvPr id="20" name="Rounded Rectangle 19"/>
          <p:cNvSpPr/>
          <p:nvPr/>
        </p:nvSpPr>
        <p:spPr>
          <a:xfrm>
            <a:off x="3017520" y="3008376"/>
            <a:ext cx="19202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−31.0</a:t>
            </a:r>
          </a:p>
        </p:txBody>
      </p:sp>
      <p:sp>
        <p:nvSpPr>
          <p:cNvPr id="21" name="Rounded Rectangle 20"/>
          <p:cNvSpPr/>
          <p:nvPr/>
        </p:nvSpPr>
        <p:spPr>
          <a:xfrm>
            <a:off x="5029200" y="3008376"/>
            <a:ext cx="182880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−30.0</a:t>
            </a:r>
          </a:p>
        </p:txBody>
      </p:sp>
      <p:sp>
        <p:nvSpPr>
          <p:cNvPr id="22" name="Rounded Rectangle 21"/>
          <p:cNvSpPr/>
          <p:nvPr/>
        </p:nvSpPr>
        <p:spPr>
          <a:xfrm>
            <a:off x="6949440" y="3008376"/>
            <a:ext cx="173736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1.0</a:t>
            </a:r>
          </a:p>
        </p:txBody>
      </p:sp>
      <p:sp>
        <p:nvSpPr>
          <p:cNvPr id="23" name="Rounded Rectangle 22"/>
          <p:cNvSpPr/>
          <p:nvPr/>
        </p:nvSpPr>
        <p:spPr>
          <a:xfrm>
            <a:off x="548640" y="3483864"/>
            <a:ext cx="23774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0" i="0">
                <a:solidFill>
                  <a:srgbClr val="1F2433"/>
                </a:solidFill>
                <a:latin typeface="Courier New"/>
              </a:rPr>
              <a:t>wrist_flex</a:t>
            </a:r>
          </a:p>
        </p:txBody>
      </p:sp>
      <p:sp>
        <p:nvSpPr>
          <p:cNvPr id="24" name="Rounded Rectangle 23"/>
          <p:cNvSpPr/>
          <p:nvPr/>
        </p:nvSpPr>
        <p:spPr>
          <a:xfrm>
            <a:off x="3017520" y="3483864"/>
            <a:ext cx="19202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62.0</a:t>
            </a:r>
          </a:p>
        </p:txBody>
      </p:sp>
      <p:sp>
        <p:nvSpPr>
          <p:cNvPr id="25" name="Rounded Rectangle 24"/>
          <p:cNvSpPr/>
          <p:nvPr/>
        </p:nvSpPr>
        <p:spPr>
          <a:xfrm>
            <a:off x="5029200" y="3483864"/>
            <a:ext cx="182880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60.5</a:t>
            </a:r>
          </a:p>
        </p:txBody>
      </p:sp>
      <p:sp>
        <p:nvSpPr>
          <p:cNvPr id="26" name="Rounded Rectangle 25"/>
          <p:cNvSpPr/>
          <p:nvPr/>
        </p:nvSpPr>
        <p:spPr>
          <a:xfrm>
            <a:off x="6949440" y="3483864"/>
            <a:ext cx="173736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1.5</a:t>
            </a:r>
          </a:p>
        </p:txBody>
      </p:sp>
      <p:sp>
        <p:nvSpPr>
          <p:cNvPr id="27" name="Rounded Rectangle 26"/>
          <p:cNvSpPr/>
          <p:nvPr/>
        </p:nvSpPr>
        <p:spPr>
          <a:xfrm>
            <a:off x="548640" y="3959352"/>
            <a:ext cx="23774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0" i="0">
                <a:solidFill>
                  <a:srgbClr val="1F2433"/>
                </a:solidFill>
                <a:latin typeface="Courier New"/>
              </a:rPr>
              <a:t>wrist_roll</a:t>
            </a:r>
          </a:p>
        </p:txBody>
      </p:sp>
      <p:sp>
        <p:nvSpPr>
          <p:cNvPr id="28" name="Rounded Rectangle 27"/>
          <p:cNvSpPr/>
          <p:nvPr/>
        </p:nvSpPr>
        <p:spPr>
          <a:xfrm>
            <a:off x="3017520" y="3959352"/>
            <a:ext cx="192024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4.0</a:t>
            </a:r>
          </a:p>
        </p:txBody>
      </p:sp>
      <p:sp>
        <p:nvSpPr>
          <p:cNvPr id="29" name="Rounded Rectangle 28"/>
          <p:cNvSpPr/>
          <p:nvPr/>
        </p:nvSpPr>
        <p:spPr>
          <a:xfrm>
            <a:off x="5029200" y="3959352"/>
            <a:ext cx="182880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0" i="0">
                <a:solidFill>
                  <a:srgbClr val="1F2433"/>
                </a:solidFill>
              </a:rPr>
              <a:t>4.5</a:t>
            </a:r>
          </a:p>
        </p:txBody>
      </p:sp>
      <p:sp>
        <p:nvSpPr>
          <p:cNvPr id="30" name="Rounded Rectangle 29"/>
          <p:cNvSpPr/>
          <p:nvPr/>
        </p:nvSpPr>
        <p:spPr>
          <a:xfrm>
            <a:off x="6949440" y="3959352"/>
            <a:ext cx="1737360" cy="411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0.5</a:t>
            </a:r>
          </a:p>
        </p:txBody>
      </p:sp>
      <p:sp>
        <p:nvSpPr>
          <p:cNvPr id="31" name="Rounded Rectangle 30"/>
          <p:cNvSpPr/>
          <p:nvPr/>
        </p:nvSpPr>
        <p:spPr>
          <a:xfrm>
            <a:off x="548640" y="4434840"/>
            <a:ext cx="2377440" cy="4114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l"/>
            <a:r>
              <a:rPr sz="1400" b="1" i="0">
                <a:solidFill>
                  <a:srgbClr val="1F2433"/>
                </a:solidFill>
                <a:latin typeface="Courier New"/>
              </a:rPr>
              <a:t>gripper</a:t>
            </a:r>
          </a:p>
        </p:txBody>
      </p:sp>
      <p:sp>
        <p:nvSpPr>
          <p:cNvPr id="32" name="Rounded Rectangle 31"/>
          <p:cNvSpPr/>
          <p:nvPr/>
        </p:nvSpPr>
        <p:spPr>
          <a:xfrm>
            <a:off x="3017520" y="4434840"/>
            <a:ext cx="1920240" cy="4114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35.0</a:t>
            </a:r>
          </a:p>
        </p:txBody>
      </p:sp>
      <p:sp>
        <p:nvSpPr>
          <p:cNvPr id="33" name="Rounded Rectangle 32"/>
          <p:cNvSpPr/>
          <p:nvPr/>
        </p:nvSpPr>
        <p:spPr>
          <a:xfrm>
            <a:off x="5029200" y="4434840"/>
            <a:ext cx="1828800" cy="4114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1F2433"/>
                </a:solidFill>
              </a:rPr>
              <a:t>30.0</a:t>
            </a:r>
          </a:p>
        </p:txBody>
      </p:sp>
      <p:sp>
        <p:nvSpPr>
          <p:cNvPr id="34" name="Rounded Rectangle 33"/>
          <p:cNvSpPr/>
          <p:nvPr/>
        </p:nvSpPr>
        <p:spPr>
          <a:xfrm>
            <a:off x="6949440" y="4434840"/>
            <a:ext cx="1737360" cy="4114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400" b="1" i="0">
                <a:solidFill>
                  <a:srgbClr val="E30613"/>
                </a:solidFill>
              </a:rPr>
              <a:t>5.0</a:t>
            </a:r>
          </a:p>
        </p:txBody>
      </p:sp>
      <p:sp>
        <p:nvSpPr>
          <p:cNvPr id="35" name="Rounded Rectangle 34"/>
          <p:cNvSpPr/>
          <p:nvPr/>
        </p:nvSpPr>
        <p:spPr>
          <a:xfrm>
            <a:off x="8961120" y="1508760"/>
            <a:ext cx="265176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5B6275"/>
                </a:solidFill>
              </a:rPr>
              <a:t>10.3 ÷ 6</a:t>
            </a:r>
          </a:p>
          <a:p>
            <a:pPr algn="ctr"/>
            <a:r>
              <a:rPr sz="4000" b="1" i="0">
                <a:solidFill>
                  <a:srgbClr val="164194"/>
                </a:solidFill>
              </a:rPr>
              <a:t>≈ 1.7</a:t>
            </a:r>
          </a:p>
          <a:p>
            <a:pPr algn="ctr"/>
            <a:r>
              <a:rPr sz="1300" b="0" i="0">
                <a:solidFill>
                  <a:srgbClr val="5B6275"/>
                </a:solidFill>
              </a:rPr>
              <a:t>L1 loss for this frame</a:t>
            </a:r>
          </a:p>
        </p:txBody>
      </p:sp>
      <p:sp>
        <p:nvSpPr>
          <p:cNvPr id="36" name="Rounded Rectangle 35"/>
          <p:cNvSpPr/>
          <p:nvPr/>
        </p:nvSpPr>
        <p:spPr>
          <a:xfrm>
            <a:off x="8961120" y="3474720"/>
            <a:ext cx="2651760" cy="14173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400" b="1" i="0">
                <a:solidFill>
                  <a:srgbClr val="E30613"/>
                </a:solidFill>
              </a:rPr>
              <a:t>Biggest error: the gripper.</a:t>
            </a:r>
          </a:p>
          <a:p>
            <a:pPr algn="l"/>
            <a:r>
              <a:rPr sz="1300" b="0" i="0">
                <a:solidFill>
                  <a:srgbClr val="1F2433"/>
                </a:solidFill>
              </a:rPr>
              <a:t>One row in six of the loss, but it decides whether the cube is held.</a:t>
            </a:r>
          </a:p>
        </p:txBody>
      </p:sp>
      <p:sp>
        <p:nvSpPr>
          <p:cNvPr id="37" name="Rounded Rectangle 36"/>
          <p:cNvSpPr/>
          <p:nvPr/>
        </p:nvSpPr>
        <p:spPr>
          <a:xfrm>
            <a:off x="548640" y="5074920"/>
            <a:ext cx="1106424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Training repeats this on every frame: 50 episodes × 20 s × 30 fps = 30,000 labelled examples.</a:t>
            </a:r>
          </a:p>
        </p:txBody>
      </p:sp>
      <p:sp>
        <p:nvSpPr>
          <p:cNvPr id="38" name="TextBox 37"/>
          <p:cNvSpPr txBox="1"/>
          <p:nvPr/>
        </p:nvSpPr>
        <p:spPr>
          <a:xfrm>
            <a:off x="548640" y="5806440"/>
            <a:ext cx="11064240" cy="274320"/>
          </a:xfrm>
          <a:prstGeom prst="rect">
            <a:avLst/>
          </a:prstGeom>
          <a:noFill/>
        </p:spPr>
        <p:txBody>
          <a:bodyPr wrap="square" lIns="0" rIns="0" tIns="0" bIns="0" anchor="t">
            <a:spAutoFit/>
          </a:bodyPr>
          <a:lstStyle/>
          <a:p>
            <a:pPr algn="l"/>
            <a:r>
              <a:rPr sz="1100" b="0" i="0">
                <a:solidFill>
                  <a:srgbClr val="5B6275"/>
                </a:solidFill>
              </a:rPr>
              <a:t>Illustrative values in the arm's calibrated units (joints in degrees, gripper 0–100).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RL and imitation learning, side by side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9</a:t>
            </a:fld>
            <a:endParaRPr lang="en-SG"/>
          </a:p>
        </p:txBody>
      </p:sp>
      <p:sp>
        <p:nvSpPr>
          <p:cNvPr id="7" name="Rounded Rectangle 6"/>
          <p:cNvSpPr/>
          <p:nvPr/>
        </p:nvSpPr>
        <p:spPr>
          <a:xfrm>
            <a:off x="3246120" y="1508760"/>
            <a:ext cx="4114800" cy="5029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Reinforcement learning</a:t>
            </a:r>
          </a:p>
        </p:txBody>
      </p:sp>
      <p:sp>
        <p:nvSpPr>
          <p:cNvPr id="8" name="Rounded Rectangle 7"/>
          <p:cNvSpPr/>
          <p:nvPr/>
        </p:nvSpPr>
        <p:spPr>
          <a:xfrm>
            <a:off x="7498079" y="1508760"/>
            <a:ext cx="4114800" cy="5029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Imitation learning</a:t>
            </a:r>
          </a:p>
        </p:txBody>
      </p:sp>
      <p:sp>
        <p:nvSpPr>
          <p:cNvPr id="9" name="Rounded Rectangle 8"/>
          <p:cNvSpPr/>
          <p:nvPr/>
        </p:nvSpPr>
        <p:spPr>
          <a:xfrm>
            <a:off x="548640" y="2103120"/>
            <a:ext cx="2560320" cy="65836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What you write</a:t>
            </a:r>
          </a:p>
        </p:txBody>
      </p:sp>
      <p:sp>
        <p:nvSpPr>
          <p:cNvPr id="10" name="Rounded Rectangle 9"/>
          <p:cNvSpPr/>
          <p:nvPr/>
        </p:nvSpPr>
        <p:spPr>
          <a:xfrm>
            <a:off x="3246120" y="2103120"/>
            <a:ext cx="4114800" cy="65836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a reward function</a:t>
            </a:r>
          </a:p>
        </p:txBody>
      </p:sp>
      <p:sp>
        <p:nvSpPr>
          <p:cNvPr id="11" name="Rounded Rectangle 10"/>
          <p:cNvSpPr/>
          <p:nvPr/>
        </p:nvSpPr>
        <p:spPr>
          <a:xfrm>
            <a:off x="7498079" y="2103120"/>
            <a:ext cx="4114800" cy="65836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a dataset of demonstrations</a:t>
            </a:r>
          </a:p>
        </p:txBody>
      </p:sp>
      <p:sp>
        <p:nvSpPr>
          <p:cNvPr id="12" name="Rounded Rectangle 11"/>
          <p:cNvSpPr/>
          <p:nvPr/>
        </p:nvSpPr>
        <p:spPr>
          <a:xfrm>
            <a:off x="548640" y="2852927"/>
            <a:ext cx="2560320" cy="65836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Where data comes from</a:t>
            </a:r>
          </a:p>
        </p:txBody>
      </p:sp>
      <p:sp>
        <p:nvSpPr>
          <p:cNvPr id="13" name="Rounded Rectangle 12"/>
          <p:cNvSpPr/>
          <p:nvPr/>
        </p:nvSpPr>
        <p:spPr>
          <a:xfrm>
            <a:off x="3246120" y="2852927"/>
            <a:ext cx="4114800" cy="65836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the robot tries things, in simulation</a:t>
            </a:r>
          </a:p>
        </p:txBody>
      </p:sp>
      <p:sp>
        <p:nvSpPr>
          <p:cNvPr id="14" name="Rounded Rectangle 13"/>
          <p:cNvSpPr/>
          <p:nvPr/>
        </p:nvSpPr>
        <p:spPr>
          <a:xfrm>
            <a:off x="7498079" y="2852927"/>
            <a:ext cx="4114800" cy="65836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a human shows the task, on the arm or in simulation</a:t>
            </a:r>
          </a:p>
        </p:txBody>
      </p:sp>
      <p:sp>
        <p:nvSpPr>
          <p:cNvPr id="15" name="Rounded Rectangle 14"/>
          <p:cNvSpPr/>
          <p:nvPr/>
        </p:nvSpPr>
        <p:spPr>
          <a:xfrm>
            <a:off x="548640" y="3602735"/>
            <a:ext cx="2560320" cy="65836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Where compute goes</a:t>
            </a:r>
          </a:p>
        </p:txBody>
      </p:sp>
      <p:sp>
        <p:nvSpPr>
          <p:cNvPr id="16" name="Rounded Rectangle 15"/>
          <p:cNvSpPr/>
          <p:nvPr/>
        </p:nvSpPr>
        <p:spPr>
          <a:xfrm>
            <a:off x="3246120" y="3602735"/>
            <a:ext cx="4114800" cy="65836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millions of simulated steps, many arms in parallel</a:t>
            </a:r>
          </a:p>
        </p:txBody>
      </p:sp>
      <p:sp>
        <p:nvSpPr>
          <p:cNvPr id="17" name="Rounded Rectangle 16"/>
          <p:cNvSpPr/>
          <p:nvPr/>
        </p:nvSpPr>
        <p:spPr>
          <a:xfrm>
            <a:off x="7498079" y="3602735"/>
            <a:ext cx="4114800" cy="65836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hours of supervised training on one GPU</a:t>
            </a:r>
          </a:p>
        </p:txBody>
      </p:sp>
      <p:sp>
        <p:nvSpPr>
          <p:cNvPr id="18" name="Rounded Rectangle 17"/>
          <p:cNvSpPr/>
          <p:nvPr/>
        </p:nvSpPr>
        <p:spPr>
          <a:xfrm>
            <a:off x="548640" y="4352544"/>
            <a:ext cx="2560320" cy="65836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How it fails</a:t>
            </a:r>
          </a:p>
        </p:txBody>
      </p:sp>
      <p:sp>
        <p:nvSpPr>
          <p:cNvPr id="19" name="Rounded Rectangle 18"/>
          <p:cNvSpPr/>
          <p:nvPr/>
        </p:nvSpPr>
        <p:spPr>
          <a:xfrm>
            <a:off x="3246120" y="4352544"/>
            <a:ext cx="4114800" cy="65836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reward hacking: it optimises what you wrote</a:t>
            </a:r>
          </a:p>
        </p:txBody>
      </p:sp>
      <p:sp>
        <p:nvSpPr>
          <p:cNvPr id="20" name="Rounded Rectangle 19"/>
          <p:cNvSpPr/>
          <p:nvPr/>
        </p:nvSpPr>
        <p:spPr>
          <a:xfrm>
            <a:off x="7498079" y="4352544"/>
            <a:ext cx="4114800" cy="65836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copies mistakes; gets lost where no demo went</a:t>
            </a:r>
          </a:p>
        </p:txBody>
      </p:sp>
      <p:sp>
        <p:nvSpPr>
          <p:cNvPr id="21" name="Rounded Rectangle 20"/>
          <p:cNvSpPr/>
          <p:nvPr/>
        </p:nvSpPr>
        <p:spPr>
          <a:xfrm>
            <a:off x="548640" y="5102352"/>
            <a:ext cx="2560320" cy="65836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What limits it</a:t>
            </a:r>
          </a:p>
        </p:txBody>
      </p:sp>
      <p:sp>
        <p:nvSpPr>
          <p:cNvPr id="22" name="Rounded Rectangle 21"/>
          <p:cNvSpPr/>
          <p:nvPr/>
        </p:nvSpPr>
        <p:spPr>
          <a:xfrm>
            <a:off x="3246120" y="5102352"/>
            <a:ext cx="4114800" cy="65836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reward design and the sim-to-real gap</a:t>
            </a:r>
          </a:p>
        </p:txBody>
      </p:sp>
      <p:sp>
        <p:nvSpPr>
          <p:cNvPr id="23" name="Rounded Rectangle 22"/>
          <p:cNvSpPr/>
          <p:nvPr/>
        </p:nvSpPr>
        <p:spPr>
          <a:xfrm>
            <a:off x="7498079" y="5102352"/>
            <a:ext cx="4114800" cy="65836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quality and coverage of the demonstrations</a:t>
            </a:r>
          </a:p>
        </p:txBody>
      </p:sp>
      <p:sp>
        <p:nvSpPr>
          <p:cNvPr id="24" name="TextBox 23"/>
          <p:cNvSpPr txBox="1"/>
          <p:nvPr/>
        </p:nvSpPr>
        <p:spPr>
          <a:xfrm>
            <a:off x="548640" y="5943600"/>
            <a:ext cx="11064240" cy="320040"/>
          </a:xfrm>
          <a:prstGeom prst="rect">
            <a:avLst/>
          </a:prstGeom>
          <a:noFill/>
        </p:spPr>
        <p:txBody>
          <a:bodyPr wrap="square" lIns="0" rIns="0" tIns="0" bIns="0" anchor="t">
            <a:spAutoFit/>
          </a:bodyPr>
          <a:lstStyle/>
          <a:p>
            <a:pPr algn="l"/>
            <a:r>
              <a:rPr sz="1500" b="1" i="0">
                <a:solidFill>
                  <a:srgbClr val="164194"/>
                </a:solidFill>
              </a:rPr>
              <a:t>In imitation learning, you are the dataset.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imitation learning is the practical default on the SO-101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10</a:t>
            </a:fld>
            <a:endParaRPr lang="en-SG"/>
          </a:p>
        </p:txBody>
      </p:sp>
      <p:sp>
        <p:nvSpPr>
          <p:cNvPr id="7" name="Rounded Rectangle 6"/>
          <p:cNvSpPr/>
          <p:nvPr/>
        </p:nvSpPr>
        <p:spPr>
          <a:xfrm>
            <a:off x="548640" y="1554480"/>
            <a:ext cx="4572000" cy="38404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000" b="1" i="0">
                <a:solidFill>
                  <a:srgbClr val="FFFFFF"/>
                </a:solidFill>
              </a:rPr>
              <a:t>The gap is already in the data</a:t>
            </a:r>
          </a:p>
          <a:p>
            <a:pPr algn="l">
              <a:spcAft>
                <a:spcPts val="1000"/>
              </a:spcAft>
            </a:pPr>
            <a:r>
              <a:rPr sz="1600" b="0" i="0">
                <a:solidFill>
                  <a:srgbClr val="FFFFFF"/>
                </a:solidFill>
              </a:rPr>
              <a:t>A demonstration recorded on the real arm already contains the real servos, the real delays and the real camera.</a:t>
            </a:r>
          </a:p>
          <a:p>
            <a:pPr algn="l"/>
            <a:r>
              <a:rPr sz="1600" b="1" i="0">
                <a:solidFill>
                  <a:srgbClr val="DDE5F7"/>
                </a:solidFill>
              </a:rPr>
              <a:t>Nothing has to be modelled. Nothing has to be randomised.</a:t>
            </a:r>
          </a:p>
        </p:txBody>
      </p:sp>
      <p:sp>
        <p:nvSpPr>
          <p:cNvPr id="8" name="Rounded Rectangle 7"/>
          <p:cNvSpPr/>
          <p:nvPr/>
        </p:nvSpPr>
        <p:spPr>
          <a:xfrm>
            <a:off x="5394960" y="1554480"/>
            <a:ext cx="3017520" cy="1783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82880" bIns="182880"/>
          <a:lstStyle/>
          <a:p>
            <a:pPr algn="l">
              <a:spcAft>
                <a:spcPts val="400"/>
              </a:spcAft>
            </a:pPr>
            <a:r>
              <a:rPr sz="1700" b="1" i="0">
                <a:solidFill>
                  <a:srgbClr val="0F6E6A"/>
                </a:solidFill>
              </a:rPr>
              <a:t>Backlash</a:t>
            </a:r>
          </a:p>
          <a:p>
            <a:pPr algn="l">
              <a:spcAft>
                <a:spcPts val="200"/>
              </a:spcAft>
            </a:pPr>
            <a:r>
              <a:rPr sz="1300" b="0" i="0">
                <a:solidFill>
                  <a:srgbClr val="5B6275"/>
                </a:solidFill>
              </a:rPr>
              <a:t>already in every recorded frame:</a:t>
            </a:r>
          </a:p>
          <a:p>
            <a:pPr algn="l"/>
            <a:r>
              <a:rPr sz="1400" b="0" i="0">
                <a:solidFill>
                  <a:srgbClr val="1F2433"/>
                </a:solidFill>
              </a:rPr>
              <a:t>the follower's lag on every reversal</a:t>
            </a:r>
          </a:p>
        </p:txBody>
      </p:sp>
      <p:sp>
        <p:nvSpPr>
          <p:cNvPr id="9" name="Rounded Rectangle 8"/>
          <p:cNvSpPr/>
          <p:nvPr/>
        </p:nvSpPr>
        <p:spPr>
          <a:xfrm>
            <a:off x="8549640" y="1554480"/>
            <a:ext cx="3017520" cy="1783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82880" bIns="182880"/>
          <a:lstStyle/>
          <a:p>
            <a:pPr algn="l">
              <a:spcAft>
                <a:spcPts val="400"/>
              </a:spcAft>
            </a:pPr>
            <a:r>
              <a:rPr sz="1700" b="1" i="0">
                <a:solidFill>
                  <a:srgbClr val="0F6E6A"/>
                </a:solidFill>
              </a:rPr>
              <a:t>Friction and load</a:t>
            </a:r>
          </a:p>
          <a:p>
            <a:pPr algn="l">
              <a:spcAft>
                <a:spcPts val="200"/>
              </a:spcAft>
            </a:pPr>
            <a:r>
              <a:rPr sz="1300" b="0" i="0">
                <a:solidFill>
                  <a:srgbClr val="5B6275"/>
                </a:solidFill>
              </a:rPr>
              <a:t>already in every recorded frame:</a:t>
            </a:r>
          </a:p>
          <a:p>
            <a:pPr algn="l"/>
            <a:r>
              <a:rPr sz="1400" b="0" i="0">
                <a:solidFill>
                  <a:srgbClr val="1F2433"/>
                </a:solidFill>
              </a:rPr>
              <a:t>how each joint really responds</a:t>
            </a:r>
          </a:p>
        </p:txBody>
      </p:sp>
      <p:sp>
        <p:nvSpPr>
          <p:cNvPr id="10" name="Rounded Rectangle 9"/>
          <p:cNvSpPr/>
          <p:nvPr/>
        </p:nvSpPr>
        <p:spPr>
          <a:xfrm>
            <a:off x="5394960" y="3520439"/>
            <a:ext cx="3017520" cy="1783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82880" bIns="182880"/>
          <a:lstStyle/>
          <a:p>
            <a:pPr algn="l">
              <a:spcAft>
                <a:spcPts val="400"/>
              </a:spcAft>
            </a:pPr>
            <a:r>
              <a:rPr sz="1700" b="1" i="0">
                <a:solidFill>
                  <a:srgbClr val="0F6E6A"/>
                </a:solidFill>
              </a:rPr>
              <a:t>Delay</a:t>
            </a:r>
          </a:p>
          <a:p>
            <a:pPr algn="l">
              <a:spcAft>
                <a:spcPts val="200"/>
              </a:spcAft>
            </a:pPr>
            <a:r>
              <a:rPr sz="1300" b="0" i="0">
                <a:solidFill>
                  <a:srgbClr val="5B6275"/>
                </a:solidFill>
              </a:rPr>
              <a:t>already in every recorded frame:</a:t>
            </a:r>
          </a:p>
          <a:p>
            <a:pPr algn="l"/>
            <a:r>
              <a:rPr sz="1400" b="0" i="0">
                <a:solidFill>
                  <a:srgbClr val="1F2433"/>
                </a:solidFill>
              </a:rPr>
              <a:t>the real loop timing, every frame</a:t>
            </a:r>
          </a:p>
        </p:txBody>
      </p:sp>
      <p:sp>
        <p:nvSpPr>
          <p:cNvPr id="11" name="Rounded Rectangle 10"/>
          <p:cNvSpPr/>
          <p:nvPr/>
        </p:nvSpPr>
        <p:spPr>
          <a:xfrm>
            <a:off x="8549640" y="3520439"/>
            <a:ext cx="3017520" cy="1783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82880" bIns="182880"/>
          <a:lstStyle/>
          <a:p>
            <a:pPr algn="l">
              <a:spcAft>
                <a:spcPts val="400"/>
              </a:spcAft>
            </a:pPr>
            <a:r>
              <a:rPr sz="1700" b="1" i="0">
                <a:solidFill>
                  <a:srgbClr val="0F6E6A"/>
                </a:solidFill>
              </a:rPr>
              <a:t>Real camera images</a:t>
            </a:r>
          </a:p>
          <a:p>
            <a:pPr algn="l">
              <a:spcAft>
                <a:spcPts val="200"/>
              </a:spcAft>
            </a:pPr>
            <a:r>
              <a:rPr sz="1300" b="0" i="0">
                <a:solidFill>
                  <a:srgbClr val="5B6275"/>
                </a:solidFill>
              </a:rPr>
              <a:t>already in every recorded frame:</a:t>
            </a:r>
          </a:p>
          <a:p>
            <a:pPr algn="l"/>
            <a:r>
              <a:rPr sz="1400" b="0" i="0">
                <a:solidFill>
                  <a:srgbClr val="1F2433"/>
                </a:solidFill>
              </a:rPr>
              <a:t>real light, colours and blur</a:t>
            </a:r>
          </a:p>
        </p:txBody>
      </p:sp>
      <p:sp>
        <p:nvSpPr>
          <p:cNvPr id="12" name="Rounded Rectangle 11"/>
          <p:cNvSpPr/>
          <p:nvPr/>
        </p:nvSpPr>
        <p:spPr>
          <a:xfrm>
            <a:off x="548640" y="5532120"/>
            <a:ext cx="11064240" cy="5943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The catch: the policy is only as good as the demonstrations, and only knows places they went. That is Part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poll: which method would you choose?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11</a:t>
            </a:fld>
            <a:endParaRPr lang="en-SG"/>
          </a:p>
        </p:txBody>
      </p:sp>
      <p:sp>
        <p:nvSpPr>
          <p:cNvPr id="7" name="Rounded Rectangle 6"/>
          <p:cNvSpPr/>
          <p:nvPr/>
        </p:nvSpPr>
        <p:spPr>
          <a:xfrm>
            <a:off x="548640" y="1554480"/>
            <a:ext cx="3566160" cy="3566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Oval 7"/>
          <p:cNvSpPr/>
          <p:nvPr/>
        </p:nvSpPr>
        <p:spPr>
          <a:xfrm>
            <a:off x="777240" y="178308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A</a:t>
            </a:r>
          </a:p>
        </p:txBody>
      </p:sp>
      <p:sp>
        <p:nvSpPr>
          <p:cNvPr id="9" name="TextBox 8"/>
          <p:cNvSpPr txBox="1"/>
          <p:nvPr/>
        </p:nvSpPr>
        <p:spPr>
          <a:xfrm>
            <a:off x="777240" y="2697480"/>
            <a:ext cx="3108960" cy="1645920"/>
          </a:xfrm>
          <a:prstGeom prst="rect">
            <a:avLst/>
          </a:prstGeom>
          <a:noFill/>
        </p:spPr>
        <p:txBody>
          <a:bodyPr wrap="square" lIns="0" rIns="0" tIns="0" bIns="0" anchor="t">
            <a:spAutoFit/>
          </a:bodyPr>
          <a:lstStyle/>
          <a:p>
            <a:pPr algn="l"/>
            <a:r>
              <a:rPr sz="1700" b="1" i="0">
                <a:solidFill>
                  <a:srgbClr val="1F2433"/>
                </a:solidFill>
              </a:rPr>
              <a:t>Reach a point you type in, using joint readings only</a:t>
            </a:r>
          </a:p>
        </p:txBody>
      </p:sp>
      <p:sp>
        <p:nvSpPr>
          <p:cNvPr id="10" name="Rounded Rectangle 9"/>
          <p:cNvSpPr/>
          <p:nvPr/>
        </p:nvSpPr>
        <p:spPr>
          <a:xfrm>
            <a:off x="777240" y="4343400"/>
            <a:ext cx="3108960" cy="5486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E30613"/>
                </a:solidFill>
              </a:rPr>
              <a:t>RL  or  IL ?</a:t>
            </a:r>
          </a:p>
        </p:txBody>
      </p:sp>
      <p:sp>
        <p:nvSpPr>
          <p:cNvPr id="11" name="Rounded Rectangle 10"/>
          <p:cNvSpPr/>
          <p:nvPr/>
        </p:nvSpPr>
        <p:spPr>
          <a:xfrm>
            <a:off x="4297679" y="1554480"/>
            <a:ext cx="3566160" cy="3566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Oval 11"/>
          <p:cNvSpPr/>
          <p:nvPr/>
        </p:nvSpPr>
        <p:spPr>
          <a:xfrm>
            <a:off x="4526279" y="178308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B</a:t>
            </a:r>
          </a:p>
        </p:txBody>
      </p:sp>
      <p:sp>
        <p:nvSpPr>
          <p:cNvPr id="13" name="TextBox 12"/>
          <p:cNvSpPr txBox="1"/>
          <p:nvPr/>
        </p:nvSpPr>
        <p:spPr>
          <a:xfrm>
            <a:off x="4526279" y="2697480"/>
            <a:ext cx="3108960" cy="1645920"/>
          </a:xfrm>
          <a:prstGeom prst="rect">
            <a:avLst/>
          </a:prstGeom>
          <a:noFill/>
        </p:spPr>
        <p:txBody>
          <a:bodyPr wrap="square" lIns="0" rIns="0" tIns="0" bIns="0" anchor="t">
            <a:spAutoFit/>
          </a:bodyPr>
          <a:lstStyle/>
          <a:p>
            <a:pPr algn="l"/>
            <a:r>
              <a:rPr sz="1700" b="1" i="0">
                <a:solidFill>
                  <a:srgbClr val="1F2433"/>
                </a:solidFill>
              </a:rPr>
              <a:t>Fold a small towel on the table</a:t>
            </a:r>
          </a:p>
        </p:txBody>
      </p:sp>
      <p:sp>
        <p:nvSpPr>
          <p:cNvPr id="14" name="Rounded Rectangle 13"/>
          <p:cNvSpPr/>
          <p:nvPr/>
        </p:nvSpPr>
        <p:spPr>
          <a:xfrm>
            <a:off x="4526279" y="4343400"/>
            <a:ext cx="3108960" cy="5486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E30613"/>
                </a:solidFill>
              </a:rPr>
              <a:t>RL  or  IL ?</a:t>
            </a:r>
          </a:p>
        </p:txBody>
      </p:sp>
      <p:sp>
        <p:nvSpPr>
          <p:cNvPr id="15" name="Rounded Rectangle 14"/>
          <p:cNvSpPr/>
          <p:nvPr/>
        </p:nvSpPr>
        <p:spPr>
          <a:xfrm>
            <a:off x="8046719" y="1554480"/>
            <a:ext cx="3566160" cy="3566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Oval 15"/>
          <p:cNvSpPr/>
          <p:nvPr/>
        </p:nvSpPr>
        <p:spPr>
          <a:xfrm>
            <a:off x="8275319" y="178308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C</a:t>
            </a:r>
          </a:p>
        </p:txBody>
      </p:sp>
      <p:sp>
        <p:nvSpPr>
          <p:cNvPr id="17" name="TextBox 16"/>
          <p:cNvSpPr txBox="1"/>
          <p:nvPr/>
        </p:nvSpPr>
        <p:spPr>
          <a:xfrm>
            <a:off x="8275319" y="2697480"/>
            <a:ext cx="3108960" cy="1645920"/>
          </a:xfrm>
          <a:prstGeom prst="rect">
            <a:avLst/>
          </a:prstGeom>
          <a:noFill/>
        </p:spPr>
        <p:txBody>
          <a:bodyPr wrap="square" lIns="0" rIns="0" tIns="0" bIns="0" anchor="t">
            <a:spAutoFit/>
          </a:bodyPr>
          <a:lstStyle/>
          <a:p>
            <a:pPr algn="l"/>
            <a:r>
              <a:rPr sz="1700" b="1" i="0">
                <a:solidFill>
                  <a:srgbClr val="1F2433"/>
                </a:solidFill>
              </a:rPr>
              <a:t>Pick a cube from anywhere on the grid and place it in the bin, using the cameras</a:t>
            </a:r>
          </a:p>
        </p:txBody>
      </p:sp>
      <p:sp>
        <p:nvSpPr>
          <p:cNvPr id="18" name="Rounded Rectangle 17"/>
          <p:cNvSpPr/>
          <p:nvPr/>
        </p:nvSpPr>
        <p:spPr>
          <a:xfrm>
            <a:off x="8275319" y="4343400"/>
            <a:ext cx="3108960" cy="5486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E30613"/>
                </a:solidFill>
              </a:rPr>
              <a:t>RL  or  IL ?</a:t>
            </a:r>
          </a:p>
        </p:txBody>
      </p:sp>
      <p:sp>
        <p:nvSpPr>
          <p:cNvPr id="19" name="TextBox 18"/>
          <p:cNvSpPr txBox="1"/>
          <p:nvPr/>
        </p:nvSpPr>
        <p:spPr>
          <a:xfrm>
            <a:off x="548640" y="5394960"/>
            <a:ext cx="11064240" cy="365760"/>
          </a:xfrm>
          <a:prstGeom prst="rect">
            <a:avLst/>
          </a:prstGeom>
          <a:noFill/>
        </p:spPr>
        <p:txBody>
          <a:bodyPr wrap="square" lIns="0" rIns="0" tIns="0" bIns="0" anchor="t">
            <a:spAutoFit/>
          </a:bodyPr>
          <a:lstStyle/>
          <a:p>
            <a:pPr algn="l"/>
            <a:r>
              <a:rPr sz="1400" b="0" i="1">
                <a:solidFill>
                  <a:srgbClr val="5B6275"/>
                </a:solidFill>
              </a:rPr>
              <a:t>Vote by hand for each task, and be ready to give one reason.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Why behaviour cloning is harder than it looks</a:t>
            </a:r>
          </a:p>
          <a:p>
            <a:pPr algn="l"/>
            <a:r>
              <a:rPr sz="1800" b="0" i="0">
                <a:solidFill>
                  <a:srgbClr val="DDE5F7"/>
                </a:solidFill>
              </a:rPr>
              <a:t>Covariate shift, compounding error, multi-modality and action chunking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Covariate shift: one small error, then somewhere new</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13</a:t>
            </a:fld>
            <a:endParaRPr lang="en-SG"/>
          </a:p>
        </p:txBody>
      </p:sp>
      <p:sp>
        <p:nvSpPr>
          <p:cNvPr id="7" name="Rounded Rectangle 6"/>
          <p:cNvSpPr/>
          <p:nvPr/>
        </p:nvSpPr>
        <p:spPr>
          <a:xfrm rot="20093110">
            <a:off x="426001" y="3063239"/>
            <a:ext cx="6828957" cy="822960"/>
          </a:xfrm>
          <a:prstGeom prst="roundRect">
            <a:avLst>
              <a:gd name="adj" fmla="val 50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Oval 7"/>
          <p:cNvSpPr/>
          <p:nvPr/>
        </p:nvSpPr>
        <p:spPr>
          <a:xfrm>
            <a:off x="832104" y="47640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Oval 8"/>
          <p:cNvSpPr/>
          <p:nvPr/>
        </p:nvSpPr>
        <p:spPr>
          <a:xfrm>
            <a:off x="1563624" y="44211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Oval 9"/>
          <p:cNvSpPr/>
          <p:nvPr/>
        </p:nvSpPr>
        <p:spPr>
          <a:xfrm>
            <a:off x="2295144" y="40782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Oval 10"/>
          <p:cNvSpPr/>
          <p:nvPr/>
        </p:nvSpPr>
        <p:spPr>
          <a:xfrm>
            <a:off x="3026664" y="37353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Oval 11"/>
          <p:cNvSpPr/>
          <p:nvPr/>
        </p:nvSpPr>
        <p:spPr>
          <a:xfrm>
            <a:off x="3758184" y="33924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Oval 12"/>
          <p:cNvSpPr/>
          <p:nvPr/>
        </p:nvSpPr>
        <p:spPr>
          <a:xfrm>
            <a:off x="4489704" y="30495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Oval 13"/>
          <p:cNvSpPr/>
          <p:nvPr/>
        </p:nvSpPr>
        <p:spPr>
          <a:xfrm>
            <a:off x="5221224" y="27066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Oval 14"/>
          <p:cNvSpPr/>
          <p:nvPr/>
        </p:nvSpPr>
        <p:spPr>
          <a:xfrm>
            <a:off x="5952744" y="23637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5"/>
          <p:cNvSpPr/>
          <p:nvPr/>
        </p:nvSpPr>
        <p:spPr>
          <a:xfrm>
            <a:off x="6684264" y="2020824"/>
            <a:ext cx="164592" cy="164592"/>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Oval 16"/>
          <p:cNvSpPr/>
          <p:nvPr/>
        </p:nvSpPr>
        <p:spPr>
          <a:xfrm>
            <a:off x="832104" y="4764024"/>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Oval 17"/>
          <p:cNvSpPr/>
          <p:nvPr/>
        </p:nvSpPr>
        <p:spPr>
          <a:xfrm>
            <a:off x="1453896" y="4472559"/>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Oval 18"/>
          <p:cNvSpPr/>
          <p:nvPr/>
        </p:nvSpPr>
        <p:spPr>
          <a:xfrm>
            <a:off x="2075882" y="4181507"/>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Oval 19"/>
          <p:cNvSpPr/>
          <p:nvPr/>
        </p:nvSpPr>
        <p:spPr>
          <a:xfrm>
            <a:off x="2714993" y="3926990"/>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Oval 20"/>
          <p:cNvSpPr/>
          <p:nvPr/>
        </p:nvSpPr>
        <p:spPr>
          <a:xfrm>
            <a:off x="3382144" y="3732292"/>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Oval 21"/>
          <p:cNvSpPr/>
          <p:nvPr/>
        </p:nvSpPr>
        <p:spPr>
          <a:xfrm>
            <a:off x="4077336" y="3597413"/>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val 22"/>
          <p:cNvSpPr/>
          <p:nvPr/>
        </p:nvSpPr>
        <p:spPr>
          <a:xfrm>
            <a:off x="4800568" y="3522354"/>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5551841" y="3507114"/>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Oval 24"/>
          <p:cNvSpPr/>
          <p:nvPr/>
        </p:nvSpPr>
        <p:spPr>
          <a:xfrm>
            <a:off x="6331154" y="3551694"/>
            <a:ext cx="164592" cy="164592"/>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Oval 25"/>
          <p:cNvSpPr/>
          <p:nvPr/>
        </p:nvSpPr>
        <p:spPr>
          <a:xfrm>
            <a:off x="6620256" y="1956815"/>
            <a:ext cx="292608" cy="292608"/>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5669280" y="1508760"/>
            <a:ext cx="1463040" cy="320040"/>
          </a:xfrm>
          <a:prstGeom prst="rect">
            <a:avLst/>
          </a:prstGeom>
          <a:noFill/>
        </p:spPr>
        <p:txBody>
          <a:bodyPr wrap="square" lIns="0" rIns="0" tIns="0" bIns="0" anchor="t">
            <a:spAutoFit/>
          </a:bodyPr>
          <a:lstStyle/>
          <a:p>
            <a:pPr algn="ctr"/>
            <a:r>
              <a:rPr sz="1300" b="1" i="0">
                <a:solidFill>
                  <a:srgbClr val="164194"/>
                </a:solidFill>
              </a:rPr>
              <a:t>cube</a:t>
            </a:r>
          </a:p>
        </p:txBody>
      </p:sp>
      <p:sp>
        <p:nvSpPr>
          <p:cNvPr id="28" name="TextBox 27"/>
          <p:cNvSpPr txBox="1"/>
          <p:nvPr/>
        </p:nvSpPr>
        <p:spPr>
          <a:xfrm>
            <a:off x="548640" y="5029200"/>
            <a:ext cx="1280160" cy="320040"/>
          </a:xfrm>
          <a:prstGeom prst="rect">
            <a:avLst/>
          </a:prstGeom>
          <a:noFill/>
        </p:spPr>
        <p:txBody>
          <a:bodyPr wrap="square" lIns="0" rIns="0" tIns="0" bIns="0" anchor="t">
            <a:spAutoFit/>
          </a:bodyPr>
          <a:lstStyle/>
          <a:p>
            <a:pPr algn="ctr"/>
            <a:r>
              <a:rPr sz="1300" b="1" i="0">
                <a:solidFill>
                  <a:srgbClr val="5B6275"/>
                </a:solidFill>
              </a:rPr>
              <a:t>start</a:t>
            </a:r>
          </a:p>
        </p:txBody>
      </p:sp>
      <p:sp>
        <p:nvSpPr>
          <p:cNvPr id="29" name="TextBox 28"/>
          <p:cNvSpPr txBox="1"/>
          <p:nvPr/>
        </p:nvSpPr>
        <p:spPr>
          <a:xfrm>
            <a:off x="1828800" y="1920240"/>
            <a:ext cx="3291840" cy="548640"/>
          </a:xfrm>
          <a:prstGeom prst="rect">
            <a:avLst/>
          </a:prstGeom>
          <a:noFill/>
        </p:spPr>
        <p:txBody>
          <a:bodyPr wrap="square" lIns="0" rIns="0" tIns="0" bIns="0" anchor="t">
            <a:spAutoFit/>
          </a:bodyPr>
          <a:lstStyle/>
          <a:p>
            <a:pPr algn="l"/>
            <a:r>
              <a:rPr sz="1300" b="1" i="0">
                <a:solidFill>
                  <a:srgbClr val="0F6E6A"/>
                </a:solidFill>
              </a:rPr>
              <a:t>where the demonstrations went</a:t>
            </a:r>
          </a:p>
        </p:txBody>
      </p:sp>
      <p:sp>
        <p:nvSpPr>
          <p:cNvPr id="30" name="TextBox 29"/>
          <p:cNvSpPr txBox="1"/>
          <p:nvPr/>
        </p:nvSpPr>
        <p:spPr>
          <a:xfrm>
            <a:off x="4206240" y="4572000"/>
            <a:ext cx="3108960" cy="640080"/>
          </a:xfrm>
          <a:prstGeom prst="rect">
            <a:avLst/>
          </a:prstGeom>
          <a:noFill/>
        </p:spPr>
        <p:txBody>
          <a:bodyPr wrap="square" lIns="0" rIns="0" tIns="0" bIns="0" anchor="t">
            <a:spAutoFit/>
          </a:bodyPr>
          <a:lstStyle/>
          <a:p>
            <a:pPr algn="l"/>
            <a:r>
              <a:rPr sz="1300" b="1" i="0">
                <a:solidFill>
                  <a:srgbClr val="E30613"/>
                </a:solidFill>
              </a:rPr>
              <a:t>the policy: a small error, then states no demo ever visited</a:t>
            </a:r>
          </a:p>
        </p:txBody>
      </p:sp>
      <p:sp>
        <p:nvSpPr>
          <p:cNvPr id="31" name="Rounded Rectangle 30"/>
          <p:cNvSpPr/>
          <p:nvPr/>
        </p:nvSpPr>
        <p:spPr>
          <a:xfrm>
            <a:off x="7680960" y="1554480"/>
            <a:ext cx="3931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164194"/>
                </a:solidFill>
              </a:rPr>
              <a:t>1 · A small error</a:t>
            </a:r>
          </a:p>
          <a:p>
            <a:pPr algn="l"/>
            <a:r>
              <a:rPr sz="1400" b="0" i="0">
                <a:solidFill>
                  <a:srgbClr val="1F2433"/>
                </a:solidFill>
              </a:rPr>
              <a:t>The arm ends up about 1 cm off the demonstrated path.</a:t>
            </a:r>
          </a:p>
        </p:txBody>
      </p:sp>
      <p:sp>
        <p:nvSpPr>
          <p:cNvPr id="32" name="Rounded Rectangle 31"/>
          <p:cNvSpPr/>
          <p:nvPr/>
        </p:nvSpPr>
        <p:spPr>
          <a:xfrm>
            <a:off x="7680960" y="2926080"/>
            <a:ext cx="3931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164194"/>
                </a:solidFill>
              </a:rPr>
              <a:t>2 · Somewhere new</a:t>
            </a:r>
          </a:p>
          <a:p>
            <a:pPr algn="l"/>
            <a:r>
              <a:rPr sz="1400" b="0" i="0">
                <a:solidFill>
                  <a:srgbClr val="1F2433"/>
                </a:solidFill>
              </a:rPr>
              <a:t>No demonstration passed through this state, so the next action is a guess.</a:t>
            </a:r>
          </a:p>
        </p:txBody>
      </p:sp>
      <p:sp>
        <p:nvSpPr>
          <p:cNvPr id="33" name="Rounded Rectangle 32"/>
          <p:cNvSpPr/>
          <p:nvPr/>
        </p:nvSpPr>
        <p:spPr>
          <a:xfrm>
            <a:off x="7680960" y="4297680"/>
            <a:ext cx="3931920" cy="12344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E30613"/>
                </a:solidFill>
              </a:rPr>
              <a:t>3 · Errors snowball</a:t>
            </a:r>
          </a:p>
          <a:p>
            <a:pPr algn="l"/>
            <a:r>
              <a:rPr sz="1400" b="0" i="0">
                <a:solidFill>
                  <a:srgbClr val="1F2433"/>
                </a:solidFill>
              </a:rPr>
              <a:t>Each guess moves it further from the data, where guesses get worse.</a:t>
            </a:r>
          </a:p>
        </p:txBody>
      </p:sp>
      <p:sp>
        <p:nvSpPr>
          <p:cNvPr id="34" name="Rounded Rectangle 33"/>
          <p:cNvSpPr/>
          <p:nvPr/>
        </p:nvSpPr>
        <p:spPr>
          <a:xfrm>
            <a:off x="548640" y="5669280"/>
            <a:ext cx="1106424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On a robot, every action changes the next observation. That is why errors compound.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fixes: put data where the policy actually goes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14</a:t>
            </a:fld>
            <a:endParaRPr lang="en-SG"/>
          </a:p>
        </p:txBody>
      </p:sp>
      <p:sp>
        <p:nvSpPr>
          <p:cNvPr id="7" name="Rounded Rectangle 6"/>
          <p:cNvSpPr/>
          <p:nvPr/>
        </p:nvSpPr>
        <p:spPr>
          <a:xfrm>
            <a:off x="548640" y="1554480"/>
            <a:ext cx="3566160" cy="3840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Oval 7"/>
          <p:cNvSpPr/>
          <p:nvPr/>
        </p:nvSpPr>
        <p:spPr>
          <a:xfrm>
            <a:off x="777240" y="1783080"/>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rPr>
              <a:t>1</a:t>
            </a:r>
          </a:p>
        </p:txBody>
      </p:sp>
      <p:sp>
        <p:nvSpPr>
          <p:cNvPr id="9" name="TextBox 8"/>
          <p:cNvSpPr txBox="1"/>
          <p:nvPr/>
        </p:nvSpPr>
        <p:spPr>
          <a:xfrm>
            <a:off x="777240" y="2606040"/>
            <a:ext cx="3108960" cy="1920240"/>
          </a:xfrm>
          <a:prstGeom prst="rect">
            <a:avLst/>
          </a:prstGeom>
          <a:noFill/>
        </p:spPr>
        <p:txBody>
          <a:bodyPr wrap="square" lIns="0" rIns="0" tIns="0" bIns="0" anchor="t">
            <a:spAutoFit/>
          </a:bodyPr>
          <a:lstStyle/>
          <a:p>
            <a:pPr algn="l">
              <a:spcAft>
                <a:spcPts val="600"/>
              </a:spcAft>
            </a:pPr>
            <a:r>
              <a:rPr sz="1800" b="1" i="0">
                <a:solidFill>
                  <a:srgbClr val="164194"/>
                </a:solidFill>
              </a:rPr>
              <a:t>More coverage</a:t>
            </a:r>
          </a:p>
          <a:p>
            <a:pPr algn="l"/>
            <a:r>
              <a:rPr sz="1500" b="0" i="0">
                <a:solidFill>
                  <a:srgbClr val="1F2433"/>
                </a:solidFill>
              </a:rPr>
              <a:t>Spread episodes over every starting position you will test: 10 at each of the 5 grid positions.</a:t>
            </a:r>
          </a:p>
        </p:txBody>
      </p:sp>
      <p:sp>
        <p:nvSpPr>
          <p:cNvPr id="10" name="TextBox 9"/>
          <p:cNvSpPr txBox="1"/>
          <p:nvPr/>
        </p:nvSpPr>
        <p:spPr>
          <a:xfrm>
            <a:off x="777240" y="4572000"/>
            <a:ext cx="3108960" cy="685800"/>
          </a:xfrm>
          <a:prstGeom prst="rect">
            <a:avLst/>
          </a:prstGeom>
          <a:noFill/>
        </p:spPr>
        <p:txBody>
          <a:bodyPr wrap="square" lIns="0" rIns="0" tIns="0" bIns="0" anchor="t">
            <a:spAutoFit/>
          </a:bodyPr>
          <a:lstStyle/>
          <a:p>
            <a:pPr algn="l"/>
            <a:r>
              <a:rPr sz="1400" b="1" i="0">
                <a:solidFill>
                  <a:srgbClr val="5B6275"/>
                </a:solidFill>
              </a:rPr>
              <a:t>Effect: </a:t>
            </a:r>
            <a:r>
              <a:rPr sz="1400" b="0" i="0">
                <a:solidFill>
                  <a:srgbClr val="5B6275"/>
                </a:solidFill>
              </a:rPr>
              <a:t>the band gets wider</a:t>
            </a:r>
          </a:p>
        </p:txBody>
      </p:sp>
      <p:sp>
        <p:nvSpPr>
          <p:cNvPr id="11" name="Rounded Rectangle 10"/>
          <p:cNvSpPr/>
          <p:nvPr/>
        </p:nvSpPr>
        <p:spPr>
          <a:xfrm>
            <a:off x="4297679" y="1554480"/>
            <a:ext cx="3566160" cy="38404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Oval 11"/>
          <p:cNvSpPr/>
          <p:nvPr/>
        </p:nvSpPr>
        <p:spPr>
          <a:xfrm>
            <a:off x="4526279" y="1783080"/>
            <a:ext cx="640080" cy="640080"/>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rPr>
              <a:t>2</a:t>
            </a:r>
          </a:p>
        </p:txBody>
      </p:sp>
      <p:sp>
        <p:nvSpPr>
          <p:cNvPr id="13" name="TextBox 12"/>
          <p:cNvSpPr txBox="1"/>
          <p:nvPr/>
        </p:nvSpPr>
        <p:spPr>
          <a:xfrm>
            <a:off x="4526279" y="2606040"/>
            <a:ext cx="3108960" cy="1920240"/>
          </a:xfrm>
          <a:prstGeom prst="rect">
            <a:avLst/>
          </a:prstGeom>
          <a:noFill/>
        </p:spPr>
        <p:txBody>
          <a:bodyPr wrap="square" lIns="0" rIns="0" tIns="0" bIns="0" anchor="t">
            <a:spAutoFit/>
          </a:bodyPr>
          <a:lstStyle/>
          <a:p>
            <a:pPr algn="l">
              <a:spcAft>
                <a:spcPts val="600"/>
              </a:spcAft>
            </a:pPr>
            <a:r>
              <a:rPr sz="1800" b="1" i="0">
                <a:solidFill>
                  <a:srgbClr val="0F6E6A"/>
                </a:solidFill>
              </a:rPr>
              <a:t>Recovery demonstrations</a:t>
            </a:r>
          </a:p>
          <a:p>
            <a:pPr algn="l"/>
            <a:r>
              <a:rPr sz="1500" b="0" i="0">
                <a:solidFill>
                  <a:srgbClr val="1F2433"/>
                </a:solidFill>
              </a:rPr>
              <a:t>Start a few episodes slightly off the usual path and show the correction back.</a:t>
            </a:r>
          </a:p>
        </p:txBody>
      </p:sp>
      <p:sp>
        <p:nvSpPr>
          <p:cNvPr id="14" name="TextBox 13"/>
          <p:cNvSpPr txBox="1"/>
          <p:nvPr/>
        </p:nvSpPr>
        <p:spPr>
          <a:xfrm>
            <a:off x="4526279" y="4572000"/>
            <a:ext cx="3108960" cy="685800"/>
          </a:xfrm>
          <a:prstGeom prst="rect">
            <a:avLst/>
          </a:prstGeom>
          <a:noFill/>
        </p:spPr>
        <p:txBody>
          <a:bodyPr wrap="square" lIns="0" rIns="0" tIns="0" bIns="0" anchor="t">
            <a:spAutoFit/>
          </a:bodyPr>
          <a:lstStyle/>
          <a:p>
            <a:pPr algn="l"/>
            <a:r>
              <a:rPr sz="1400" b="1" i="0">
                <a:solidFill>
                  <a:srgbClr val="5B6275"/>
                </a:solidFill>
              </a:rPr>
              <a:t>Effect: </a:t>
            </a:r>
            <a:r>
              <a:rPr sz="1400" b="0" i="0">
                <a:solidFill>
                  <a:srgbClr val="5B6275"/>
                </a:solidFill>
              </a:rPr>
              <a:t>the data shows how to get back</a:t>
            </a:r>
          </a:p>
        </p:txBody>
      </p:sp>
      <p:sp>
        <p:nvSpPr>
          <p:cNvPr id="15" name="Rounded Rectangle 14"/>
          <p:cNvSpPr/>
          <p:nvPr/>
        </p:nvSpPr>
        <p:spPr>
          <a:xfrm>
            <a:off x="8046719" y="1554480"/>
            <a:ext cx="3566160" cy="38404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Oval 15"/>
          <p:cNvSpPr/>
          <p:nvPr/>
        </p:nvSpPr>
        <p:spPr>
          <a:xfrm>
            <a:off x="8275319" y="1783080"/>
            <a:ext cx="640080" cy="64008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rPr>
              <a:t>3</a:t>
            </a:r>
          </a:p>
        </p:txBody>
      </p:sp>
      <p:sp>
        <p:nvSpPr>
          <p:cNvPr id="17" name="TextBox 16"/>
          <p:cNvSpPr txBox="1"/>
          <p:nvPr/>
        </p:nvSpPr>
        <p:spPr>
          <a:xfrm>
            <a:off x="8275319" y="2606040"/>
            <a:ext cx="3108960" cy="1920240"/>
          </a:xfrm>
          <a:prstGeom prst="rect">
            <a:avLst/>
          </a:prstGeom>
          <a:noFill/>
        </p:spPr>
        <p:txBody>
          <a:bodyPr wrap="square" lIns="0" rIns="0" tIns="0" bIns="0" anchor="t">
            <a:spAutoFit/>
          </a:bodyPr>
          <a:lstStyle/>
          <a:p>
            <a:pPr algn="l">
              <a:spcAft>
                <a:spcPts val="600"/>
              </a:spcAft>
            </a:pPr>
            <a:r>
              <a:rPr sz="1800" b="1" i="0">
                <a:solidFill>
                  <a:srgbClr val="E30613"/>
                </a:solidFill>
              </a:rPr>
              <a:t>Correction rounds (DAgger)</a:t>
            </a:r>
          </a:p>
          <a:p>
            <a:pPr algn="l"/>
            <a:r>
              <a:rPr sz="1500" b="0" i="0">
                <a:solidFill>
                  <a:srgbClr val="1F2433"/>
                </a:solidFill>
              </a:rPr>
              <a:t>Let the policy drive; when it drifts, a human takes over. Add those frames and retrain. Used in Lab 12.</a:t>
            </a:r>
          </a:p>
        </p:txBody>
      </p:sp>
      <p:sp>
        <p:nvSpPr>
          <p:cNvPr id="18" name="TextBox 17"/>
          <p:cNvSpPr txBox="1"/>
          <p:nvPr/>
        </p:nvSpPr>
        <p:spPr>
          <a:xfrm>
            <a:off x="8275319" y="4572000"/>
            <a:ext cx="3108960" cy="685800"/>
          </a:xfrm>
          <a:prstGeom prst="rect">
            <a:avLst/>
          </a:prstGeom>
          <a:noFill/>
        </p:spPr>
        <p:txBody>
          <a:bodyPr wrap="square" lIns="0" rIns="0" tIns="0" bIns="0" anchor="t">
            <a:spAutoFit/>
          </a:bodyPr>
          <a:lstStyle/>
          <a:p>
            <a:pPr algn="l"/>
            <a:r>
              <a:rPr sz="1400" b="1" i="0">
                <a:solidFill>
                  <a:srgbClr val="5B6275"/>
                </a:solidFill>
              </a:rPr>
              <a:t>Effect: </a:t>
            </a:r>
            <a:r>
              <a:rPr sz="1400" b="0" i="0">
                <a:solidFill>
                  <a:srgbClr val="5B6275"/>
                </a:solidFill>
              </a:rPr>
              <a:t>data from the states the policy really visits</a:t>
            </a:r>
          </a:p>
        </p:txBody>
      </p:sp>
      <p:sp>
        <p:nvSpPr>
          <p:cNvPr id="19" name="Rounded Rectangle 18"/>
          <p:cNvSpPr/>
          <p:nvPr/>
        </p:nvSpPr>
        <p:spPr>
          <a:xfrm>
            <a:off x="548640" y="5577840"/>
            <a:ext cx="1106424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All three do the same job: put data where the policy actually goes.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Multi-modality: when the average is a crash</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15</a:t>
            </a:fld>
            <a:endParaRPr lang="en-SG"/>
          </a:p>
        </p:txBody>
      </p:sp>
      <p:sp>
        <p:nvSpPr>
          <p:cNvPr id="7" name="Oval 6"/>
          <p:cNvSpPr/>
          <p:nvPr/>
        </p:nvSpPr>
        <p:spPr>
          <a:xfrm>
            <a:off x="777240" y="3520440"/>
            <a:ext cx="274320" cy="274320"/>
          </a:xfrm>
          <a:prstGeom prst="ellipse">
            <a:avLst/>
          </a:prstGeom>
          <a:solidFill>
            <a:srgbClr val="5B62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Oval 7"/>
          <p:cNvSpPr/>
          <p:nvPr/>
        </p:nvSpPr>
        <p:spPr>
          <a:xfrm>
            <a:off x="6620256" y="3511296"/>
            <a:ext cx="292608" cy="292608"/>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365760" y="3886200"/>
            <a:ext cx="1097280" cy="320040"/>
          </a:xfrm>
          <a:prstGeom prst="rect">
            <a:avLst/>
          </a:prstGeom>
          <a:noFill/>
        </p:spPr>
        <p:txBody>
          <a:bodyPr wrap="square" lIns="0" rIns="0" tIns="0" bIns="0" anchor="t">
            <a:spAutoFit/>
          </a:bodyPr>
          <a:lstStyle/>
          <a:p>
            <a:pPr algn="ctr"/>
            <a:r>
              <a:rPr sz="1300" b="1" i="0">
                <a:solidFill>
                  <a:srgbClr val="5B6275"/>
                </a:solidFill>
              </a:rPr>
              <a:t>start</a:t>
            </a:r>
          </a:p>
        </p:txBody>
      </p:sp>
      <p:sp>
        <p:nvSpPr>
          <p:cNvPr id="10" name="TextBox 9"/>
          <p:cNvSpPr txBox="1"/>
          <p:nvPr/>
        </p:nvSpPr>
        <p:spPr>
          <a:xfrm>
            <a:off x="6217920" y="3886200"/>
            <a:ext cx="1097280" cy="320040"/>
          </a:xfrm>
          <a:prstGeom prst="rect">
            <a:avLst/>
          </a:prstGeom>
          <a:noFill/>
        </p:spPr>
        <p:txBody>
          <a:bodyPr wrap="square" lIns="0" rIns="0" tIns="0" bIns="0" anchor="t">
            <a:spAutoFit/>
          </a:bodyPr>
          <a:lstStyle/>
          <a:p>
            <a:pPr algn="ctr"/>
            <a:r>
              <a:rPr sz="1300" b="1" i="0">
                <a:solidFill>
                  <a:srgbClr val="164194"/>
                </a:solidFill>
              </a:rPr>
              <a:t>goal</a:t>
            </a:r>
          </a:p>
        </p:txBody>
      </p:sp>
      <p:sp>
        <p:nvSpPr>
          <p:cNvPr id="11" name="Rectangle 10"/>
          <p:cNvSpPr/>
          <p:nvPr/>
        </p:nvSpPr>
        <p:spPr>
          <a:xfrm>
            <a:off x="3383280" y="3154680"/>
            <a:ext cx="914400" cy="1005840"/>
          </a:xfrm>
          <a:prstGeom prst="rect">
            <a:avLst/>
          </a:prstGeom>
          <a:solidFill>
            <a:srgbClr val="1F24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FFFFFF"/>
                </a:solidFill>
              </a:rPr>
              <a:t>block</a:t>
            </a:r>
          </a:p>
        </p:txBody>
      </p:sp>
      <p:cxnSp>
        <p:nvCxnSpPr>
          <p:cNvPr id="12" name="Connector 11"/>
          <p:cNvCxnSpPr/>
          <p:nvPr/>
        </p:nvCxnSpPr>
        <p:spPr>
          <a:xfrm flipV="1">
            <a:off x="1005840" y="2148840"/>
            <a:ext cx="1645920" cy="1417320"/>
          </a:xfrm>
          <a:prstGeom prst="line">
            <a:avLst/>
          </a:prstGeom>
          <a:ln w="38100">
            <a:solidFill>
              <a:srgbClr val="0F6E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1760" y="2148840"/>
            <a:ext cx="2377440" cy="0"/>
          </a:xfrm>
          <a:prstGeom prst="line">
            <a:avLst/>
          </a:prstGeom>
          <a:ln w="38100">
            <a:solidFill>
              <a:srgbClr val="0F6E6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29200" y="2148840"/>
            <a:ext cx="1600200" cy="1371600"/>
          </a:xfrm>
          <a:prstGeom prst="line">
            <a:avLst/>
          </a:prstGeom>
          <a:ln w="3810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5840" y="3749039"/>
            <a:ext cx="1645920" cy="1417321"/>
          </a:xfrm>
          <a:prstGeom prst="line">
            <a:avLst/>
          </a:prstGeom>
          <a:ln w="38100">
            <a:solidFill>
              <a:srgbClr val="0F6E6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51760" y="5166360"/>
            <a:ext cx="2377440" cy="0"/>
          </a:xfrm>
          <a:prstGeom prst="line">
            <a:avLst/>
          </a:prstGeom>
          <a:ln w="38100">
            <a:solidFill>
              <a:srgbClr val="0F6E6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029200" y="3794760"/>
            <a:ext cx="1600200" cy="1371600"/>
          </a:xfrm>
          <a:prstGeom prst="line">
            <a:avLst/>
          </a:prstGeom>
          <a:ln w="3810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97280" y="3657600"/>
            <a:ext cx="2240280" cy="0"/>
          </a:xfrm>
          <a:prstGeom prst="line">
            <a:avLst/>
          </a:prstGeom>
          <a:ln w="38100">
            <a:solidFill>
              <a:srgbClr val="E3061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194560" y="1691640"/>
            <a:ext cx="3657600" cy="365760"/>
          </a:xfrm>
          <a:prstGeom prst="rect">
            <a:avLst/>
          </a:prstGeom>
          <a:noFill/>
        </p:spPr>
        <p:txBody>
          <a:bodyPr wrap="square" lIns="0" rIns="0" tIns="0" bIns="0" anchor="t">
            <a:spAutoFit/>
          </a:bodyPr>
          <a:lstStyle/>
          <a:p>
            <a:pPr algn="ctr"/>
            <a:r>
              <a:rPr sz="1300" b="1" i="0">
                <a:solidFill>
                  <a:srgbClr val="0F6E6A"/>
                </a:solidFill>
              </a:rPr>
              <a:t>half the demos: over the top (+10 cm)</a:t>
            </a:r>
          </a:p>
        </p:txBody>
      </p:sp>
      <p:sp>
        <p:nvSpPr>
          <p:cNvPr id="20" name="TextBox 19"/>
          <p:cNvSpPr txBox="1"/>
          <p:nvPr/>
        </p:nvSpPr>
        <p:spPr>
          <a:xfrm>
            <a:off x="2194560" y="5303520"/>
            <a:ext cx="3657600" cy="365760"/>
          </a:xfrm>
          <a:prstGeom prst="rect">
            <a:avLst/>
          </a:prstGeom>
          <a:noFill/>
        </p:spPr>
        <p:txBody>
          <a:bodyPr wrap="square" lIns="0" rIns="0" tIns="0" bIns="0" anchor="t">
            <a:spAutoFit/>
          </a:bodyPr>
          <a:lstStyle/>
          <a:p>
            <a:pPr algn="ctr"/>
            <a:r>
              <a:rPr sz="1300" b="1" i="0">
                <a:solidFill>
                  <a:srgbClr val="0F6E6A"/>
                </a:solidFill>
              </a:rPr>
              <a:t>half the demos: underneath (−10 cm)</a:t>
            </a:r>
          </a:p>
        </p:txBody>
      </p:sp>
      <p:sp>
        <p:nvSpPr>
          <p:cNvPr id="21" name="TextBox 20"/>
          <p:cNvSpPr txBox="1"/>
          <p:nvPr/>
        </p:nvSpPr>
        <p:spPr>
          <a:xfrm>
            <a:off x="1600200" y="3767328"/>
            <a:ext cx="1737360" cy="548640"/>
          </a:xfrm>
          <a:prstGeom prst="rect">
            <a:avLst/>
          </a:prstGeom>
          <a:noFill/>
        </p:spPr>
        <p:txBody>
          <a:bodyPr wrap="square" lIns="0" rIns="0" tIns="0" bIns="0" anchor="t">
            <a:spAutoFit/>
          </a:bodyPr>
          <a:lstStyle/>
          <a:p>
            <a:pPr algn="l"/>
            <a:r>
              <a:rPr sz="1200" b="1" i="0">
                <a:solidFill>
                  <a:srgbClr val="E30613"/>
                </a:solidFill>
              </a:rPr>
              <a:t>the average (0 cm): straight into the block</a:t>
            </a:r>
          </a:p>
        </p:txBody>
      </p:sp>
      <p:sp>
        <p:nvSpPr>
          <p:cNvPr id="22" name="Rounded Rectangle 21"/>
          <p:cNvSpPr/>
          <p:nvPr/>
        </p:nvSpPr>
        <p:spPr>
          <a:xfrm>
            <a:off x="7680960" y="1554480"/>
            <a:ext cx="393192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164194"/>
                </a:solidFill>
              </a:rPr>
              <a:t>Why it happens</a:t>
            </a:r>
          </a:p>
          <a:p>
            <a:pPr algn="l"/>
            <a:r>
              <a:rPr sz="1400" b="0" i="0">
                <a:solidFill>
                  <a:srgbClr val="1F2433"/>
                </a:solidFill>
              </a:rPr>
              <a:t>The loss pulls predictions towards the average of the labels. Two good answers average into a bad one.</a:t>
            </a:r>
          </a:p>
        </p:txBody>
      </p:sp>
      <p:sp>
        <p:nvSpPr>
          <p:cNvPr id="23" name="Rounded Rectangle 22"/>
          <p:cNvSpPr/>
          <p:nvPr/>
        </p:nvSpPr>
        <p:spPr>
          <a:xfrm>
            <a:off x="7680960" y="2971800"/>
            <a:ext cx="3931920" cy="12801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0F6E6A"/>
                </a:solidFill>
              </a:rPr>
              <a:t>Fix 1 · the data</a:t>
            </a:r>
          </a:p>
          <a:p>
            <a:pPr algn="l"/>
            <a:r>
              <a:rPr sz="1400" b="0" i="0">
                <a:solidFill>
                  <a:srgbClr val="1F2433"/>
                </a:solidFill>
              </a:rPr>
              <a:t>One consistent strategy for every demonstration: the L3 rule, and now you know why.</a:t>
            </a:r>
          </a:p>
        </p:txBody>
      </p:sp>
      <p:sp>
        <p:nvSpPr>
          <p:cNvPr id="24" name="Rounded Rectangle 23"/>
          <p:cNvSpPr/>
          <p:nvPr/>
        </p:nvSpPr>
        <p:spPr>
          <a:xfrm>
            <a:off x="7680960" y="4389120"/>
            <a:ext cx="3931920" cy="12801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E30613"/>
                </a:solidFill>
              </a:rPr>
              <a:t>Fix 2 · the model</a:t>
            </a:r>
          </a:p>
          <a:p>
            <a:pPr algn="l"/>
            <a:r>
              <a:rPr sz="1400" b="0" i="0">
                <a:solidFill>
                  <a:srgbClr val="1F2433"/>
                </a:solidFill>
              </a:rPr>
              <a:t>Policies that can represent several modes: ACT's style variable, Diffusion Policy.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chunking: fewer decisions, smoother motion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16</a:t>
            </a:fld>
            <a:endParaRPr lang="en-SG"/>
          </a:p>
        </p:txBody>
      </p:sp>
      <p:sp>
        <p:nvSpPr>
          <p:cNvPr id="7" name="TextBox 6"/>
          <p:cNvSpPr txBox="1"/>
          <p:nvPr/>
        </p:nvSpPr>
        <p:spPr>
          <a:xfrm>
            <a:off x="548640" y="1508760"/>
            <a:ext cx="3657600" cy="320040"/>
          </a:xfrm>
          <a:prstGeom prst="rect">
            <a:avLst/>
          </a:prstGeom>
          <a:noFill/>
        </p:spPr>
        <p:txBody>
          <a:bodyPr wrap="square" lIns="0" rIns="0" tIns="0" bIns="0" anchor="t">
            <a:spAutoFit/>
          </a:bodyPr>
          <a:lstStyle/>
          <a:p>
            <a:pPr algn="l"/>
            <a:r>
              <a:rPr sz="1400" b="1" i="0">
                <a:solidFill>
                  <a:srgbClr val="E30613"/>
                </a:solidFill>
              </a:rPr>
              <a:t>One decision per step</a:t>
            </a:r>
          </a:p>
        </p:txBody>
      </p:sp>
      <p:sp>
        <p:nvSpPr>
          <p:cNvPr id="8" name="TextBox 7"/>
          <p:cNvSpPr txBox="1"/>
          <p:nvPr/>
        </p:nvSpPr>
        <p:spPr>
          <a:xfrm>
            <a:off x="548640" y="2514600"/>
            <a:ext cx="3657600" cy="320040"/>
          </a:xfrm>
          <a:prstGeom prst="rect">
            <a:avLst/>
          </a:prstGeom>
          <a:noFill/>
        </p:spPr>
        <p:txBody>
          <a:bodyPr wrap="square" lIns="0" rIns="0" tIns="0" bIns="0" anchor="t">
            <a:spAutoFit/>
          </a:bodyPr>
          <a:lstStyle/>
          <a:p>
            <a:pPr algn="l"/>
            <a:r>
              <a:rPr sz="1400" b="1" i="0">
                <a:solidFill>
                  <a:srgbClr val="164194"/>
                </a:solidFill>
              </a:rPr>
              <a:t>Chunked: one decision → k actions (k = 6 shown)</a:t>
            </a:r>
          </a:p>
        </p:txBody>
      </p:sp>
      <p:sp>
        <p:nvSpPr>
          <p:cNvPr id="9" name="Rectangle 8"/>
          <p:cNvSpPr/>
          <p:nvPr/>
        </p:nvSpPr>
        <p:spPr>
          <a:xfrm>
            <a:off x="548640"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548640" y="2880360"/>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D</a:t>
            </a:r>
          </a:p>
        </p:txBody>
      </p:sp>
      <p:sp>
        <p:nvSpPr>
          <p:cNvPr id="11" name="Rectangle 10"/>
          <p:cNvSpPr/>
          <p:nvPr/>
        </p:nvSpPr>
        <p:spPr>
          <a:xfrm>
            <a:off x="1161288"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1161288"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13" name="Rectangle 12"/>
          <p:cNvSpPr/>
          <p:nvPr/>
        </p:nvSpPr>
        <p:spPr>
          <a:xfrm>
            <a:off x="1773936"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1773936"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15" name="Rectangle 14"/>
          <p:cNvSpPr/>
          <p:nvPr/>
        </p:nvSpPr>
        <p:spPr>
          <a:xfrm>
            <a:off x="2386584"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2386584"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17" name="Rectangle 16"/>
          <p:cNvSpPr/>
          <p:nvPr/>
        </p:nvSpPr>
        <p:spPr>
          <a:xfrm>
            <a:off x="2999232"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999232"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19" name="Rectangle 18"/>
          <p:cNvSpPr/>
          <p:nvPr/>
        </p:nvSpPr>
        <p:spPr>
          <a:xfrm>
            <a:off x="3611880"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ectangle 19"/>
          <p:cNvSpPr/>
          <p:nvPr/>
        </p:nvSpPr>
        <p:spPr>
          <a:xfrm>
            <a:off x="3611880"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21" name="Rectangle 20"/>
          <p:cNvSpPr/>
          <p:nvPr/>
        </p:nvSpPr>
        <p:spPr>
          <a:xfrm>
            <a:off x="4224528"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ectangle 21"/>
          <p:cNvSpPr/>
          <p:nvPr/>
        </p:nvSpPr>
        <p:spPr>
          <a:xfrm>
            <a:off x="4224528" y="2880360"/>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D</a:t>
            </a:r>
          </a:p>
        </p:txBody>
      </p:sp>
      <p:sp>
        <p:nvSpPr>
          <p:cNvPr id="23" name="Rectangle 22"/>
          <p:cNvSpPr/>
          <p:nvPr/>
        </p:nvSpPr>
        <p:spPr>
          <a:xfrm>
            <a:off x="4837176"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4837176"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25" name="Rectangle 24"/>
          <p:cNvSpPr/>
          <p:nvPr/>
        </p:nvSpPr>
        <p:spPr>
          <a:xfrm>
            <a:off x="5449824"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5449824"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27" name="Rectangle 26"/>
          <p:cNvSpPr/>
          <p:nvPr/>
        </p:nvSpPr>
        <p:spPr>
          <a:xfrm>
            <a:off x="6062472"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ectangle 27"/>
          <p:cNvSpPr/>
          <p:nvPr/>
        </p:nvSpPr>
        <p:spPr>
          <a:xfrm>
            <a:off x="6062472"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29" name="Rectangle 28"/>
          <p:cNvSpPr/>
          <p:nvPr/>
        </p:nvSpPr>
        <p:spPr>
          <a:xfrm>
            <a:off x="6675120"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ectangle 29"/>
          <p:cNvSpPr/>
          <p:nvPr/>
        </p:nvSpPr>
        <p:spPr>
          <a:xfrm>
            <a:off x="6675120"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31" name="Rectangle 30"/>
          <p:cNvSpPr/>
          <p:nvPr/>
        </p:nvSpPr>
        <p:spPr>
          <a:xfrm>
            <a:off x="7287768"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ectangle 31"/>
          <p:cNvSpPr/>
          <p:nvPr/>
        </p:nvSpPr>
        <p:spPr>
          <a:xfrm>
            <a:off x="7287768"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33" name="Rectangle 32"/>
          <p:cNvSpPr/>
          <p:nvPr/>
        </p:nvSpPr>
        <p:spPr>
          <a:xfrm>
            <a:off x="7900416"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Rectangle 33"/>
          <p:cNvSpPr/>
          <p:nvPr/>
        </p:nvSpPr>
        <p:spPr>
          <a:xfrm>
            <a:off x="7900416" y="2880360"/>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D</a:t>
            </a:r>
          </a:p>
        </p:txBody>
      </p:sp>
      <p:sp>
        <p:nvSpPr>
          <p:cNvPr id="35" name="Rectangle 34"/>
          <p:cNvSpPr/>
          <p:nvPr/>
        </p:nvSpPr>
        <p:spPr>
          <a:xfrm>
            <a:off x="8513064"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ectangle 35"/>
          <p:cNvSpPr/>
          <p:nvPr/>
        </p:nvSpPr>
        <p:spPr>
          <a:xfrm>
            <a:off x="8513064"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37" name="Rectangle 36"/>
          <p:cNvSpPr/>
          <p:nvPr/>
        </p:nvSpPr>
        <p:spPr>
          <a:xfrm>
            <a:off x="9125712"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ctangle 37"/>
          <p:cNvSpPr/>
          <p:nvPr/>
        </p:nvSpPr>
        <p:spPr>
          <a:xfrm>
            <a:off x="9125712"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39" name="Rectangle 38"/>
          <p:cNvSpPr/>
          <p:nvPr/>
        </p:nvSpPr>
        <p:spPr>
          <a:xfrm>
            <a:off x="9738360"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ctangle 39"/>
          <p:cNvSpPr/>
          <p:nvPr/>
        </p:nvSpPr>
        <p:spPr>
          <a:xfrm>
            <a:off x="9738360"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41" name="Rectangle 40"/>
          <p:cNvSpPr/>
          <p:nvPr/>
        </p:nvSpPr>
        <p:spPr>
          <a:xfrm>
            <a:off x="10351008"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ctangle 41"/>
          <p:cNvSpPr/>
          <p:nvPr/>
        </p:nvSpPr>
        <p:spPr>
          <a:xfrm>
            <a:off x="10351008"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43" name="Rectangle 42"/>
          <p:cNvSpPr/>
          <p:nvPr/>
        </p:nvSpPr>
        <p:spPr>
          <a:xfrm>
            <a:off x="10963656" y="1874519"/>
            <a:ext cx="502920" cy="4572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ectangle 43"/>
          <p:cNvSpPr/>
          <p:nvPr/>
        </p:nvSpPr>
        <p:spPr>
          <a:xfrm>
            <a:off x="10963656" y="2880360"/>
            <a:ext cx="502920" cy="457200"/>
          </a:xfrm>
          <a:prstGeom prst="rect">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rPr>
              <a:t/>
            </a:r>
          </a:p>
        </p:txBody>
      </p:sp>
      <p:sp>
        <p:nvSpPr>
          <p:cNvPr id="45" name="TextBox 44"/>
          <p:cNvSpPr txBox="1"/>
          <p:nvPr/>
        </p:nvSpPr>
        <p:spPr>
          <a:xfrm>
            <a:off x="548640" y="3429000"/>
            <a:ext cx="11064240" cy="274320"/>
          </a:xfrm>
          <a:prstGeom prst="rect">
            <a:avLst/>
          </a:prstGeom>
          <a:noFill/>
        </p:spPr>
        <p:txBody>
          <a:bodyPr wrap="square" lIns="0" rIns="0" tIns="0" bIns="0" anchor="t">
            <a:spAutoFit/>
          </a:bodyPr>
          <a:lstStyle/>
          <a:p>
            <a:pPr algn="l"/>
            <a:r>
              <a:rPr sz="1100" b="0" i="0">
                <a:solidFill>
                  <a:srgbClr val="5B6275"/>
                </a:solidFill>
              </a:rPr>
              <a:t>Each square is one step at 30 Hz. Red = a fresh decision. Blue = an action taken from the current chunk.</a:t>
            </a:r>
          </a:p>
        </p:txBody>
      </p:sp>
      <p:sp>
        <p:nvSpPr>
          <p:cNvPr id="46" name="Rounded Rectangle 45"/>
          <p:cNvSpPr/>
          <p:nvPr/>
        </p:nvSpPr>
        <p:spPr>
          <a:xfrm>
            <a:off x="548640" y="3886200"/>
            <a:ext cx="3566160" cy="1600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5B6275"/>
                </a:solidFill>
              </a:rPr>
              <a:t>600 decisions</a:t>
            </a:r>
          </a:p>
          <a:p>
            <a:pPr algn="ctr"/>
            <a:r>
              <a:rPr sz="3400" b="1" i="0">
                <a:solidFill>
                  <a:srgbClr val="E30613"/>
                </a:solidFill>
              </a:rPr>
              <a:t>≈ 0.2%</a:t>
            </a:r>
          </a:p>
          <a:p>
            <a:pPr algn="ctr"/>
            <a:r>
              <a:rPr sz="1300" b="0" i="0">
                <a:solidFill>
                  <a:srgbClr val="5B6275"/>
                </a:solidFill>
              </a:rPr>
              <a:t>clean episodes</a:t>
            </a:r>
          </a:p>
        </p:txBody>
      </p:sp>
      <p:sp>
        <p:nvSpPr>
          <p:cNvPr id="47" name="Rounded Rectangle 46"/>
          <p:cNvSpPr/>
          <p:nvPr/>
        </p:nvSpPr>
        <p:spPr>
          <a:xfrm>
            <a:off x="4297680" y="3886200"/>
            <a:ext cx="3566160" cy="1600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5B6275"/>
                </a:solidFill>
              </a:rPr>
              <a:t>6 decisions (chunks of 100)</a:t>
            </a:r>
          </a:p>
          <a:p>
            <a:pPr algn="ctr"/>
            <a:r>
              <a:rPr sz="3400" b="1" i="0">
                <a:solidFill>
                  <a:srgbClr val="0F6E6A"/>
                </a:solidFill>
              </a:rPr>
              <a:t>≈ 94%</a:t>
            </a:r>
          </a:p>
          <a:p>
            <a:pPr algn="ctr"/>
            <a:r>
              <a:rPr sz="1300" b="0" i="0">
                <a:solidFill>
                  <a:srgbClr val="5B6275"/>
                </a:solidFill>
              </a:rPr>
              <a:t>clean episodes</a:t>
            </a:r>
          </a:p>
        </p:txBody>
      </p:sp>
      <p:sp>
        <p:nvSpPr>
          <p:cNvPr id="48" name="TextBox 47"/>
          <p:cNvSpPr txBox="1"/>
          <p:nvPr/>
        </p:nvSpPr>
        <p:spPr>
          <a:xfrm>
            <a:off x="548640" y="5577840"/>
            <a:ext cx="7315200" cy="502920"/>
          </a:xfrm>
          <a:prstGeom prst="rect">
            <a:avLst/>
          </a:prstGeom>
          <a:noFill/>
        </p:spPr>
        <p:txBody>
          <a:bodyPr wrap="square" lIns="0" rIns="0" tIns="0" bIns="0" anchor="t">
            <a:spAutoFit/>
          </a:bodyPr>
          <a:lstStyle/>
          <a:p>
            <a:pPr algn="l"/>
            <a:r>
              <a:rPr sz="1100" b="0" i="0">
                <a:solidFill>
                  <a:srgbClr val="5B6275"/>
                </a:solidFill>
              </a:rPr>
              <a:t>Toy model: every decision has a 1% chance of a derailing mistake. 20 s at 30 Hz = 600 steps. 0.99⁶⁰⁰ ≈ 0.002; 0.99⁶ ≈ 0.94.</a:t>
            </a:r>
          </a:p>
        </p:txBody>
      </p:sp>
      <p:sp>
        <p:nvSpPr>
          <p:cNvPr id="49" name="Rounded Rectangle 48"/>
          <p:cNvSpPr/>
          <p:nvPr/>
        </p:nvSpPr>
        <p:spPr>
          <a:xfrm>
            <a:off x="8046720" y="3886200"/>
            <a:ext cx="3566160" cy="21945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600" b="1" i="0">
                <a:solidFill>
                  <a:srgbClr val="164194"/>
                </a:solidFill>
              </a:rPr>
              <a:t>Also</a:t>
            </a:r>
          </a:p>
          <a:p>
            <a:pPr algn="l">
              <a:spcAft>
                <a:spcPts val="600"/>
              </a:spcAft>
            </a:pPr>
            <a:r>
              <a:rPr sz="1400" b="0" i="0">
                <a:solidFill>
                  <a:srgbClr val="1F2433"/>
                </a:solidFill>
              </a:rPr>
              <a:t>Smoother motion: each chunk is planned as one sequence</a:t>
            </a:r>
          </a:p>
          <a:p>
            <a:pPr algn="l">
              <a:spcAft>
                <a:spcPts val="600"/>
              </a:spcAft>
            </a:pPr>
            <a:r>
              <a:rPr sz="1400" b="0" i="0">
                <a:solidFill>
                  <a:srgbClr val="1F2433"/>
                </a:solidFill>
              </a:rPr>
              <a:t>Brief pauses in the demos matter less</a:t>
            </a:r>
          </a:p>
          <a:p>
            <a:pPr algn="l"/>
            <a:r>
              <a:rPr sz="1400" b="1" i="0">
                <a:solidFill>
                  <a:srgbClr val="1F2433"/>
                </a:solidFill>
              </a:rPr>
              <a:t>LeRobot's ACT default: k = 100 (≈ 3.3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17</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ACT, and imitation learning from sim to arm</a:t>
            </a:r>
          </a:p>
          <a:p>
            <a:pPr algn="l"/>
            <a:r>
              <a:rPr sz="1800" b="0" i="0">
                <a:solidFill>
                  <a:srgbClr val="DDE5F7"/>
                </a:solidFill>
              </a:rPr>
              <a:t>The policy you will train, and how its data gets collected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Action Chunking with Transformers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18</a:t>
            </a:fld>
            <a:endParaRPr lang="en-SG"/>
          </a:p>
        </p:txBody>
      </p:sp>
      <p:sp>
        <p:nvSpPr>
          <p:cNvPr id="7" name="Rounded Rectangle 6"/>
          <p:cNvSpPr/>
          <p:nvPr/>
        </p:nvSpPr>
        <p:spPr>
          <a:xfrm>
            <a:off x="548640" y="1645920"/>
            <a:ext cx="2194560" cy="91440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5B6275"/>
                </a:solidFill>
              </a:rPr>
              <a:t>front camera image</a:t>
            </a:r>
          </a:p>
        </p:txBody>
      </p:sp>
      <p:sp>
        <p:nvSpPr>
          <p:cNvPr id="8" name="Rounded Rectangle 7"/>
          <p:cNvSpPr/>
          <p:nvPr/>
        </p:nvSpPr>
        <p:spPr>
          <a:xfrm>
            <a:off x="548640" y="2743200"/>
            <a:ext cx="2194560" cy="91440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5B6275"/>
                </a:solidFill>
              </a:rPr>
              <a:t>wrist camera image</a:t>
            </a:r>
          </a:p>
        </p:txBody>
      </p:sp>
      <p:sp>
        <p:nvSpPr>
          <p:cNvPr id="9" name="Rounded Rectangle 8"/>
          <p:cNvSpPr/>
          <p:nvPr/>
        </p:nvSpPr>
        <p:spPr>
          <a:xfrm>
            <a:off x="548640" y="3840480"/>
            <a:ext cx="2194560" cy="7772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6 joint positions</a:t>
            </a:r>
          </a:p>
        </p:txBody>
      </p:sp>
      <p:cxnSp>
        <p:nvCxnSpPr>
          <p:cNvPr id="10" name="Connector 9"/>
          <p:cNvCxnSpPr/>
          <p:nvPr/>
        </p:nvCxnSpPr>
        <p:spPr>
          <a:xfrm>
            <a:off x="2788920" y="2103120"/>
            <a:ext cx="27432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08960" y="1645920"/>
            <a:ext cx="201168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ResNet-18 encoder</a:t>
            </a:r>
          </a:p>
        </p:txBody>
      </p:sp>
      <p:cxnSp>
        <p:nvCxnSpPr>
          <p:cNvPr id="12" name="Connector 11"/>
          <p:cNvCxnSpPr/>
          <p:nvPr/>
        </p:nvCxnSpPr>
        <p:spPr>
          <a:xfrm>
            <a:off x="5166360" y="2103120"/>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788920" y="3200400"/>
            <a:ext cx="27432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08960" y="2743200"/>
            <a:ext cx="201168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ResNet-18 encoder</a:t>
            </a:r>
          </a:p>
        </p:txBody>
      </p:sp>
      <p:cxnSp>
        <p:nvCxnSpPr>
          <p:cNvPr id="15" name="Connector 14"/>
          <p:cNvCxnSpPr/>
          <p:nvPr/>
        </p:nvCxnSpPr>
        <p:spPr>
          <a:xfrm>
            <a:off x="5166360" y="3200400"/>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88920" y="4229100"/>
            <a:ext cx="27432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108960" y="3840480"/>
            <a:ext cx="2011680" cy="7772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linear layer</a:t>
            </a:r>
          </a:p>
        </p:txBody>
      </p:sp>
      <p:cxnSp>
        <p:nvCxnSpPr>
          <p:cNvPr id="18" name="Connector 17"/>
          <p:cNvCxnSpPr/>
          <p:nvPr/>
        </p:nvCxnSpPr>
        <p:spPr>
          <a:xfrm>
            <a:off x="5166360" y="4229100"/>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577840" y="1645920"/>
            <a:ext cx="2560320" cy="297180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Transformer</a:t>
            </a:r>
          </a:p>
          <a:p>
            <a:pPr algn="ctr"/>
            <a:r>
              <a:rPr sz="1400" b="0" i="0">
                <a:solidFill>
                  <a:srgbClr val="FFFFFF"/>
                </a:solidFill>
              </a:rPr>
              <a:t>encoder–decoder</a:t>
            </a:r>
          </a:p>
        </p:txBody>
      </p:sp>
      <p:sp>
        <p:nvSpPr>
          <p:cNvPr id="20" name="Rounded Rectangle 19"/>
          <p:cNvSpPr/>
          <p:nvPr/>
        </p:nvSpPr>
        <p:spPr>
          <a:xfrm>
            <a:off x="5577840" y="4892040"/>
            <a:ext cx="256032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64194"/>
                </a:solidFill>
              </a:rPr>
              <a:t>style variable z</a:t>
            </a:r>
          </a:p>
          <a:p>
            <a:pPr algn="ctr"/>
            <a:r>
              <a:rPr sz="1200" b="0" i="0">
                <a:solidFill>
                  <a:srgbClr val="5B6275"/>
                </a:solidFill>
              </a:rPr>
              <a:t>training only</a:t>
            </a:r>
          </a:p>
        </p:txBody>
      </p:sp>
      <p:cxnSp>
        <p:nvCxnSpPr>
          <p:cNvPr id="21" name="Connector 20"/>
          <p:cNvCxnSpPr/>
          <p:nvPr/>
        </p:nvCxnSpPr>
        <p:spPr>
          <a:xfrm flipV="1">
            <a:off x="6858000" y="4663440"/>
            <a:ext cx="0" cy="18288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183879" y="2926080"/>
            <a:ext cx="365761"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95360" y="2194560"/>
            <a:ext cx="3017520" cy="14630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Chunk of k future</a:t>
            </a:r>
          </a:p>
          <a:p>
            <a:pPr algn="ctr"/>
            <a:r>
              <a:rPr sz="1600" b="1" i="0">
                <a:solidFill>
                  <a:srgbClr val="FFFFFF"/>
                </a:solidFill>
              </a:rPr>
              <a:t>joint targets</a:t>
            </a:r>
          </a:p>
          <a:p>
            <a:pPr algn="ctr"/>
            <a:r>
              <a:rPr sz="1300" b="0" i="0">
                <a:solidFill>
                  <a:srgbClr val="FFFFFF"/>
                </a:solidFill>
              </a:rPr>
              <a:t>k × 6 numbers</a:t>
            </a:r>
          </a:p>
        </p:txBody>
      </p:sp>
      <p:sp>
        <p:nvSpPr>
          <p:cNvPr id="24" name="Rounded Rectangle 23"/>
          <p:cNvSpPr/>
          <p:nvPr/>
        </p:nvSpPr>
        <p:spPr>
          <a:xfrm>
            <a:off x="8595360" y="3840480"/>
            <a:ext cx="3017520" cy="10972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0F6E6A"/>
                </a:solidFill>
              </a:rPr>
              <a:t>executed at 30 Hz, then the next chunk is predicted</a:t>
            </a:r>
          </a:p>
        </p:txBody>
      </p:sp>
      <p:sp>
        <p:nvSpPr>
          <p:cNvPr id="25" name="TextBox 24"/>
          <p:cNvSpPr txBox="1"/>
          <p:nvPr/>
        </p:nvSpPr>
        <p:spPr>
          <a:xfrm>
            <a:off x="548640" y="5852160"/>
            <a:ext cx="11064240" cy="274320"/>
          </a:xfrm>
          <a:prstGeom prst="rect">
            <a:avLst/>
          </a:prstGeom>
          <a:noFill/>
        </p:spPr>
        <p:txBody>
          <a:bodyPr wrap="square" lIns="0" rIns="0" tIns="0" bIns="0" anchor="t">
            <a:spAutoFit/>
          </a:bodyPr>
          <a:lstStyle/>
          <a:p>
            <a:pPr algn="l"/>
            <a:r>
              <a:rPr sz="1100" b="0" i="0">
                <a:solidFill>
                  <a:srgbClr val="5B6275"/>
                </a:solidFill>
              </a:rPr>
              <a:t>Zhao et al. (2023), originally built for low-cost arms. Inputs are exactly what you have recorded since Lab 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ACT needs from you</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19</a:t>
            </a:fld>
            <a:endParaRPr lang="en-SG"/>
          </a:p>
        </p:txBody>
      </p:sp>
      <p:sp>
        <p:nvSpPr>
          <p:cNvPr id="7" name="Rounded Rectangle 6"/>
          <p:cNvSpPr/>
          <p:nvPr/>
        </p:nvSpPr>
        <p:spPr>
          <a:xfrm>
            <a:off x="548640" y="1554480"/>
            <a:ext cx="2651760" cy="2377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164194"/>
                </a:solidFill>
              </a:rPr>
              <a:t>≈ 50</a:t>
            </a:r>
          </a:p>
          <a:p>
            <a:pPr algn="ctr">
              <a:spcAft>
                <a:spcPts val="400"/>
              </a:spcAft>
            </a:pPr>
            <a:r>
              <a:rPr sz="1600" b="1" i="0">
                <a:solidFill>
                  <a:srgbClr val="1F2433"/>
                </a:solidFill>
              </a:rPr>
              <a:t>demonstrations</a:t>
            </a:r>
          </a:p>
          <a:p>
            <a:pPr algn="ctr"/>
            <a:r>
              <a:rPr sz="1300" b="0" i="0">
                <a:solidFill>
                  <a:srgbClr val="5B6275"/>
                </a:solidFill>
              </a:rPr>
              <a:t>about 10 at each object position (LeRobot's recommendation)</a:t>
            </a:r>
          </a:p>
        </p:txBody>
      </p:sp>
      <p:sp>
        <p:nvSpPr>
          <p:cNvPr id="8" name="Rounded Rectangle 7"/>
          <p:cNvSpPr/>
          <p:nvPr/>
        </p:nvSpPr>
        <p:spPr>
          <a:xfrm>
            <a:off x="3337560" y="1554480"/>
            <a:ext cx="2651760" cy="2377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0F6E6A"/>
                </a:solidFill>
              </a:rPr>
              <a:t>1 GPU</a:t>
            </a:r>
          </a:p>
          <a:p>
            <a:pPr algn="ctr">
              <a:spcAft>
                <a:spcPts val="400"/>
              </a:spcAft>
            </a:pPr>
            <a:r>
              <a:rPr sz="1600" b="1" i="0">
                <a:solidFill>
                  <a:srgbClr val="1F2433"/>
                </a:solidFill>
              </a:rPr>
              <a:t>for training</a:t>
            </a:r>
          </a:p>
          <a:p>
            <a:pPr algn="ctr"/>
            <a:r>
              <a:rPr sz="1300" b="0" i="0">
                <a:solidFill>
                  <a:srgbClr val="5B6275"/>
                </a:solidFill>
              </a:rPr>
              <a:t>a single workstation GPU; expect several hours</a:t>
            </a:r>
          </a:p>
        </p:txBody>
      </p:sp>
      <p:sp>
        <p:nvSpPr>
          <p:cNvPr id="9" name="Rounded Rectangle 8"/>
          <p:cNvSpPr/>
          <p:nvPr/>
        </p:nvSpPr>
        <p:spPr>
          <a:xfrm>
            <a:off x="6126479" y="1554480"/>
            <a:ext cx="2651760" cy="2377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164194"/>
                </a:solidFill>
              </a:rPr>
              <a:t>100</a:t>
            </a:r>
          </a:p>
          <a:p>
            <a:pPr algn="ctr">
              <a:spcAft>
                <a:spcPts val="400"/>
              </a:spcAft>
            </a:pPr>
            <a:r>
              <a:rPr sz="1600" b="1" i="0">
                <a:solidFill>
                  <a:srgbClr val="1F2433"/>
                </a:solidFill>
              </a:rPr>
              <a:t>actions per chunk</a:t>
            </a:r>
          </a:p>
          <a:p>
            <a:pPr algn="ctr"/>
            <a:r>
              <a:rPr sz="1300" b="0" i="0">
                <a:solidFill>
                  <a:srgbClr val="5B6275"/>
                </a:solidFill>
              </a:rPr>
              <a:t>LeRobot's default, about 3.3 s at 30 Hz</a:t>
            </a:r>
          </a:p>
        </p:txBody>
      </p:sp>
      <p:sp>
        <p:nvSpPr>
          <p:cNvPr id="10" name="Rounded Rectangle 9"/>
          <p:cNvSpPr/>
          <p:nvPr/>
        </p:nvSpPr>
        <p:spPr>
          <a:xfrm>
            <a:off x="8915399" y="1554480"/>
            <a:ext cx="2651760" cy="2377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E30613"/>
                </a:solidFill>
              </a:rPr>
              <a:t>80–90%</a:t>
            </a:r>
          </a:p>
          <a:p>
            <a:pPr algn="ctr">
              <a:spcAft>
                <a:spcPts val="400"/>
              </a:spcAft>
            </a:pPr>
            <a:r>
              <a:rPr sz="1600" b="1" i="0">
                <a:solidFill>
                  <a:srgbClr val="1F2433"/>
                </a:solidFill>
              </a:rPr>
              <a:t>success in the paper</a:t>
            </a:r>
          </a:p>
          <a:p>
            <a:pPr algn="ctr"/>
            <a:r>
              <a:rPr sz="1300" b="0" i="0">
                <a:solidFill>
                  <a:srgbClr val="5B6275"/>
                </a:solidFill>
              </a:rPr>
              <a:t>six real tasks, from about 10 minutes of demos each</a:t>
            </a:r>
          </a:p>
        </p:txBody>
      </p:sp>
      <p:sp>
        <p:nvSpPr>
          <p:cNvPr id="11" name="Rounded Rectangle 10"/>
          <p:cNvSpPr/>
          <p:nvPr/>
        </p:nvSpPr>
        <p:spPr>
          <a:xfrm>
            <a:off x="548640" y="4160520"/>
            <a:ext cx="5440680" cy="1783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spcAft>
                <a:spcPts val="600"/>
              </a:spcAft>
            </a:pPr>
            <a:r>
              <a:rPr sz="1700" b="1" i="0">
                <a:solidFill>
                  <a:srgbClr val="0F6E6A"/>
                </a:solidFill>
              </a:rPr>
              <a:t>What ACT does not need</a:t>
            </a:r>
          </a:p>
          <a:p>
            <a:pPr algn="l"/>
            <a:r>
              <a:rPr sz="1500" b="0" i="0">
                <a:solidFill>
                  <a:srgbClr val="1F2433"/>
                </a:solidFill>
              </a:rPr>
              <a:t>a reward, a simulator, or a model of the servos. Everything Block D fought is gone.</a:t>
            </a:r>
          </a:p>
        </p:txBody>
      </p:sp>
      <p:sp>
        <p:nvSpPr>
          <p:cNvPr id="12" name="Rounded Rectangle 11"/>
          <p:cNvSpPr/>
          <p:nvPr/>
        </p:nvSpPr>
        <p:spPr>
          <a:xfrm>
            <a:off x="6172200" y="4160520"/>
            <a:ext cx="5440680" cy="1783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spcAft>
                <a:spcPts val="600"/>
              </a:spcAft>
            </a:pPr>
            <a:r>
              <a:rPr sz="1700" b="1" i="0">
                <a:solidFill>
                  <a:srgbClr val="E30613"/>
                </a:solidFill>
              </a:rPr>
              <a:t>What it does need</a:t>
            </a:r>
          </a:p>
          <a:p>
            <a:pPr algn="l"/>
            <a:r>
              <a:rPr sz="1500" b="0" i="0">
                <a:solidFill>
                  <a:srgbClr val="1F2433"/>
                </a:solidFill>
              </a:rPr>
              <a:t>clean, consistent, well-covered demonstrations. You should be able to do the task by looking only at the camera images.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Diffusion Policy in one slide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20</a:t>
            </a:fld>
            <a:endParaRPr lang="en-SG"/>
          </a:p>
        </p:txBody>
      </p:sp>
      <p:sp>
        <p:nvSpPr>
          <p:cNvPr id="7" name="Rounded Rectangle 6"/>
          <p:cNvSpPr/>
          <p:nvPr/>
        </p:nvSpPr>
        <p:spPr>
          <a:xfrm>
            <a:off x="548640" y="1645920"/>
            <a:ext cx="2514600" cy="1097280"/>
          </a:xfrm>
          <a:prstGeom prst="roundRect">
            <a:avLst>
              <a:gd name="adj" fmla="val 12000"/>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random noise</a:t>
            </a:r>
          </a:p>
        </p:txBody>
      </p:sp>
      <p:cxnSp>
        <p:nvCxnSpPr>
          <p:cNvPr id="8" name="Connector 7"/>
          <p:cNvCxnSpPr/>
          <p:nvPr/>
        </p:nvCxnSpPr>
        <p:spPr>
          <a:xfrm>
            <a:off x="3108960" y="2194560"/>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80" y="1645920"/>
            <a:ext cx="2514600" cy="10972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refine</a:t>
            </a:r>
          </a:p>
        </p:txBody>
      </p:sp>
      <p:cxnSp>
        <p:nvCxnSpPr>
          <p:cNvPr id="10" name="Connector 9"/>
          <p:cNvCxnSpPr/>
          <p:nvPr/>
        </p:nvCxnSpPr>
        <p:spPr>
          <a:xfrm>
            <a:off x="5943600" y="2194560"/>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645920"/>
            <a:ext cx="2514600" cy="10972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refine again</a:t>
            </a:r>
          </a:p>
        </p:txBody>
      </p:sp>
      <p:cxnSp>
        <p:nvCxnSpPr>
          <p:cNvPr id="12" name="Connector 11"/>
          <p:cNvCxnSpPr/>
          <p:nvPr/>
        </p:nvCxnSpPr>
        <p:spPr>
          <a:xfrm>
            <a:off x="8778240" y="2194560"/>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60" y="1645920"/>
            <a:ext cx="2514600" cy="109728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smooth action sequence</a:t>
            </a:r>
          </a:p>
        </p:txBody>
      </p:sp>
      <p:sp>
        <p:nvSpPr>
          <p:cNvPr id="14" name="TextBox 13"/>
          <p:cNvSpPr txBox="1"/>
          <p:nvPr/>
        </p:nvSpPr>
        <p:spPr>
          <a:xfrm>
            <a:off x="548640" y="2834640"/>
            <a:ext cx="11064240" cy="320040"/>
          </a:xfrm>
          <a:prstGeom prst="rect">
            <a:avLst/>
          </a:prstGeom>
          <a:noFill/>
        </p:spPr>
        <p:txBody>
          <a:bodyPr wrap="square" lIns="0" rIns="0" tIns="0" bIns="0" anchor="t">
            <a:spAutoFit/>
          </a:bodyPr>
          <a:lstStyle/>
          <a:p>
            <a:pPr algn="l"/>
            <a:r>
              <a:rPr sz="1300" b="0" i="0">
                <a:solidFill>
                  <a:srgbClr val="5B6275"/>
                </a:solidFill>
              </a:rPr>
              <a:t>Many refinement steps per decision, like an image diffusion model, but the output is a trajectory.</a:t>
            </a:r>
          </a:p>
        </p:txBody>
      </p:sp>
      <p:sp>
        <p:nvSpPr>
          <p:cNvPr id="15" name="Rounded Rectangle 14"/>
          <p:cNvSpPr/>
          <p:nvPr/>
        </p:nvSpPr>
        <p:spPr>
          <a:xfrm>
            <a:off x="548640" y="3429000"/>
            <a:ext cx="5440680" cy="18288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spcAft>
                <a:spcPts val="600"/>
              </a:spcAft>
            </a:pPr>
            <a:r>
              <a:rPr sz="1700" b="1" i="0">
                <a:solidFill>
                  <a:srgbClr val="0F6E6A"/>
                </a:solidFill>
              </a:rPr>
              <a:t>Strength</a:t>
            </a:r>
          </a:p>
          <a:p>
            <a:pPr algn="l"/>
            <a:r>
              <a:rPr sz="1500" b="0" i="0">
                <a:solidFill>
                  <a:srgbClr val="1F2433"/>
                </a:solidFill>
              </a:rPr>
              <a:t>It can represent several good answers. Over the top or underneath: it commits to one instead of averaging them into a crash.</a:t>
            </a:r>
          </a:p>
        </p:txBody>
      </p:sp>
      <p:sp>
        <p:nvSpPr>
          <p:cNvPr id="16" name="Rounded Rectangle 15"/>
          <p:cNvSpPr/>
          <p:nvPr/>
        </p:nvSpPr>
        <p:spPr>
          <a:xfrm>
            <a:off x="6172200" y="3429000"/>
            <a:ext cx="5440680" cy="18288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spcAft>
                <a:spcPts val="600"/>
              </a:spcAft>
            </a:pPr>
            <a:r>
              <a:rPr sz="1700" b="1" i="0">
                <a:solidFill>
                  <a:srgbClr val="E30613"/>
                </a:solidFill>
              </a:rPr>
              <a:t>Cost</a:t>
            </a:r>
          </a:p>
          <a:p>
            <a:pPr algn="l"/>
            <a:r>
              <a:rPr sz="1500" b="0" i="0">
                <a:solidFill>
                  <a:srgbClr val="1F2433"/>
                </a:solidFill>
              </a:rPr>
              <a:t>Many refinement steps for every decision: more compute to train, and slower to run on the arm.</a:t>
            </a:r>
          </a:p>
        </p:txBody>
      </p:sp>
      <p:sp>
        <p:nvSpPr>
          <p:cNvPr id="17" name="Rounded Rectangle 16"/>
          <p:cNvSpPr/>
          <p:nvPr/>
        </p:nvSpPr>
        <p:spPr>
          <a:xfrm>
            <a:off x="548640" y="5486400"/>
            <a:ext cx="1106424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Concept only in this unit (Chi et al., 2023). ACT is the imitation-learning policy we practise.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routes for the data: simulation and the real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21</a:t>
            </a:fld>
            <a:endParaRPr lang="en-SG"/>
          </a:p>
        </p:txBody>
      </p:sp>
      <p:sp>
        <p:nvSpPr>
          <p:cNvPr id="7" name="Rounded Rectangle 6"/>
          <p:cNvSpPr/>
          <p:nvPr/>
        </p:nvSpPr>
        <p:spPr>
          <a:xfrm>
            <a:off x="548640" y="1600200"/>
            <a:ext cx="2103120" cy="114300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Simulation route</a:t>
            </a:r>
          </a:p>
        </p:txBody>
      </p:sp>
      <p:sp>
        <p:nvSpPr>
          <p:cNvPr id="8" name="Rounded Rectangle 7"/>
          <p:cNvSpPr/>
          <p:nvPr/>
        </p:nvSpPr>
        <p:spPr>
          <a:xfrm>
            <a:off x="2926080" y="1600200"/>
            <a:ext cx="2651760" cy="1143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Leader arm drives the simulated follower</a:t>
            </a:r>
          </a:p>
        </p:txBody>
      </p:sp>
      <p:cxnSp>
        <p:nvCxnSpPr>
          <p:cNvPr id="9" name="Connector 8"/>
          <p:cNvCxnSpPr/>
          <p:nvPr/>
        </p:nvCxnSpPr>
        <p:spPr>
          <a:xfrm>
            <a:off x="5623560" y="2167128"/>
            <a:ext cx="182880" cy="0"/>
          </a:xfrm>
          <a:prstGeom prst="line">
            <a:avLst/>
          </a:prstGeom>
          <a:ln w="3175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852160" y="1600200"/>
            <a:ext cx="2651760" cy="1143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Train ACT</a:t>
            </a:r>
          </a:p>
        </p:txBody>
      </p:sp>
      <p:cxnSp>
        <p:nvCxnSpPr>
          <p:cNvPr id="11" name="Connector 10"/>
          <p:cNvCxnSpPr/>
          <p:nvPr/>
        </p:nvCxnSpPr>
        <p:spPr>
          <a:xfrm>
            <a:off x="8549640" y="2167128"/>
            <a:ext cx="182880" cy="0"/>
          </a:xfrm>
          <a:prstGeom prst="line">
            <a:avLst/>
          </a:prstGeom>
          <a:ln w="3175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78240" y="1600200"/>
            <a:ext cx="2651760" cy="1143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Check in simulation</a:t>
            </a:r>
          </a:p>
        </p:txBody>
      </p:sp>
      <p:sp>
        <p:nvSpPr>
          <p:cNvPr id="13" name="Rounded Rectangle 12"/>
          <p:cNvSpPr/>
          <p:nvPr/>
        </p:nvSpPr>
        <p:spPr>
          <a:xfrm>
            <a:off x="548640" y="3108960"/>
            <a:ext cx="2103120" cy="11430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Real-arm route</a:t>
            </a:r>
          </a:p>
        </p:txBody>
      </p:sp>
      <p:sp>
        <p:nvSpPr>
          <p:cNvPr id="14" name="Rounded Rectangle 13"/>
          <p:cNvSpPr/>
          <p:nvPr/>
        </p:nvSpPr>
        <p:spPr>
          <a:xfrm>
            <a:off x="2926080" y="3108960"/>
            <a:ext cx="2651760" cy="1143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Record leader–follower demos on the real arm</a:t>
            </a:r>
          </a:p>
        </p:txBody>
      </p:sp>
      <p:cxnSp>
        <p:nvCxnSpPr>
          <p:cNvPr id="15" name="Connector 14"/>
          <p:cNvCxnSpPr/>
          <p:nvPr/>
        </p:nvCxnSpPr>
        <p:spPr>
          <a:xfrm>
            <a:off x="5623560" y="3675887"/>
            <a:ext cx="18288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852160" y="3108960"/>
            <a:ext cx="2651760" cy="1143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Train ACT</a:t>
            </a:r>
          </a:p>
        </p:txBody>
      </p:sp>
      <p:cxnSp>
        <p:nvCxnSpPr>
          <p:cNvPr id="17" name="Connector 16"/>
          <p:cNvCxnSpPr/>
          <p:nvPr/>
        </p:nvCxnSpPr>
        <p:spPr>
          <a:xfrm>
            <a:off x="8549640" y="3675887"/>
            <a:ext cx="18288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778240" y="3108960"/>
            <a:ext cx="2651760" cy="1143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Deploy on the real arm (Lab 12)</a:t>
            </a:r>
          </a:p>
        </p:txBody>
      </p:sp>
      <p:sp>
        <p:nvSpPr>
          <p:cNvPr id="19" name="Rounded Rectangle 18"/>
          <p:cNvSpPr/>
          <p:nvPr/>
        </p:nvSpPr>
        <p:spPr>
          <a:xfrm>
            <a:off x="548640" y="4800600"/>
            <a:ext cx="11064240" cy="12344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09728" bIns="109728"/>
          <a:lstStyle/>
          <a:p>
            <a:pPr algn="l">
              <a:spcAft>
                <a:spcPts val="400"/>
              </a:spcAft>
            </a:pPr>
            <a:r>
              <a:rPr sz="1700" b="1" i="0">
                <a:solidFill>
                  <a:srgbClr val="E30613"/>
                </a:solidFill>
              </a:rPr>
              <a:t>The appearance gap</a:t>
            </a:r>
          </a:p>
          <a:p>
            <a:pPr algn="l"/>
            <a:r>
              <a:rPr sz="1500" b="0" i="0">
                <a:solidFill>
                  <a:srgbClr val="1F2433"/>
                </a:solidFill>
              </a:rPr>
              <a:t>Simulated images look different from real ones, so a policy trained only in simulation usually stumbles on the real cameras. Use real data, or co-train on simulated + real episodes.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the difference: simulated vs real camera frames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22</a:t>
            </a:fld>
            <a:endParaRPr lang="en-SG"/>
          </a:p>
        </p:txBody>
      </p:sp>
      <p:sp>
        <p:nvSpPr>
          <p:cNvPr id="7" name="Rounded Rectangle 6"/>
          <p:cNvSpPr/>
          <p:nvPr/>
        </p:nvSpPr>
        <p:spPr>
          <a:xfrm>
            <a:off x="548640" y="1554480"/>
            <a:ext cx="5440680" cy="28346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a:t>
            </a:r>
          </a:p>
          <a:p>
            <a:pPr algn="ctr"/>
            <a:r>
              <a:rPr sz="1300" b="0" i="0">
                <a:solidFill>
                  <a:srgbClr val="5B6275"/>
                </a:solidFill>
              </a:rPr>
              <a:t>Simulated front-camera frame (Isaac Sim)</a:t>
            </a:r>
          </a:p>
        </p:txBody>
      </p:sp>
      <p:sp>
        <p:nvSpPr>
          <p:cNvPr id="8" name="Rounded Rectangle 7"/>
          <p:cNvSpPr/>
          <p:nvPr/>
        </p:nvSpPr>
        <p:spPr>
          <a:xfrm>
            <a:off x="6172200" y="1554480"/>
            <a:ext cx="5440680" cy="28346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a:t>
            </a:r>
          </a:p>
          <a:p>
            <a:pPr algn="ctr"/>
            <a:r>
              <a:rPr sz="1300" b="0" i="0">
                <a:solidFill>
                  <a:srgbClr val="5B6275"/>
                </a:solidFill>
              </a:rPr>
              <a:t>Real front-camera frame (your pod)</a:t>
            </a:r>
          </a:p>
        </p:txBody>
      </p:sp>
      <p:sp>
        <p:nvSpPr>
          <p:cNvPr id="9" name="Rounded Rectangle 8"/>
          <p:cNvSpPr/>
          <p:nvPr/>
        </p:nvSpPr>
        <p:spPr>
          <a:xfrm>
            <a:off x="548640"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Lighting and shadows</a:t>
            </a:r>
          </a:p>
        </p:txBody>
      </p:sp>
      <p:sp>
        <p:nvSpPr>
          <p:cNvPr id="10" name="Rounded Rectangle 9"/>
          <p:cNvSpPr/>
          <p:nvPr/>
        </p:nvSpPr>
        <p:spPr>
          <a:xfrm>
            <a:off x="2414016"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Table texture</a:t>
            </a:r>
          </a:p>
        </p:txBody>
      </p:sp>
      <p:sp>
        <p:nvSpPr>
          <p:cNvPr id="11" name="Rounded Rectangle 10"/>
          <p:cNvSpPr/>
          <p:nvPr/>
        </p:nvSpPr>
        <p:spPr>
          <a:xfrm>
            <a:off x="4279392"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Cube colour</a:t>
            </a:r>
          </a:p>
        </p:txBody>
      </p:sp>
      <p:sp>
        <p:nvSpPr>
          <p:cNvPr id="12" name="Rounded Rectangle 11"/>
          <p:cNvSpPr/>
          <p:nvPr/>
        </p:nvSpPr>
        <p:spPr>
          <a:xfrm>
            <a:off x="6144768"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Camera blur and noise</a:t>
            </a:r>
          </a:p>
        </p:txBody>
      </p:sp>
      <p:sp>
        <p:nvSpPr>
          <p:cNvPr id="13" name="Rounded Rectangle 12"/>
          <p:cNvSpPr/>
          <p:nvPr/>
        </p:nvSpPr>
        <p:spPr>
          <a:xfrm>
            <a:off x="8010144"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Background clutter</a:t>
            </a:r>
          </a:p>
        </p:txBody>
      </p:sp>
      <p:sp>
        <p:nvSpPr>
          <p:cNvPr id="14" name="Rounded Rectangle 13"/>
          <p:cNvSpPr/>
          <p:nvPr/>
        </p:nvSpPr>
        <p:spPr>
          <a:xfrm>
            <a:off x="9875519" y="4617720"/>
            <a:ext cx="173736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164194"/>
                </a:solidFill>
              </a:rPr>
              <a:t>Cables and screws</a:t>
            </a:r>
          </a:p>
        </p:txBody>
      </p:sp>
      <p:sp>
        <p:nvSpPr>
          <p:cNvPr id="15" name="TextBox 14"/>
          <p:cNvSpPr txBox="1"/>
          <p:nvPr/>
        </p:nvSpPr>
        <p:spPr>
          <a:xfrm>
            <a:off x="548640" y="5486400"/>
            <a:ext cx="11064240" cy="457200"/>
          </a:xfrm>
          <a:prstGeom prst="rect">
            <a:avLst/>
          </a:prstGeom>
          <a:noFill/>
        </p:spPr>
        <p:txBody>
          <a:bodyPr wrap="square" lIns="0" rIns="0" tIns="0" bIns="0" anchor="t">
            <a:spAutoFit/>
          </a:bodyPr>
          <a:lstStyle/>
          <a:p>
            <a:pPr algn="l"/>
            <a:r>
              <a:rPr sz="1400" b="0" i="1">
                <a:solidFill>
                  <a:srgbClr val="5B6275"/>
                </a:solidFill>
              </a:rPr>
              <a:t>Pairs, 2 minutes: name three differences a policy might notice. Then compare with the list above.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mechanics: steps, checkpoints and the loss curve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23</a:t>
            </a:fld>
            <a:endParaRPr lang="en-SG"/>
          </a:p>
        </p:txBody>
      </p:sp>
      <p:graphicFrame>
        <p:nvGraphicFramePr>
          <p:cNvPr id="7" name="Chart 6"/>
          <p:cNvGraphicFramePr>
            <a:graphicFrameLocks noGrp="1"/>
          </p:cNvGraphicFramePr>
          <p:nvPr/>
        </p:nvGraphicFramePr>
        <p:xfrm>
          <a:off x="457200" y="1463040"/>
          <a:ext cx="6949440" cy="4297680"/>
        </p:xfrm>
        <a:graphic>
          <a:graphicData uri="http://schemas.openxmlformats.org/drawingml/2006/chart">
            <c:chart xmlns:c="http://schemas.openxmlformats.org/drawingml/2006/chart" r:id="rId3"/>
          </a:graphicData>
        </a:graphic>
      </p:graphicFrame>
      <p:sp>
        <p:nvSpPr>
          <p:cNvPr id="8" name="TextBox 7"/>
          <p:cNvSpPr txBox="1"/>
          <p:nvPr/>
        </p:nvSpPr>
        <p:spPr>
          <a:xfrm>
            <a:off x="548640" y="5852160"/>
            <a:ext cx="6766560" cy="274320"/>
          </a:xfrm>
          <a:prstGeom prst="rect">
            <a:avLst/>
          </a:prstGeom>
          <a:noFill/>
        </p:spPr>
        <p:txBody>
          <a:bodyPr wrap="square" lIns="0" rIns="0" tIns="0" bIns="0" anchor="t">
            <a:spAutoFit/>
          </a:bodyPr>
          <a:lstStyle/>
          <a:p>
            <a:pPr algn="l"/>
            <a:r>
              <a:rPr sz="1100" b="0" i="0">
                <a:solidFill>
                  <a:srgbClr val="5B6275"/>
                </a:solidFill>
              </a:rPr>
              <a:t>Illustrative curve. Your own appears in Lab 10.</a:t>
            </a:r>
          </a:p>
        </p:txBody>
      </p:sp>
      <p:sp>
        <p:nvSpPr>
          <p:cNvPr id="9" name="Rounded Rectangle 8"/>
          <p:cNvSpPr/>
          <p:nvPr/>
        </p:nvSpPr>
        <p:spPr>
          <a:xfrm>
            <a:off x="7680960" y="1554480"/>
            <a:ext cx="393192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164194"/>
                </a:solidFill>
              </a:rPr>
              <a:t>Step and batch</a:t>
            </a:r>
          </a:p>
          <a:p>
            <a:pPr algn="l"/>
            <a:r>
              <a:rPr sz="1400" b="0" i="0">
                <a:solidFill>
                  <a:srgbClr val="1F2433"/>
                </a:solidFill>
              </a:rPr>
              <a:t>One step = one update of the network on one batch of samples picked at random.</a:t>
            </a:r>
          </a:p>
        </p:txBody>
      </p:sp>
      <p:sp>
        <p:nvSpPr>
          <p:cNvPr id="10" name="Rounded Rectangle 9"/>
          <p:cNvSpPr/>
          <p:nvPr/>
        </p:nvSpPr>
        <p:spPr>
          <a:xfrm>
            <a:off x="7680960" y="2971800"/>
            <a:ext cx="3931920" cy="12801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0F6E6A"/>
                </a:solidFill>
              </a:rPr>
              <a:t>Checkpoint</a:t>
            </a:r>
          </a:p>
          <a:p>
            <a:pPr algn="l"/>
            <a:r>
              <a:rPr sz="1400" b="0" i="0">
                <a:solidFill>
                  <a:srgbClr val="1F2433"/>
                </a:solidFill>
              </a:rPr>
              <a:t>A saved copy of the network. Keep several, not only the last: Lab 12 compares them.</a:t>
            </a:r>
          </a:p>
        </p:txBody>
      </p:sp>
      <p:sp>
        <p:nvSpPr>
          <p:cNvPr id="11" name="Rounded Rectangle 10"/>
          <p:cNvSpPr/>
          <p:nvPr/>
        </p:nvSpPr>
        <p:spPr>
          <a:xfrm>
            <a:off x="7680960" y="4389120"/>
            <a:ext cx="3931920" cy="12801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l">
              <a:spcAft>
                <a:spcPts val="400"/>
              </a:spcAft>
            </a:pPr>
            <a:r>
              <a:rPr sz="1600" b="1" i="0">
                <a:solidFill>
                  <a:srgbClr val="E30613"/>
                </a:solidFill>
              </a:rPr>
              <a:t>Warning</a:t>
            </a:r>
          </a:p>
          <a:p>
            <a:pPr algn="l"/>
            <a:r>
              <a:rPr sz="1400" b="0" i="0">
                <a:solidFill>
                  <a:srgbClr val="1F2433"/>
                </a:solidFill>
              </a:rPr>
              <a:t>A low validation loss does not guarantee the arm succeeds. The arm has the final say (Lesson 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how many times is each frame seen?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24</a:t>
            </a:fld>
            <a:endParaRPr lang="en-SG"/>
          </a:p>
        </p:txBody>
      </p:sp>
      <p:sp>
        <p:nvSpPr>
          <p:cNvPr id="7" name="Rounded Rectangle 6"/>
          <p:cNvSpPr/>
          <p:nvPr/>
        </p:nvSpPr>
        <p:spPr>
          <a:xfrm>
            <a:off x="548640" y="1600200"/>
            <a:ext cx="3566160" cy="24688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800" b="1" i="0">
                <a:solidFill>
                  <a:srgbClr val="1F2433"/>
                </a:solidFill>
              </a:rPr>
              <a:t>50 × 600</a:t>
            </a:r>
          </a:p>
          <a:p>
            <a:pPr algn="ctr">
              <a:spcAft>
                <a:spcPts val="1000"/>
              </a:spcAft>
            </a:pPr>
            <a:r>
              <a:rPr sz="1300" b="0" i="0">
                <a:solidFill>
                  <a:srgbClr val="5B6275"/>
                </a:solidFill>
              </a:rPr>
              <a:t>episodes × frames each</a:t>
            </a:r>
          </a:p>
          <a:p>
            <a:pPr algn="ctr"/>
            <a:r>
              <a:rPr sz="3000" b="1" i="0">
                <a:solidFill>
                  <a:srgbClr val="164194"/>
                </a:solidFill>
              </a:rPr>
              <a:t>30,000 frames</a:t>
            </a:r>
          </a:p>
        </p:txBody>
      </p:sp>
      <p:sp>
        <p:nvSpPr>
          <p:cNvPr id="8" name="Rounded Rectangle 7"/>
          <p:cNvSpPr/>
          <p:nvPr/>
        </p:nvSpPr>
        <p:spPr>
          <a:xfrm>
            <a:off x="4297679" y="1600200"/>
            <a:ext cx="3566160" cy="24688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800" b="1" i="0">
                <a:solidFill>
                  <a:srgbClr val="1F2433"/>
                </a:solidFill>
              </a:rPr>
              <a:t>100,000 × 8</a:t>
            </a:r>
          </a:p>
          <a:p>
            <a:pPr algn="ctr">
              <a:spcAft>
                <a:spcPts val="1000"/>
              </a:spcAft>
            </a:pPr>
            <a:r>
              <a:rPr sz="1300" b="0" i="0">
                <a:solidFill>
                  <a:srgbClr val="5B6275"/>
                </a:solidFill>
              </a:rPr>
              <a:t>steps × batch size</a:t>
            </a:r>
          </a:p>
          <a:p>
            <a:pPr algn="ctr"/>
            <a:r>
              <a:rPr sz="3000" b="1" i="0">
                <a:solidFill>
                  <a:srgbClr val="0F6E6A"/>
                </a:solidFill>
              </a:rPr>
              <a:t>800,000 samples</a:t>
            </a:r>
          </a:p>
        </p:txBody>
      </p:sp>
      <p:sp>
        <p:nvSpPr>
          <p:cNvPr id="9" name="Rounded Rectangle 8"/>
          <p:cNvSpPr/>
          <p:nvPr/>
        </p:nvSpPr>
        <p:spPr>
          <a:xfrm>
            <a:off x="8046719" y="1600200"/>
            <a:ext cx="3566160" cy="24688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800" b="1" i="0">
                <a:solidFill>
                  <a:srgbClr val="1F2433"/>
                </a:solidFill>
              </a:rPr>
              <a:t>800,000 ÷ 30,000</a:t>
            </a:r>
          </a:p>
          <a:p>
            <a:pPr algn="ctr">
              <a:spcAft>
                <a:spcPts val="1000"/>
              </a:spcAft>
            </a:pPr>
            <a:r>
              <a:rPr sz="1300" b="0" i="0">
                <a:solidFill>
                  <a:srgbClr val="5B6275"/>
                </a:solidFill>
              </a:rPr>
              <a:t>samples ÷ frames</a:t>
            </a:r>
          </a:p>
          <a:p>
            <a:pPr algn="ctr"/>
            <a:r>
              <a:rPr sz="3000" b="1" i="0">
                <a:solidFill>
                  <a:srgbClr val="E30613"/>
                </a:solidFill>
              </a:rPr>
              <a:t>≈ 27 epochs</a:t>
            </a:r>
          </a:p>
        </p:txBody>
      </p:sp>
      <p:sp>
        <p:nvSpPr>
          <p:cNvPr id="10" name="Rounded Rectangle 9"/>
          <p:cNvSpPr/>
          <p:nvPr/>
        </p:nvSpPr>
        <p:spPr>
          <a:xfrm>
            <a:off x="548640" y="4343400"/>
            <a:ext cx="1106424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09728" bIns="109728"/>
          <a:lstStyle/>
          <a:p>
            <a:pPr algn="l">
              <a:spcAft>
                <a:spcPts val="400"/>
              </a:spcAft>
            </a:pPr>
            <a:r>
              <a:rPr sz="1700" b="1" i="0">
                <a:solidFill>
                  <a:srgbClr val="E30613"/>
                </a:solidFill>
              </a:rPr>
              <a:t>Every frame is seen about 27 times, and so is every bad demonstration.</a:t>
            </a:r>
          </a:p>
          <a:p>
            <a:pPr algn="l"/>
            <a:r>
              <a:rPr sz="1500" b="0" i="0">
                <a:solidFill>
                  <a:srgbClr val="1F2433"/>
                </a:solidFill>
              </a:rPr>
              <a:t>Training cannot tell a good demo from a bad one: it copies both. Curation is the only filter.</a:t>
            </a:r>
          </a:p>
        </p:txBody>
      </p:sp>
      <p:sp>
        <p:nvSpPr>
          <p:cNvPr id="11" name="TextBox 10"/>
          <p:cNvSpPr txBox="1"/>
          <p:nvPr/>
        </p:nvSpPr>
        <p:spPr>
          <a:xfrm>
            <a:off x="548640" y="5715000"/>
            <a:ext cx="11064240" cy="320040"/>
          </a:xfrm>
          <a:prstGeom prst="rect">
            <a:avLst/>
          </a:prstGeom>
          <a:noFill/>
        </p:spPr>
        <p:txBody>
          <a:bodyPr wrap="square" lIns="0" rIns="0" tIns="0" bIns="0" anchor="t">
            <a:spAutoFit/>
          </a:bodyPr>
          <a:lstStyle/>
          <a:p>
            <a:pPr algn="l"/>
            <a:r>
              <a:rPr sz="1200" b="0" i="0">
                <a:solidFill>
                  <a:srgbClr val="5B6275"/>
                </a:solidFill>
              </a:rPr>
              <a:t>Example settings. Read the real steps and batch size in your training config.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plan your pod's 50-episode dataset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25</a:t>
            </a:fld>
            <a:endParaRPr lang="en-SG"/>
          </a:p>
        </p:txBody>
      </p:sp>
      <p:sp>
        <p:nvSpPr>
          <p:cNvPr id="7" name="Rounded Rectangle 6"/>
          <p:cNvSpPr/>
          <p:nvPr/>
        </p:nvSpPr>
        <p:spPr>
          <a:xfrm>
            <a:off x="548640" y="155448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1 · Grid positions</a:t>
            </a:r>
          </a:p>
          <a:p>
            <a:pPr algn="l"/>
            <a:r>
              <a:rPr sz="1400" b="0" i="0">
                <a:solidFill>
                  <a:srgbClr val="5B6275"/>
                </a:solidFill>
              </a:rPr>
              <a:t>Which 5 positions? How many episodes at each?</a:t>
            </a:r>
          </a:p>
        </p:txBody>
      </p:sp>
      <p:sp>
        <p:nvSpPr>
          <p:cNvPr id="8" name="Rounded Rectangle 7"/>
          <p:cNvSpPr/>
          <p:nvPr/>
        </p:nvSpPr>
        <p:spPr>
          <a:xfrm>
            <a:off x="4297679" y="155448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2 · Grasp strategy</a:t>
            </a:r>
          </a:p>
          <a:p>
            <a:pPr algn="l"/>
            <a:r>
              <a:rPr sz="1400" b="0" i="0">
                <a:solidFill>
                  <a:srgbClr val="5B6275"/>
                </a:solidFill>
              </a:rPr>
              <a:t>One sentence every operator follows: approach, side, gripper opening.</a:t>
            </a:r>
          </a:p>
        </p:txBody>
      </p:sp>
      <p:sp>
        <p:nvSpPr>
          <p:cNvPr id="9" name="Rounded Rectangle 8"/>
          <p:cNvSpPr/>
          <p:nvPr/>
        </p:nvSpPr>
        <p:spPr>
          <a:xfrm>
            <a:off x="8046719" y="155448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3 · Cameras</a:t>
            </a:r>
          </a:p>
          <a:p>
            <a:pPr algn="l"/>
            <a:r>
              <a:rPr sz="1400" b="0" i="0">
                <a:solidFill>
                  <a:srgbClr val="5B6275"/>
                </a:solidFill>
              </a:rPr>
              <a:t>Where are front and wrist? Is the cube visible at the grasp?</a:t>
            </a:r>
          </a:p>
        </p:txBody>
      </p:sp>
      <p:sp>
        <p:nvSpPr>
          <p:cNvPr id="10" name="Rounded Rectangle 9"/>
          <p:cNvSpPr/>
          <p:nvPr/>
        </p:nvSpPr>
        <p:spPr>
          <a:xfrm>
            <a:off x="548640" y="347472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4 · Roles</a:t>
            </a:r>
          </a:p>
          <a:p>
            <a:pPr algn="l"/>
            <a:r>
              <a:rPr sz="1400" b="0" i="0">
                <a:solidFill>
                  <a:srgbClr val="5B6275"/>
                </a:solidFill>
              </a:rPr>
              <a:t>Operator, scene reset, reviewer. When do you rotate?</a:t>
            </a:r>
          </a:p>
        </p:txBody>
      </p:sp>
      <p:sp>
        <p:nvSpPr>
          <p:cNvPr id="11" name="Rounded Rectangle 10"/>
          <p:cNvSpPr/>
          <p:nvPr/>
        </p:nvSpPr>
        <p:spPr>
          <a:xfrm>
            <a:off x="4297679" y="347472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5 · Discard rules</a:t>
            </a:r>
          </a:p>
          <a:p>
            <a:pPr algn="l"/>
            <a:r>
              <a:rPr sz="1400" b="0" i="0">
                <a:solidFill>
                  <a:srgbClr val="5B6275"/>
                </a:solidFill>
              </a:rPr>
              <a:t>Written rules, not feelings: pauses, regrasps, knocks…</a:t>
            </a:r>
          </a:p>
        </p:txBody>
      </p:sp>
      <p:sp>
        <p:nvSpPr>
          <p:cNvPr id="12" name="Rounded Rectangle 11"/>
          <p:cNvSpPr/>
          <p:nvPr/>
        </p:nvSpPr>
        <p:spPr>
          <a:xfrm>
            <a:off x="8046719" y="3474720"/>
            <a:ext cx="35661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164194"/>
                </a:solidFill>
              </a:rPr>
              <a:t>6 · Target count</a:t>
            </a:r>
          </a:p>
          <a:p>
            <a:pPr algn="l"/>
            <a:r>
              <a:rPr sz="1400" b="0" i="0">
                <a:solidFill>
                  <a:srgbClr val="5B6275"/>
                </a:solidFill>
              </a:rPr>
              <a:t>50 kept episodes. How many extra will you record?</a:t>
            </a:r>
          </a:p>
        </p:txBody>
      </p:sp>
      <p:sp>
        <p:nvSpPr>
          <p:cNvPr id="13" name="Rounded Rectangle 12"/>
          <p:cNvSpPr/>
          <p:nvPr/>
        </p:nvSpPr>
        <p:spPr>
          <a:xfrm>
            <a:off x="548640" y="5486400"/>
            <a:ext cx="11064240" cy="594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Pods, 15 minutes. Hand the plan in today: Lab 10 starts by checking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Exit ticket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26</a:t>
            </a:fld>
            <a:endParaRPr lang="en-SG"/>
          </a:p>
        </p:txBody>
      </p:sp>
      <p:sp>
        <p:nvSpPr>
          <p:cNvPr id="7" name="Rounded Rectangle 6"/>
          <p:cNvSpPr/>
          <p:nvPr/>
        </p:nvSpPr>
        <p:spPr>
          <a:xfrm>
            <a:off x="548640" y="160020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1</a:t>
            </a:r>
          </a:p>
        </p:txBody>
      </p:sp>
      <p:sp>
        <p:nvSpPr>
          <p:cNvPr id="8" name="Rounded Rectangle 7"/>
          <p:cNvSpPr/>
          <p:nvPr/>
        </p:nvSpPr>
        <p:spPr>
          <a:xfrm>
            <a:off x="1325880" y="160020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In behaviour cloning, what is the label?</a:t>
            </a:r>
          </a:p>
        </p:txBody>
      </p:sp>
      <p:sp>
        <p:nvSpPr>
          <p:cNvPr id="9" name="Rounded Rectangle 8"/>
          <p:cNvSpPr/>
          <p:nvPr/>
        </p:nvSpPr>
        <p:spPr>
          <a:xfrm>
            <a:off x="548640" y="242316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2</a:t>
            </a:r>
          </a:p>
        </p:txBody>
      </p:sp>
      <p:sp>
        <p:nvSpPr>
          <p:cNvPr id="10" name="Rounded Rectangle 9"/>
          <p:cNvSpPr/>
          <p:nvPr/>
        </p:nvSpPr>
        <p:spPr>
          <a:xfrm>
            <a:off x="1325880" y="242316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Explain covariate shift in two sentences.</a:t>
            </a:r>
          </a:p>
        </p:txBody>
      </p:sp>
      <p:sp>
        <p:nvSpPr>
          <p:cNvPr id="11" name="Rounded Rectangle 10"/>
          <p:cNvSpPr/>
          <p:nvPr/>
        </p:nvSpPr>
        <p:spPr>
          <a:xfrm>
            <a:off x="548640" y="324612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3</a:t>
            </a:r>
          </a:p>
        </p:txBody>
      </p:sp>
      <p:sp>
        <p:nvSpPr>
          <p:cNvPr id="12" name="Rounded Rectangle 11"/>
          <p:cNvSpPr/>
          <p:nvPr/>
        </p:nvSpPr>
        <p:spPr>
          <a:xfrm>
            <a:off x="1325880" y="324612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What does ACT output at each decision?</a:t>
            </a:r>
          </a:p>
        </p:txBody>
      </p:sp>
      <p:sp>
        <p:nvSpPr>
          <p:cNvPr id="13" name="Rounded Rectangle 12"/>
          <p:cNvSpPr/>
          <p:nvPr/>
        </p:nvSpPr>
        <p:spPr>
          <a:xfrm>
            <a:off x="548640" y="4069080"/>
            <a:ext cx="640080" cy="64008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4</a:t>
            </a:r>
          </a:p>
        </p:txBody>
      </p:sp>
      <p:sp>
        <p:nvSpPr>
          <p:cNvPr id="14" name="Rounded Rectangle 13"/>
          <p:cNvSpPr/>
          <p:nvPr/>
        </p:nvSpPr>
        <p:spPr>
          <a:xfrm>
            <a:off x="1325880" y="4069080"/>
            <a:ext cx="10287000" cy="640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Pods: hand in your dataset plan.</a:t>
            </a:r>
          </a:p>
        </p:txBody>
      </p:sp>
      <p:sp>
        <p:nvSpPr>
          <p:cNvPr id="15" name="TextBox 14"/>
          <p:cNvSpPr txBox="1"/>
          <p:nvPr/>
        </p:nvSpPr>
        <p:spPr>
          <a:xfrm>
            <a:off x="548640" y="4983480"/>
            <a:ext cx="11064240" cy="365760"/>
          </a:xfrm>
          <a:prstGeom prst="rect">
            <a:avLst/>
          </a:prstGeom>
          <a:noFill/>
        </p:spPr>
        <p:txBody>
          <a:bodyPr wrap="square" lIns="0" rIns="0" tIns="0" bIns="0" anchor="t">
            <a:spAutoFit/>
          </a:bodyPr>
          <a:lstStyle/>
          <a:p>
            <a:pPr algn="l"/>
            <a:r>
              <a:rPr sz="1400" b="0" i="1">
                <a:solidFill>
                  <a:srgbClr val="5B6275"/>
                </a:solidFill>
              </a:rPr>
              <a:t>On your own, on paper, about 5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week: L10 lab · collect a quality dataset and train ACT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27</a:t>
            </a:fld>
            <a:endParaRPr lang="en-SG"/>
          </a:p>
        </p:txBody>
      </p:sp>
      <p:sp>
        <p:nvSpPr>
          <p:cNvPr id="7" name="Rounded Rectangle 6"/>
          <p:cNvSpPr/>
          <p:nvPr/>
        </p:nvSpPr>
        <p:spPr>
          <a:xfrm>
            <a:off x="548640" y="1508760"/>
            <a:ext cx="6766560" cy="5029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Arm station · main activity</a:t>
            </a:r>
          </a:p>
        </p:txBody>
      </p:sp>
      <p:sp>
        <p:nvSpPr>
          <p:cNvPr id="8" name="Rounded Rectangle 7"/>
          <p:cNvSpPr/>
          <p:nvPr/>
        </p:nvSpPr>
        <p:spPr>
          <a:xfrm>
            <a:off x="548640" y="2057400"/>
            <a:ext cx="6766560" cy="2743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82880" bIns="182880"/>
          <a:lstStyle/>
          <a:p>
            <a:pPr algn="l">
              <a:spcAft>
                <a:spcPts val="700"/>
              </a:spcAft>
            </a:pPr>
            <a:r>
              <a:rPr sz="1500" b="0" i="0">
                <a:solidFill>
                  <a:srgbClr val="1F2433"/>
                </a:solidFill>
              </a:rPr>
              <a:t>Record about 50 episodes: 10 at each of the 5 grid positions, one strategy</a:t>
            </a:r>
          </a:p>
          <a:p>
            <a:pPr algn="l">
              <a:spcAft>
                <a:spcPts val="700"/>
              </a:spcAft>
            </a:pPr>
            <a:r>
              <a:rPr sz="1500" b="0" i="0">
                <a:solidFill>
                  <a:srgbClr val="1F2433"/>
                </a:solidFill>
              </a:rPr>
              <a:t>Rotate roles: operator, scene reset, reviewer</a:t>
            </a:r>
          </a:p>
          <a:p>
            <a:pPr algn="l">
              <a:spcAft>
                <a:spcPts val="700"/>
              </a:spcAft>
            </a:pPr>
            <a:r>
              <a:rPr sz="1500" b="0" i="0">
                <a:solidFill>
                  <a:srgbClr val="1F2433"/>
                </a:solidFill>
              </a:rPr>
              <a:t>Reviewer marks keep or discard live; re-record discards</a:t>
            </a:r>
          </a:p>
          <a:p>
            <a:pPr algn="l">
              <a:spcAft>
                <a:spcPts val="700"/>
              </a:spcAft>
            </a:pPr>
            <a:r>
              <a:rPr sz="1500" b="0" i="0">
                <a:solidFill>
                  <a:srgbClr val="1F2433"/>
                </a:solidFill>
              </a:rPr>
              <a:t>Write the datasheet and discard log</a:t>
            </a:r>
          </a:p>
          <a:p>
            <a:pPr algn="l"/>
            <a:r>
              <a:rPr sz="1500" b="0" i="0">
                <a:solidFill>
                  <a:srgbClr val="1F2433"/>
                </a:solidFill>
              </a:rPr>
              <a:t>Launch ACT training: it keeps running after the lab</a:t>
            </a:r>
          </a:p>
        </p:txBody>
      </p:sp>
      <p:sp>
        <p:nvSpPr>
          <p:cNvPr id="9" name="Rounded Rectangle 8"/>
          <p:cNvSpPr/>
          <p:nvPr/>
        </p:nvSpPr>
        <p:spPr>
          <a:xfrm>
            <a:off x="7498079" y="1508760"/>
            <a:ext cx="41148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Sim station · off-arm time</a:t>
            </a:r>
          </a:p>
        </p:txBody>
      </p:sp>
      <p:sp>
        <p:nvSpPr>
          <p:cNvPr id="10" name="Rounded Rectangle 9"/>
          <p:cNvSpPr/>
          <p:nvPr/>
        </p:nvSpPr>
        <p:spPr>
          <a:xfrm>
            <a:off x="7498079" y="2057400"/>
            <a:ext cx="4114800" cy="2743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82880" bIns="182880"/>
          <a:lstStyle/>
          <a:p>
            <a:pPr algn="l">
              <a:spcAft>
                <a:spcPts val="700"/>
              </a:spcAft>
            </a:pPr>
            <a:r>
              <a:rPr sz="1500" b="0" i="0">
                <a:solidFill>
                  <a:srgbClr val="1F2433"/>
                </a:solidFill>
              </a:rPr>
              <a:t>Record about 10 simulated demonstrations</a:t>
            </a:r>
          </a:p>
          <a:p>
            <a:pPr algn="l"/>
            <a:r>
              <a:rPr sz="1500" b="0" i="0">
                <a:solidFill>
                  <a:srgbClr val="1F2433"/>
                </a:solidFill>
              </a:rPr>
              <a:t>Compare a simulated frame with a real one and list the differences</a:t>
            </a:r>
          </a:p>
        </p:txBody>
      </p:sp>
      <p:sp>
        <p:nvSpPr>
          <p:cNvPr id="11" name="Rounded Rectangle 10"/>
          <p:cNvSpPr/>
          <p:nvPr/>
        </p:nvSpPr>
        <p:spPr>
          <a:xfrm>
            <a:off x="548640" y="5029200"/>
            <a:ext cx="11064240" cy="10058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91440" bIns="91440"/>
          <a:lstStyle/>
          <a:p>
            <a:pPr algn="l"/>
            <a:r>
              <a:rPr sz="1500" b="1" i="0">
                <a:solidFill>
                  <a:srgbClr val="E30613"/>
                </a:solidFill>
              </a:rPr>
              <a:t>Bring: </a:t>
            </a:r>
            <a:r>
              <a:rPr sz="1500" b="0" i="0">
                <a:solidFill>
                  <a:srgbClr val="1F2433"/>
                </a:solidFill>
              </a:rPr>
              <a:t>your pod's dataset plan and the calibration files from Lab 2. Gate: curated dataset, datasheet, discard log, and ACT training running.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L9</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28</a:t>
            </a:fld>
            <a:endParaRPr lang="en-SG"/>
          </a:p>
        </p:txBody>
      </p:sp>
      <p:sp>
        <p:nvSpPr>
          <p:cNvPr id="7" name="TextBox 6"/>
          <p:cNvSpPr txBox="1"/>
          <p:nvPr/>
        </p:nvSpPr>
        <p:spPr>
          <a:xfrm>
            <a:off x="548640" y="1508760"/>
            <a:ext cx="11064240" cy="4572000"/>
          </a:xfrm>
          <a:prstGeom prst="rect">
            <a:avLst/>
          </a:prstGeom>
          <a:noFill/>
        </p:spPr>
        <p:txBody>
          <a:bodyPr wrap="square" lIns="0" rIns="0" tIns="0" bIns="0" anchor="t">
            <a:spAutoFit/>
          </a:bodyPr>
          <a:lstStyle/>
          <a:p>
            <a:pPr algn="l">
              <a:spcAft>
                <a:spcPts val="800"/>
              </a:spcAft>
            </a:pPr>
            <a:r>
              <a:rPr sz="1300" b="0" i="0">
                <a:solidFill>
                  <a:srgbClr val="1F2433"/>
                </a:solidFill>
              </a:rPr>
              <a:t>Zhao, T. Z. et al. (2023). Learning fine-grained bimanual manipulation with low-cost hardware (ACT). https://arxiv.org/abs/2304.13705</a:t>
            </a:r>
          </a:p>
          <a:p>
            <a:pPr algn="l">
              <a:spcAft>
                <a:spcPts val="800"/>
              </a:spcAft>
            </a:pPr>
            <a:r>
              <a:rPr sz="1300" b="0" i="0">
                <a:solidFill>
                  <a:srgbClr val="1F2433"/>
                </a:solidFill>
              </a:rPr>
              <a:t>Chi, C. et al. (2023). Diffusion Policy: visuomotor policy learning via action diffusion. https://arxiv.org/abs/2303.04137</a:t>
            </a:r>
          </a:p>
          <a:p>
            <a:pPr algn="l">
              <a:spcAft>
                <a:spcPts val="800"/>
              </a:spcAft>
            </a:pPr>
            <a:r>
              <a:rPr sz="1300" b="0" i="0">
                <a:solidFill>
                  <a:srgbClr val="1F2433"/>
                </a:solidFill>
              </a:rPr>
              <a:t>Ross, S., Gordon, G. &amp; Bagnell, J. A. (2011). A reduction of imitation learning and structured prediction to no-regret online learning (DAgger). https://arxiv.org/abs/1011.0686</a:t>
            </a:r>
          </a:p>
          <a:p>
            <a:pPr algn="l">
              <a:spcAft>
                <a:spcPts val="800"/>
              </a:spcAft>
            </a:pPr>
            <a:r>
              <a:rPr sz="1300" b="0" i="0">
                <a:solidFill>
                  <a:srgbClr val="1F2433"/>
                </a:solidFill>
              </a:rPr>
              <a:t>Pomerleau, D. (1988). ALVINN: an autonomous land vehicle in a neural network. NeurIPS 1988 (early behaviour cloning).</a:t>
            </a:r>
          </a:p>
          <a:p>
            <a:pPr algn="l">
              <a:spcAft>
                <a:spcPts val="800"/>
              </a:spcAft>
            </a:pPr>
            <a:r>
              <a:rPr sz="1300" b="0" i="0">
                <a:solidFill>
                  <a:srgbClr val="1F2433"/>
                </a:solidFill>
              </a:rPr>
              <a:t>LeRobot documentation: imitation learning on real-world robots. https://huggingface.co/docs/lerobot/il_robots</a:t>
            </a:r>
          </a:p>
          <a:p>
            <a:pPr algn="l">
              <a:spcAft>
                <a:spcPts val="800"/>
              </a:spcAft>
            </a:pPr>
            <a:r>
              <a:rPr sz="1300" b="0" i="0">
                <a:solidFill>
                  <a:srgbClr val="1F2433"/>
                </a:solidFill>
              </a:rPr>
              <a:t>LeRobot documentation: ACT policy. https://huggingface.co/docs/lerobot/act</a:t>
            </a:r>
          </a:p>
          <a:p>
            <a:pPr algn="l">
              <a:spcAft>
                <a:spcPts val="800"/>
              </a:spcAft>
            </a:pPr>
            <a:r>
              <a:rPr sz="1300" b="0" i="0">
                <a:solidFill>
                  <a:srgbClr val="1F2433"/>
                </a:solidFill>
              </a:rPr>
              <a:t>LeIsaac: SO-101 teleoperation and data collection in Isaac Lab. https://github.com/LightwheelAI/leisaac</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7148</TotalTime>
  <Words>356</Words>
  <Application>Microsoft Office PowerPoint</Application>
  <PresentationFormat>Widescreen</PresentationFormat>
  <Paragraphs>35</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Responsible AI?</vt:lpstr>
      <vt:lpstr>AI Ethics, AI Governance &amp; Responsible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Kheng Kok MAR (NYP)</cp:lastModifiedBy>
  <cp:revision>14</cp:revision>
  <dcterms:created xsi:type="dcterms:W3CDTF">2023-04-05T14:55:09Z</dcterms:created>
  <dcterms:modified xsi:type="dcterms:W3CDTF">2025-07-29T10:11:31Z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