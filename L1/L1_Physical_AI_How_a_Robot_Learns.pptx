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10"/>
  </p:notesMasterIdLst>
  <p:handoutMasterIdLst>
    <p:handoutMasterId r:id="rId11"/>
  </p:handoutMasterIdLst>
  <p:sldIdLst>
    <p:sldId id="419" r:id="rId5"/>
    <p:sldId id="420" r:id="rId18"/>
    <p:sldId id="421" r:id="rId19"/>
    <p:sldId id="422" r:id="rId20"/>
    <p:sldId id="423" r:id="rId21"/>
    <p:sldId id="424" r:id="rId22"/>
    <p:sldId id="425" r:id="rId23"/>
    <p:sldId id="426" r:id="rId24"/>
    <p:sldId id="427" r:id="rId25"/>
    <p:sldId id="428" r:id="rId26"/>
    <p:sldId id="429" r:id="rId27"/>
    <p:sldId id="430" r:id="rId28"/>
    <p:sldId id="431" r:id="rId29"/>
    <p:sldId id="432" r:id="rId30"/>
    <p:sldId id="433" r:id="rId31"/>
    <p:sldId id="434" r:id="rId32"/>
    <p:sldId id="435" r:id="rId33"/>
    <p:sldId id="436" r:id="rId34"/>
    <p:sldId id="437" r:id="rId35"/>
    <p:sldId id="438" r:id="rId36"/>
    <p:sldId id="439" r:id="rId37"/>
    <p:sldId id="440" r:id="rId38"/>
    <p:sldId id="441" r:id="rId39"/>
    <p:sldId id="44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D7AA8-B633-43EA-B803-6478153F3BD7}" v="3" dt="2025-03-21T02:00:42.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2" autoAdjust="0"/>
    <p:restoredTop sz="77326" autoAdjust="0"/>
  </p:normalViewPr>
  <p:slideViewPr>
    <p:cSldViewPr snapToGrid="0">
      <p:cViewPr varScale="1">
        <p:scale>
          <a:sx n="94" d="100"/>
          <a:sy n="94" d="100"/>
        </p:scale>
        <p:origin x="105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ng Kok MAR (NYP)" userId="62030f1a-a95b-4c33-86e6-478100d64ee1" providerId="ADAL" clId="{58ED7AA8-B633-43EA-B803-6478153F3BD7}"/>
    <pc:docChg chg="undo custSel addSld delSld modSld">
      <pc:chgData name="Kheng Kok MAR (NYP)" userId="62030f1a-a95b-4c33-86e6-478100d64ee1" providerId="ADAL" clId="{58ED7AA8-B633-43EA-B803-6478153F3BD7}" dt="2025-03-21T05:00:48.584" v="153" actId="5793"/>
      <pc:docMkLst>
        <pc:docMk/>
      </pc:docMkLst>
      <pc:sldChg chg="del">
        <pc:chgData name="Kheng Kok MAR (NYP)" userId="62030f1a-a95b-4c33-86e6-478100d64ee1" providerId="ADAL" clId="{58ED7AA8-B633-43EA-B803-6478153F3BD7}" dt="2025-03-21T04:59:58.739" v="136" actId="47"/>
        <pc:sldMkLst>
          <pc:docMk/>
          <pc:sldMk cId="2600293482" sldId="262"/>
        </pc:sldMkLst>
      </pc:sldChg>
      <pc:sldChg chg="del">
        <pc:chgData name="Kheng Kok MAR (NYP)" userId="62030f1a-a95b-4c33-86e6-478100d64ee1" providerId="ADAL" clId="{58ED7AA8-B633-43EA-B803-6478153F3BD7}" dt="2025-03-21T04:59:46.679" v="135" actId="47"/>
        <pc:sldMkLst>
          <pc:docMk/>
          <pc:sldMk cId="2807024801" sldId="295"/>
        </pc:sldMkLst>
      </pc:sldChg>
      <pc:sldChg chg="del">
        <pc:chgData name="Kheng Kok MAR (NYP)" userId="62030f1a-a95b-4c33-86e6-478100d64ee1" providerId="ADAL" clId="{58ED7AA8-B633-43EA-B803-6478153F3BD7}" dt="2025-03-21T04:59:46.679" v="135" actId="47"/>
        <pc:sldMkLst>
          <pc:docMk/>
          <pc:sldMk cId="2933152867" sldId="299"/>
        </pc:sldMkLst>
      </pc:sldChg>
      <pc:sldChg chg="del">
        <pc:chgData name="Kheng Kok MAR (NYP)" userId="62030f1a-a95b-4c33-86e6-478100d64ee1" providerId="ADAL" clId="{58ED7AA8-B633-43EA-B803-6478153F3BD7}" dt="2025-03-21T04:59:46.679" v="135" actId="47"/>
        <pc:sldMkLst>
          <pc:docMk/>
          <pc:sldMk cId="3250412498" sldId="300"/>
        </pc:sldMkLst>
      </pc:sldChg>
      <pc:sldChg chg="del">
        <pc:chgData name="Kheng Kok MAR (NYP)" userId="62030f1a-a95b-4c33-86e6-478100d64ee1" providerId="ADAL" clId="{58ED7AA8-B633-43EA-B803-6478153F3BD7}" dt="2025-03-21T04:59:46.679" v="135" actId="47"/>
        <pc:sldMkLst>
          <pc:docMk/>
          <pc:sldMk cId="1619976221" sldId="301"/>
        </pc:sldMkLst>
      </pc:sldChg>
      <pc:sldChg chg="del">
        <pc:chgData name="Kheng Kok MAR (NYP)" userId="62030f1a-a95b-4c33-86e6-478100d64ee1" providerId="ADAL" clId="{58ED7AA8-B633-43EA-B803-6478153F3BD7}" dt="2025-03-21T04:59:46.679" v="135" actId="47"/>
        <pc:sldMkLst>
          <pc:docMk/>
          <pc:sldMk cId="4234809244" sldId="302"/>
        </pc:sldMkLst>
      </pc:sldChg>
      <pc:sldChg chg="del">
        <pc:chgData name="Kheng Kok MAR (NYP)" userId="62030f1a-a95b-4c33-86e6-478100d64ee1" providerId="ADAL" clId="{58ED7AA8-B633-43EA-B803-6478153F3BD7}" dt="2025-03-21T04:59:46.679" v="135" actId="47"/>
        <pc:sldMkLst>
          <pc:docMk/>
          <pc:sldMk cId="2070489917" sldId="303"/>
        </pc:sldMkLst>
      </pc:sldChg>
      <pc:sldChg chg="del">
        <pc:chgData name="Kheng Kok MAR (NYP)" userId="62030f1a-a95b-4c33-86e6-478100d64ee1" providerId="ADAL" clId="{58ED7AA8-B633-43EA-B803-6478153F3BD7}" dt="2025-03-21T04:59:46.679" v="135" actId="47"/>
        <pc:sldMkLst>
          <pc:docMk/>
          <pc:sldMk cId="1766828700" sldId="320"/>
        </pc:sldMkLst>
      </pc:sldChg>
      <pc:sldChg chg="del">
        <pc:chgData name="Kheng Kok MAR (NYP)" userId="62030f1a-a95b-4c33-86e6-478100d64ee1" providerId="ADAL" clId="{58ED7AA8-B633-43EA-B803-6478153F3BD7}" dt="2025-03-21T04:59:46.679" v="135" actId="47"/>
        <pc:sldMkLst>
          <pc:docMk/>
          <pc:sldMk cId="3880737323" sldId="321"/>
        </pc:sldMkLst>
      </pc:sldChg>
      <pc:sldChg chg="del">
        <pc:chgData name="Kheng Kok MAR (NYP)" userId="62030f1a-a95b-4c33-86e6-478100d64ee1" providerId="ADAL" clId="{58ED7AA8-B633-43EA-B803-6478153F3BD7}" dt="2025-03-21T04:59:46.679" v="135" actId="47"/>
        <pc:sldMkLst>
          <pc:docMk/>
          <pc:sldMk cId="3392206436" sldId="322"/>
        </pc:sldMkLst>
      </pc:sldChg>
      <pc:sldChg chg="del">
        <pc:chgData name="Kheng Kok MAR (NYP)" userId="62030f1a-a95b-4c33-86e6-478100d64ee1" providerId="ADAL" clId="{58ED7AA8-B633-43EA-B803-6478153F3BD7}" dt="2025-03-21T04:59:46.679" v="135" actId="47"/>
        <pc:sldMkLst>
          <pc:docMk/>
          <pc:sldMk cId="3132682470" sldId="323"/>
        </pc:sldMkLst>
      </pc:sldChg>
      <pc:sldChg chg="del">
        <pc:chgData name="Kheng Kok MAR (NYP)" userId="62030f1a-a95b-4c33-86e6-478100d64ee1" providerId="ADAL" clId="{58ED7AA8-B633-43EA-B803-6478153F3BD7}" dt="2025-03-21T04:59:46.679" v="135" actId="47"/>
        <pc:sldMkLst>
          <pc:docMk/>
          <pc:sldMk cId="3169862212" sldId="324"/>
        </pc:sldMkLst>
      </pc:sldChg>
      <pc:sldChg chg="del">
        <pc:chgData name="Kheng Kok MAR (NYP)" userId="62030f1a-a95b-4c33-86e6-478100d64ee1" providerId="ADAL" clId="{58ED7AA8-B633-43EA-B803-6478153F3BD7}" dt="2025-03-21T04:59:46.679" v="135" actId="47"/>
        <pc:sldMkLst>
          <pc:docMk/>
          <pc:sldMk cId="4009347987" sldId="325"/>
        </pc:sldMkLst>
      </pc:sldChg>
      <pc:sldChg chg="del">
        <pc:chgData name="Kheng Kok MAR (NYP)" userId="62030f1a-a95b-4c33-86e6-478100d64ee1" providerId="ADAL" clId="{58ED7AA8-B633-43EA-B803-6478153F3BD7}" dt="2025-03-21T05:00:10.423" v="138" actId="47"/>
        <pc:sldMkLst>
          <pc:docMk/>
          <pc:sldMk cId="1255300212" sldId="327"/>
        </pc:sldMkLst>
      </pc:sldChg>
      <pc:sldChg chg="del">
        <pc:chgData name="Kheng Kok MAR (NYP)" userId="62030f1a-a95b-4c33-86e6-478100d64ee1" providerId="ADAL" clId="{58ED7AA8-B633-43EA-B803-6478153F3BD7}" dt="2025-03-21T04:59:58.739" v="136" actId="47"/>
        <pc:sldMkLst>
          <pc:docMk/>
          <pc:sldMk cId="1320550275" sldId="328"/>
        </pc:sldMkLst>
      </pc:sldChg>
      <pc:sldChg chg="del">
        <pc:chgData name="Kheng Kok MAR (NYP)" userId="62030f1a-a95b-4c33-86e6-478100d64ee1" providerId="ADAL" clId="{58ED7AA8-B633-43EA-B803-6478153F3BD7}" dt="2025-03-21T04:59:58.739" v="136" actId="47"/>
        <pc:sldMkLst>
          <pc:docMk/>
          <pc:sldMk cId="916683871" sldId="329"/>
        </pc:sldMkLst>
      </pc:sldChg>
      <pc:sldChg chg="del">
        <pc:chgData name="Kheng Kok MAR (NYP)" userId="62030f1a-a95b-4c33-86e6-478100d64ee1" providerId="ADAL" clId="{58ED7AA8-B633-43EA-B803-6478153F3BD7}" dt="2025-03-21T04:59:58.739" v="136" actId="47"/>
        <pc:sldMkLst>
          <pc:docMk/>
          <pc:sldMk cId="3836926012" sldId="330"/>
        </pc:sldMkLst>
      </pc:sldChg>
      <pc:sldChg chg="del">
        <pc:chgData name="Kheng Kok MAR (NYP)" userId="62030f1a-a95b-4c33-86e6-478100d64ee1" providerId="ADAL" clId="{58ED7AA8-B633-43EA-B803-6478153F3BD7}" dt="2025-03-21T04:59:58.739" v="136" actId="47"/>
        <pc:sldMkLst>
          <pc:docMk/>
          <pc:sldMk cId="1005339390" sldId="331"/>
        </pc:sldMkLst>
      </pc:sldChg>
      <pc:sldChg chg="del">
        <pc:chgData name="Kheng Kok MAR (NYP)" userId="62030f1a-a95b-4c33-86e6-478100d64ee1" providerId="ADAL" clId="{58ED7AA8-B633-43EA-B803-6478153F3BD7}" dt="2025-03-21T04:59:58.739" v="136" actId="47"/>
        <pc:sldMkLst>
          <pc:docMk/>
          <pc:sldMk cId="3761206000" sldId="333"/>
        </pc:sldMkLst>
      </pc:sldChg>
      <pc:sldChg chg="del">
        <pc:chgData name="Kheng Kok MAR (NYP)" userId="62030f1a-a95b-4c33-86e6-478100d64ee1" providerId="ADAL" clId="{58ED7AA8-B633-43EA-B803-6478153F3BD7}" dt="2025-03-21T04:59:58.739" v="136" actId="47"/>
        <pc:sldMkLst>
          <pc:docMk/>
          <pc:sldMk cId="1070237463" sldId="334"/>
        </pc:sldMkLst>
      </pc:sldChg>
      <pc:sldChg chg="del">
        <pc:chgData name="Kheng Kok MAR (NYP)" userId="62030f1a-a95b-4c33-86e6-478100d64ee1" providerId="ADAL" clId="{58ED7AA8-B633-43EA-B803-6478153F3BD7}" dt="2025-03-21T04:59:58.739" v="136" actId="47"/>
        <pc:sldMkLst>
          <pc:docMk/>
          <pc:sldMk cId="1769685483" sldId="335"/>
        </pc:sldMkLst>
      </pc:sldChg>
      <pc:sldChg chg="del">
        <pc:chgData name="Kheng Kok MAR (NYP)" userId="62030f1a-a95b-4c33-86e6-478100d64ee1" providerId="ADAL" clId="{58ED7AA8-B633-43EA-B803-6478153F3BD7}" dt="2025-03-21T04:59:58.739" v="136" actId="47"/>
        <pc:sldMkLst>
          <pc:docMk/>
          <pc:sldMk cId="781151514" sldId="336"/>
        </pc:sldMkLst>
      </pc:sldChg>
      <pc:sldChg chg="del">
        <pc:chgData name="Kheng Kok MAR (NYP)" userId="62030f1a-a95b-4c33-86e6-478100d64ee1" providerId="ADAL" clId="{58ED7AA8-B633-43EA-B803-6478153F3BD7}" dt="2025-03-21T04:59:58.739" v="136" actId="47"/>
        <pc:sldMkLst>
          <pc:docMk/>
          <pc:sldMk cId="4181970323" sldId="337"/>
        </pc:sldMkLst>
      </pc:sldChg>
      <pc:sldChg chg="del">
        <pc:chgData name="Kheng Kok MAR (NYP)" userId="62030f1a-a95b-4c33-86e6-478100d64ee1" providerId="ADAL" clId="{58ED7AA8-B633-43EA-B803-6478153F3BD7}" dt="2025-03-21T04:59:58.739" v="136" actId="47"/>
        <pc:sldMkLst>
          <pc:docMk/>
          <pc:sldMk cId="3715183010" sldId="338"/>
        </pc:sldMkLst>
      </pc:sldChg>
      <pc:sldChg chg="del">
        <pc:chgData name="Kheng Kok MAR (NYP)" userId="62030f1a-a95b-4c33-86e6-478100d64ee1" providerId="ADAL" clId="{58ED7AA8-B633-43EA-B803-6478153F3BD7}" dt="2025-03-21T04:59:58.739" v="136" actId="47"/>
        <pc:sldMkLst>
          <pc:docMk/>
          <pc:sldMk cId="807812468" sldId="339"/>
        </pc:sldMkLst>
      </pc:sldChg>
      <pc:sldChg chg="del">
        <pc:chgData name="Kheng Kok MAR (NYP)" userId="62030f1a-a95b-4c33-86e6-478100d64ee1" providerId="ADAL" clId="{58ED7AA8-B633-43EA-B803-6478153F3BD7}" dt="2025-03-21T05:00:06.595" v="137" actId="47"/>
        <pc:sldMkLst>
          <pc:docMk/>
          <pc:sldMk cId="3114733694" sldId="340"/>
        </pc:sldMkLst>
      </pc:sldChg>
      <pc:sldChg chg="del">
        <pc:chgData name="Kheng Kok MAR (NYP)" userId="62030f1a-a95b-4c33-86e6-478100d64ee1" providerId="ADAL" clId="{58ED7AA8-B633-43EA-B803-6478153F3BD7}" dt="2025-03-21T05:00:06.595" v="137" actId="47"/>
        <pc:sldMkLst>
          <pc:docMk/>
          <pc:sldMk cId="3020918737" sldId="341"/>
        </pc:sldMkLst>
      </pc:sldChg>
      <pc:sldChg chg="del">
        <pc:chgData name="Kheng Kok MAR (NYP)" userId="62030f1a-a95b-4c33-86e6-478100d64ee1" providerId="ADAL" clId="{58ED7AA8-B633-43EA-B803-6478153F3BD7}" dt="2025-03-21T05:00:06.595" v="137" actId="47"/>
        <pc:sldMkLst>
          <pc:docMk/>
          <pc:sldMk cId="4113745265" sldId="343"/>
        </pc:sldMkLst>
      </pc:sldChg>
      <pc:sldChg chg="del">
        <pc:chgData name="Kheng Kok MAR (NYP)" userId="62030f1a-a95b-4c33-86e6-478100d64ee1" providerId="ADAL" clId="{58ED7AA8-B633-43EA-B803-6478153F3BD7}" dt="2025-03-21T05:00:06.595" v="137" actId="47"/>
        <pc:sldMkLst>
          <pc:docMk/>
          <pc:sldMk cId="3711056098" sldId="345"/>
        </pc:sldMkLst>
      </pc:sldChg>
      <pc:sldChg chg="del">
        <pc:chgData name="Kheng Kok MAR (NYP)" userId="62030f1a-a95b-4c33-86e6-478100d64ee1" providerId="ADAL" clId="{58ED7AA8-B633-43EA-B803-6478153F3BD7}" dt="2025-03-21T05:00:06.595" v="137" actId="47"/>
        <pc:sldMkLst>
          <pc:docMk/>
          <pc:sldMk cId="1008210905" sldId="346"/>
        </pc:sldMkLst>
      </pc:sldChg>
      <pc:sldChg chg="del">
        <pc:chgData name="Kheng Kok MAR (NYP)" userId="62030f1a-a95b-4c33-86e6-478100d64ee1" providerId="ADAL" clId="{58ED7AA8-B633-43EA-B803-6478153F3BD7}" dt="2025-03-21T05:00:06.595" v="137" actId="47"/>
        <pc:sldMkLst>
          <pc:docMk/>
          <pc:sldMk cId="3922411213" sldId="347"/>
        </pc:sldMkLst>
      </pc:sldChg>
      <pc:sldChg chg="del">
        <pc:chgData name="Kheng Kok MAR (NYP)" userId="62030f1a-a95b-4c33-86e6-478100d64ee1" providerId="ADAL" clId="{58ED7AA8-B633-43EA-B803-6478153F3BD7}" dt="2025-03-21T05:00:06.595" v="137" actId="47"/>
        <pc:sldMkLst>
          <pc:docMk/>
          <pc:sldMk cId="2930374708" sldId="349"/>
        </pc:sldMkLst>
      </pc:sldChg>
      <pc:sldChg chg="del">
        <pc:chgData name="Kheng Kok MAR (NYP)" userId="62030f1a-a95b-4c33-86e6-478100d64ee1" providerId="ADAL" clId="{58ED7AA8-B633-43EA-B803-6478153F3BD7}" dt="2025-03-21T05:00:06.595" v="137" actId="47"/>
        <pc:sldMkLst>
          <pc:docMk/>
          <pc:sldMk cId="1062503712" sldId="353"/>
        </pc:sldMkLst>
      </pc:sldChg>
      <pc:sldChg chg="del">
        <pc:chgData name="Kheng Kok MAR (NYP)" userId="62030f1a-a95b-4c33-86e6-478100d64ee1" providerId="ADAL" clId="{58ED7AA8-B633-43EA-B803-6478153F3BD7}" dt="2025-03-21T05:00:06.595" v="137" actId="47"/>
        <pc:sldMkLst>
          <pc:docMk/>
          <pc:sldMk cId="2186340524" sldId="354"/>
        </pc:sldMkLst>
      </pc:sldChg>
      <pc:sldChg chg="del">
        <pc:chgData name="Kheng Kok MAR (NYP)" userId="62030f1a-a95b-4c33-86e6-478100d64ee1" providerId="ADAL" clId="{58ED7AA8-B633-43EA-B803-6478153F3BD7}" dt="2025-03-21T05:00:06.595" v="137" actId="47"/>
        <pc:sldMkLst>
          <pc:docMk/>
          <pc:sldMk cId="2351436070" sldId="358"/>
        </pc:sldMkLst>
      </pc:sldChg>
      <pc:sldChg chg="del">
        <pc:chgData name="Kheng Kok MAR (NYP)" userId="62030f1a-a95b-4c33-86e6-478100d64ee1" providerId="ADAL" clId="{58ED7AA8-B633-43EA-B803-6478153F3BD7}" dt="2025-03-21T05:00:06.595" v="137" actId="47"/>
        <pc:sldMkLst>
          <pc:docMk/>
          <pc:sldMk cId="3516845528" sldId="359"/>
        </pc:sldMkLst>
      </pc:sldChg>
      <pc:sldChg chg="del">
        <pc:chgData name="Kheng Kok MAR (NYP)" userId="62030f1a-a95b-4c33-86e6-478100d64ee1" providerId="ADAL" clId="{58ED7AA8-B633-43EA-B803-6478153F3BD7}" dt="2025-03-21T05:00:06.595" v="137" actId="47"/>
        <pc:sldMkLst>
          <pc:docMk/>
          <pc:sldMk cId="2606275055" sldId="366"/>
        </pc:sldMkLst>
      </pc:sldChg>
      <pc:sldChg chg="del">
        <pc:chgData name="Kheng Kok MAR (NYP)" userId="62030f1a-a95b-4c33-86e6-478100d64ee1" providerId="ADAL" clId="{58ED7AA8-B633-43EA-B803-6478153F3BD7}" dt="2025-03-21T05:00:06.595" v="137" actId="47"/>
        <pc:sldMkLst>
          <pc:docMk/>
          <pc:sldMk cId="3873997129" sldId="368"/>
        </pc:sldMkLst>
      </pc:sldChg>
      <pc:sldChg chg="del">
        <pc:chgData name="Kheng Kok MAR (NYP)" userId="62030f1a-a95b-4c33-86e6-478100d64ee1" providerId="ADAL" clId="{58ED7AA8-B633-43EA-B803-6478153F3BD7}" dt="2025-03-21T05:00:06.595" v="137" actId="47"/>
        <pc:sldMkLst>
          <pc:docMk/>
          <pc:sldMk cId="196573934" sldId="369"/>
        </pc:sldMkLst>
      </pc:sldChg>
      <pc:sldChg chg="del">
        <pc:chgData name="Kheng Kok MAR (NYP)" userId="62030f1a-a95b-4c33-86e6-478100d64ee1" providerId="ADAL" clId="{58ED7AA8-B633-43EA-B803-6478153F3BD7}" dt="2025-03-21T05:00:06.595" v="137" actId="47"/>
        <pc:sldMkLst>
          <pc:docMk/>
          <pc:sldMk cId="3624530038" sldId="370"/>
        </pc:sldMkLst>
      </pc:sldChg>
      <pc:sldChg chg="del">
        <pc:chgData name="Kheng Kok MAR (NYP)" userId="62030f1a-a95b-4c33-86e6-478100d64ee1" providerId="ADAL" clId="{58ED7AA8-B633-43EA-B803-6478153F3BD7}" dt="2025-03-21T05:00:06.595" v="137" actId="47"/>
        <pc:sldMkLst>
          <pc:docMk/>
          <pc:sldMk cId="2836799505" sldId="372"/>
        </pc:sldMkLst>
      </pc:sldChg>
      <pc:sldChg chg="del">
        <pc:chgData name="Kheng Kok MAR (NYP)" userId="62030f1a-a95b-4c33-86e6-478100d64ee1" providerId="ADAL" clId="{58ED7AA8-B633-43EA-B803-6478153F3BD7}" dt="2025-03-21T05:00:12.373" v="139" actId="47"/>
        <pc:sldMkLst>
          <pc:docMk/>
          <pc:sldMk cId="2712846146" sldId="373"/>
        </pc:sldMkLst>
      </pc:sldChg>
      <pc:sldChg chg="del">
        <pc:chgData name="Kheng Kok MAR (NYP)" userId="62030f1a-a95b-4c33-86e6-478100d64ee1" providerId="ADAL" clId="{58ED7AA8-B633-43EA-B803-6478153F3BD7}" dt="2025-03-21T05:00:06.595" v="137" actId="47"/>
        <pc:sldMkLst>
          <pc:docMk/>
          <pc:sldMk cId="2931830914" sldId="374"/>
        </pc:sldMkLst>
      </pc:sldChg>
      <pc:sldChg chg="del">
        <pc:chgData name="Kheng Kok MAR (NYP)" userId="62030f1a-a95b-4c33-86e6-478100d64ee1" providerId="ADAL" clId="{58ED7AA8-B633-43EA-B803-6478153F3BD7}" dt="2025-03-21T05:00:06.595" v="137" actId="47"/>
        <pc:sldMkLst>
          <pc:docMk/>
          <pc:sldMk cId="799979536" sldId="375"/>
        </pc:sldMkLst>
      </pc:sldChg>
      <pc:sldChg chg="del">
        <pc:chgData name="Kheng Kok MAR (NYP)" userId="62030f1a-a95b-4c33-86e6-478100d64ee1" providerId="ADAL" clId="{58ED7AA8-B633-43EA-B803-6478153F3BD7}" dt="2025-03-21T05:00:10.423" v="138" actId="47"/>
        <pc:sldMkLst>
          <pc:docMk/>
          <pc:sldMk cId="2780781574" sldId="377"/>
        </pc:sldMkLst>
      </pc:sldChg>
      <pc:sldChg chg="del">
        <pc:chgData name="Kheng Kok MAR (NYP)" userId="62030f1a-a95b-4c33-86e6-478100d64ee1" providerId="ADAL" clId="{58ED7AA8-B633-43EA-B803-6478153F3BD7}" dt="2025-03-21T05:00:06.595" v="137" actId="47"/>
        <pc:sldMkLst>
          <pc:docMk/>
          <pc:sldMk cId="1274829805" sldId="378"/>
        </pc:sldMkLst>
      </pc:sldChg>
      <pc:sldChg chg="del">
        <pc:chgData name="Kheng Kok MAR (NYP)" userId="62030f1a-a95b-4c33-86e6-478100d64ee1" providerId="ADAL" clId="{58ED7AA8-B633-43EA-B803-6478153F3BD7}" dt="2025-03-21T04:59:46.679" v="135" actId="47"/>
        <pc:sldMkLst>
          <pc:docMk/>
          <pc:sldMk cId="1802167371" sldId="379"/>
        </pc:sldMkLst>
      </pc:sldChg>
      <pc:sldChg chg="del">
        <pc:chgData name="Kheng Kok MAR (NYP)" userId="62030f1a-a95b-4c33-86e6-478100d64ee1" providerId="ADAL" clId="{58ED7AA8-B633-43EA-B803-6478153F3BD7}" dt="2025-03-21T04:59:46.679" v="135" actId="47"/>
        <pc:sldMkLst>
          <pc:docMk/>
          <pc:sldMk cId="2990305848" sldId="380"/>
        </pc:sldMkLst>
      </pc:sldChg>
      <pc:sldChg chg="del">
        <pc:chgData name="Kheng Kok MAR (NYP)" userId="62030f1a-a95b-4c33-86e6-478100d64ee1" providerId="ADAL" clId="{58ED7AA8-B633-43EA-B803-6478153F3BD7}" dt="2025-03-21T04:59:58.739" v="136" actId="47"/>
        <pc:sldMkLst>
          <pc:docMk/>
          <pc:sldMk cId="3422701620" sldId="381"/>
        </pc:sldMkLst>
      </pc:sldChg>
      <pc:sldChg chg="del">
        <pc:chgData name="Kheng Kok MAR (NYP)" userId="62030f1a-a95b-4c33-86e6-478100d64ee1" providerId="ADAL" clId="{58ED7AA8-B633-43EA-B803-6478153F3BD7}" dt="2025-03-21T05:00:06.595" v="137" actId="47"/>
        <pc:sldMkLst>
          <pc:docMk/>
          <pc:sldMk cId="2680813618" sldId="383"/>
        </pc:sldMkLst>
      </pc:sldChg>
      <pc:sldChg chg="del">
        <pc:chgData name="Kheng Kok MAR (NYP)" userId="62030f1a-a95b-4c33-86e6-478100d64ee1" providerId="ADAL" clId="{58ED7AA8-B633-43EA-B803-6478153F3BD7}" dt="2025-03-21T05:00:06.595" v="137" actId="47"/>
        <pc:sldMkLst>
          <pc:docMk/>
          <pc:sldMk cId="3875934704" sldId="384"/>
        </pc:sldMkLst>
      </pc:sldChg>
      <pc:sldChg chg="del">
        <pc:chgData name="Kheng Kok MAR (NYP)" userId="62030f1a-a95b-4c33-86e6-478100d64ee1" providerId="ADAL" clId="{58ED7AA8-B633-43EA-B803-6478153F3BD7}" dt="2025-03-21T05:00:06.595" v="137" actId="47"/>
        <pc:sldMkLst>
          <pc:docMk/>
          <pc:sldMk cId="2619453085" sldId="385"/>
        </pc:sldMkLst>
      </pc:sldChg>
      <pc:sldChg chg="del">
        <pc:chgData name="Kheng Kok MAR (NYP)" userId="62030f1a-a95b-4c33-86e6-478100d64ee1" providerId="ADAL" clId="{58ED7AA8-B633-43EA-B803-6478153F3BD7}" dt="2025-03-21T05:00:06.595" v="137" actId="47"/>
        <pc:sldMkLst>
          <pc:docMk/>
          <pc:sldMk cId="4041534699" sldId="386"/>
        </pc:sldMkLst>
      </pc:sldChg>
      <pc:sldChg chg="del">
        <pc:chgData name="Kheng Kok MAR (NYP)" userId="62030f1a-a95b-4c33-86e6-478100d64ee1" providerId="ADAL" clId="{58ED7AA8-B633-43EA-B803-6478153F3BD7}" dt="2025-03-21T05:00:06.595" v="137" actId="47"/>
        <pc:sldMkLst>
          <pc:docMk/>
          <pc:sldMk cId="3434463523" sldId="387"/>
        </pc:sldMkLst>
      </pc:sldChg>
      <pc:sldChg chg="del">
        <pc:chgData name="Kheng Kok MAR (NYP)" userId="62030f1a-a95b-4c33-86e6-478100d64ee1" providerId="ADAL" clId="{58ED7AA8-B633-43EA-B803-6478153F3BD7}" dt="2025-03-21T05:00:06.595" v="137" actId="47"/>
        <pc:sldMkLst>
          <pc:docMk/>
          <pc:sldMk cId="3273044271" sldId="388"/>
        </pc:sldMkLst>
      </pc:sldChg>
      <pc:sldChg chg="del">
        <pc:chgData name="Kheng Kok MAR (NYP)" userId="62030f1a-a95b-4c33-86e6-478100d64ee1" providerId="ADAL" clId="{58ED7AA8-B633-43EA-B803-6478153F3BD7}" dt="2025-03-21T05:00:06.595" v="137" actId="47"/>
        <pc:sldMkLst>
          <pc:docMk/>
          <pc:sldMk cId="2594403404" sldId="389"/>
        </pc:sldMkLst>
      </pc:sldChg>
      <pc:sldChg chg="del">
        <pc:chgData name="Kheng Kok MAR (NYP)" userId="62030f1a-a95b-4c33-86e6-478100d64ee1" providerId="ADAL" clId="{58ED7AA8-B633-43EA-B803-6478153F3BD7}" dt="2025-03-21T05:00:06.595" v="137" actId="47"/>
        <pc:sldMkLst>
          <pc:docMk/>
          <pc:sldMk cId="2584676501" sldId="390"/>
        </pc:sldMkLst>
      </pc:sldChg>
      <pc:sldChg chg="del">
        <pc:chgData name="Kheng Kok MAR (NYP)" userId="62030f1a-a95b-4c33-86e6-478100d64ee1" providerId="ADAL" clId="{58ED7AA8-B633-43EA-B803-6478153F3BD7}" dt="2025-03-21T05:00:06.595" v="137" actId="47"/>
        <pc:sldMkLst>
          <pc:docMk/>
          <pc:sldMk cId="4048104730" sldId="391"/>
        </pc:sldMkLst>
      </pc:sldChg>
      <pc:sldChg chg="del">
        <pc:chgData name="Kheng Kok MAR (NYP)" userId="62030f1a-a95b-4c33-86e6-478100d64ee1" providerId="ADAL" clId="{58ED7AA8-B633-43EA-B803-6478153F3BD7}" dt="2025-03-21T05:00:06.595" v="137" actId="47"/>
        <pc:sldMkLst>
          <pc:docMk/>
          <pc:sldMk cId="761234270" sldId="392"/>
        </pc:sldMkLst>
      </pc:sldChg>
      <pc:sldChg chg="del">
        <pc:chgData name="Kheng Kok MAR (NYP)" userId="62030f1a-a95b-4c33-86e6-478100d64ee1" providerId="ADAL" clId="{58ED7AA8-B633-43EA-B803-6478153F3BD7}" dt="2025-03-21T05:00:06.595" v="137" actId="47"/>
        <pc:sldMkLst>
          <pc:docMk/>
          <pc:sldMk cId="3140442699" sldId="393"/>
        </pc:sldMkLst>
      </pc:sldChg>
      <pc:sldChg chg="del">
        <pc:chgData name="Kheng Kok MAR (NYP)" userId="62030f1a-a95b-4c33-86e6-478100d64ee1" providerId="ADAL" clId="{58ED7AA8-B633-43EA-B803-6478153F3BD7}" dt="2025-03-21T05:00:06.595" v="137" actId="47"/>
        <pc:sldMkLst>
          <pc:docMk/>
          <pc:sldMk cId="2799622941" sldId="394"/>
        </pc:sldMkLst>
      </pc:sldChg>
      <pc:sldChg chg="del">
        <pc:chgData name="Kheng Kok MAR (NYP)" userId="62030f1a-a95b-4c33-86e6-478100d64ee1" providerId="ADAL" clId="{58ED7AA8-B633-43EA-B803-6478153F3BD7}" dt="2025-03-21T05:00:06.595" v="137" actId="47"/>
        <pc:sldMkLst>
          <pc:docMk/>
          <pc:sldMk cId="2213993344" sldId="395"/>
        </pc:sldMkLst>
      </pc:sldChg>
      <pc:sldChg chg="del">
        <pc:chgData name="Kheng Kok MAR (NYP)" userId="62030f1a-a95b-4c33-86e6-478100d64ee1" providerId="ADAL" clId="{58ED7AA8-B633-43EA-B803-6478153F3BD7}" dt="2025-03-21T05:00:06.595" v="137" actId="47"/>
        <pc:sldMkLst>
          <pc:docMk/>
          <pc:sldMk cId="1879657340" sldId="396"/>
        </pc:sldMkLst>
      </pc:sldChg>
      <pc:sldChg chg="del">
        <pc:chgData name="Kheng Kok MAR (NYP)" userId="62030f1a-a95b-4c33-86e6-478100d64ee1" providerId="ADAL" clId="{58ED7AA8-B633-43EA-B803-6478153F3BD7}" dt="2025-03-21T05:00:06.595" v="137" actId="47"/>
        <pc:sldMkLst>
          <pc:docMk/>
          <pc:sldMk cId="227410163" sldId="397"/>
        </pc:sldMkLst>
      </pc:sldChg>
      <pc:sldChg chg="del">
        <pc:chgData name="Kheng Kok MAR (NYP)" userId="62030f1a-a95b-4c33-86e6-478100d64ee1" providerId="ADAL" clId="{58ED7AA8-B633-43EA-B803-6478153F3BD7}" dt="2025-03-21T05:00:06.595" v="137" actId="47"/>
        <pc:sldMkLst>
          <pc:docMk/>
          <pc:sldMk cId="353696741" sldId="398"/>
        </pc:sldMkLst>
      </pc:sldChg>
      <pc:sldChg chg="del">
        <pc:chgData name="Kheng Kok MAR (NYP)" userId="62030f1a-a95b-4c33-86e6-478100d64ee1" providerId="ADAL" clId="{58ED7AA8-B633-43EA-B803-6478153F3BD7}" dt="2025-03-21T05:00:06.595" v="137" actId="47"/>
        <pc:sldMkLst>
          <pc:docMk/>
          <pc:sldMk cId="3929622885" sldId="399"/>
        </pc:sldMkLst>
      </pc:sldChg>
      <pc:sldChg chg="del">
        <pc:chgData name="Kheng Kok MAR (NYP)" userId="62030f1a-a95b-4c33-86e6-478100d64ee1" providerId="ADAL" clId="{58ED7AA8-B633-43EA-B803-6478153F3BD7}" dt="2025-03-21T05:00:06.595" v="137" actId="47"/>
        <pc:sldMkLst>
          <pc:docMk/>
          <pc:sldMk cId="3406082339" sldId="400"/>
        </pc:sldMkLst>
      </pc:sldChg>
      <pc:sldChg chg="del">
        <pc:chgData name="Kheng Kok MAR (NYP)" userId="62030f1a-a95b-4c33-86e6-478100d64ee1" providerId="ADAL" clId="{58ED7AA8-B633-43EA-B803-6478153F3BD7}" dt="2025-03-21T05:00:06.595" v="137" actId="47"/>
        <pc:sldMkLst>
          <pc:docMk/>
          <pc:sldMk cId="1068316888" sldId="401"/>
        </pc:sldMkLst>
      </pc:sldChg>
      <pc:sldChg chg="modSp add mod">
        <pc:chgData name="Kheng Kok MAR (NYP)" userId="62030f1a-a95b-4c33-86e6-478100d64ee1" providerId="ADAL" clId="{58ED7AA8-B633-43EA-B803-6478153F3BD7}" dt="2025-03-21T04:59:24.160" v="134" actId="20577"/>
        <pc:sldMkLst>
          <pc:docMk/>
          <pc:sldMk cId="3155291161" sldId="402"/>
        </pc:sldMkLst>
        <pc:spChg chg="mod">
          <ac:chgData name="Kheng Kok MAR (NYP)" userId="62030f1a-a95b-4c33-86e6-478100d64ee1" providerId="ADAL" clId="{58ED7AA8-B633-43EA-B803-6478153F3BD7}" dt="2025-03-21T02:00:47.977" v="73" actId="20577"/>
          <ac:spMkLst>
            <pc:docMk/>
            <pc:sldMk cId="3155291161" sldId="402"/>
            <ac:spMk id="2" creationId="{A1D871B1-6C5D-3259-B42A-793ADF2CE90C}"/>
          </ac:spMkLst>
        </pc:spChg>
        <pc:spChg chg="mod">
          <ac:chgData name="Kheng Kok MAR (NYP)" userId="62030f1a-a95b-4c33-86e6-478100d64ee1" providerId="ADAL" clId="{58ED7AA8-B633-43EA-B803-6478153F3BD7}" dt="2025-03-21T04:59:24.160" v="134" actId="20577"/>
          <ac:spMkLst>
            <pc:docMk/>
            <pc:sldMk cId="3155291161" sldId="402"/>
            <ac:spMk id="3" creationId="{DD3B9174-B1BD-7F76-160C-AB73246A18B4}"/>
          </ac:spMkLst>
        </pc:spChg>
      </pc:sldChg>
      <pc:sldChg chg="modSp add del mod">
        <pc:chgData name="Kheng Kok MAR (NYP)" userId="62030f1a-a95b-4c33-86e6-478100d64ee1" providerId="ADAL" clId="{58ED7AA8-B633-43EA-B803-6478153F3BD7}" dt="2025-03-21T02:00:27.386" v="55"/>
        <pc:sldMkLst>
          <pc:docMk/>
          <pc:sldMk cId="3498333577" sldId="402"/>
        </pc:sldMkLst>
        <pc:spChg chg="mod">
          <ac:chgData name="Kheng Kok MAR (NYP)" userId="62030f1a-a95b-4c33-86e6-478100d64ee1" providerId="ADAL" clId="{58ED7AA8-B633-43EA-B803-6478153F3BD7}" dt="2025-03-21T02:00:26.988" v="54" actId="20577"/>
          <ac:spMkLst>
            <pc:docMk/>
            <pc:sldMk cId="3498333577" sldId="402"/>
            <ac:spMk id="2" creationId="{7E5DD8B0-3B00-B572-9211-A9127DBB9BE1}"/>
          </ac:spMkLst>
        </pc:spChg>
      </pc:sldChg>
      <pc:sldChg chg="modSp new mod">
        <pc:chgData name="Kheng Kok MAR (NYP)" userId="62030f1a-a95b-4c33-86e6-478100d64ee1" providerId="ADAL" clId="{58ED7AA8-B633-43EA-B803-6478153F3BD7}" dt="2025-03-21T05:00:48.584" v="153" actId="5793"/>
        <pc:sldMkLst>
          <pc:docMk/>
          <pc:sldMk cId="2767485149" sldId="403"/>
        </pc:sldMkLst>
        <pc:spChg chg="mod">
          <ac:chgData name="Kheng Kok MAR (NYP)" userId="62030f1a-a95b-4c33-86e6-478100d64ee1" providerId="ADAL" clId="{58ED7AA8-B633-43EA-B803-6478153F3BD7}" dt="2025-03-21T05:00:24.783" v="150" actId="20577"/>
          <ac:spMkLst>
            <pc:docMk/>
            <pc:sldMk cId="2767485149" sldId="403"/>
            <ac:spMk id="2" creationId="{B6D222A1-CAB4-531E-D2EE-955F64A570CC}"/>
          </ac:spMkLst>
        </pc:spChg>
        <pc:spChg chg="mod">
          <ac:chgData name="Kheng Kok MAR (NYP)" userId="62030f1a-a95b-4c33-86e6-478100d64ee1" providerId="ADAL" clId="{58ED7AA8-B633-43EA-B803-6478153F3BD7}" dt="2025-03-21T05:00:48.584" v="153" actId="5793"/>
          <ac:spMkLst>
            <pc:docMk/>
            <pc:sldMk cId="2767485149" sldId="403"/>
            <ac:spMk id="3" creationId="{C3D150AC-8FBE-FE32-73FC-FBBA80B56B9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4A07A7-A8F7-B72E-4B74-261D7D3F95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57972104-C5D7-9142-35F7-AC28827A37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D3F652-CB33-4F60-88E9-6D8C7BBE5615}" type="datetimeFigureOut">
              <a:rPr lang="en-SG" smtClean="0"/>
              <a:t>29/7/2025</a:t>
            </a:fld>
            <a:endParaRPr lang="en-SG"/>
          </a:p>
        </p:txBody>
      </p:sp>
      <p:sp>
        <p:nvSpPr>
          <p:cNvPr id="4" name="Footer Placeholder 3">
            <a:extLst>
              <a:ext uri="{FF2B5EF4-FFF2-40B4-BE49-F238E27FC236}">
                <a16:creationId xmlns:a16="http://schemas.microsoft.com/office/drawing/2014/main" id="{82843AF6-21A3-F929-ED7C-7B438738C7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E12D10-68BD-CCCD-9552-0B6E039E3D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B006ED-B046-4917-A165-CAAD7C0FC909}" type="slidenum">
              <a:rPr lang="en-SG" smtClean="0"/>
              <a:t>‹#›</a:t>
            </a:fld>
            <a:endParaRPr lang="en-SG"/>
          </a:p>
        </p:txBody>
      </p:sp>
    </p:spTree>
    <p:extLst>
      <p:ext uri="{BB962C8B-B14F-4D97-AF65-F5344CB8AC3E}">
        <p14:creationId xmlns:p14="http://schemas.microsoft.com/office/powerpoint/2010/main" val="416877492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29/7/2025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the first lesson of Data Acquisition and Policy Learning. Over the next fourteen weeks we are going to teach a real robot arm, the SO-101, to do a useful task: pick up a cube and put it in a bin. We will do it three different ways, and by the end you will understand when each way makes sense.</a:t>
            </a:r>
          </a:p>
          <a:p/>
          <a:p>
            <a:r>
              <a:t>Today is a lecture. We will not touch code yet. The goal is to give you the vocabulary and the big picture, so that when you sit in front of Isaac Sim and the real arm next week, everything you see has a name and a place.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wheel is the map for the whole course, and you will see it at the start of every lecture. Every physical AI project goes round this cycle: we build or use a simulation, we collect data, we train a policy, we evaluate it, we deploy it on the real robot, and then we improve it and go round again.</a:t>
            </a:r>
          </a:p>
          <a:p/>
          <a:p>
            <a:r>
              <a:t>On the right are our seven blocks. Notice that we do not cover each stage once and move on. We walk the whole cycle once for reinforcement learning, once for imitation learning, and once for vision-language-action models. Each time round, you reuse what you built the last time. Today we are in Block A, the foundations.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explain anything, I want to hear what you think. Open the poll and type what you think is hard about getting a robot to do something useful. There are no wrong answers. The words at the bottom are only prompts.</a:t>
            </a:r>
          </a:p>
          <a:p/>
          <a:p>
            <a:r>
              <a:t>Instructor: keep these answers. In Lesson 13 we will come back to them, and by then the class should be able to explain most of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things you should be able to do by the end of today. Keep them in mind, because the exit ticket at the end checks exactly these four. The last one is the most important: if you can say where each method gets its data, you have the key that unlocks the rest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We start with the question of what changes when AI leaves the screen and has to act in the physical world.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the kind of AI you already know well. An image classifier sees one picture and gives one answer. Whatever it says, the next picture is not affected. If it is wrong, you just get a wrong label.</a:t>
            </a:r>
          </a:p>
          <a:p/>
          <a:p>
            <a:r>
              <a:t>On the right is a robot. The policy looks at the camera and the joint readings, decides an action, the arm moves, and the world changes. Then the camera sees the changed world and the policy decides again, about thirty times every second. This loop is the single most important idea today. Everything that makes robotics hard comes from the fact that the robot's own actions decide what it sees next.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zoom into that loop. Perceive: the robot reads where its joints are and grabs camera images. Decide: the policy, which is a neural network, turns that into an action. Act: the action is sent to the motors as six target positions. Then it starts again.</a:t>
            </a:r>
          </a:p>
          <a:p/>
          <a:p>
            <a:r>
              <a:t>On our arm this happens about thirty times a second, so the policy has roughly thirty-three milliseconds to think each time. Remember that the policy is the only part we ever train. Reinforcement learning, imitation learning and VLA models are three different ways of producing that one box in the middle.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of the loop, physical AI has four problems that ordinary machine learning mostly does not.</a:t>
            </a:r>
          </a:p>
          <a:p/>
          <a:p>
            <a:r>
              <a:t>First, errors compound. A tiny error early on puts the arm somewhere slightly unusual, the next decision is a bit worse, and by the end of the grasp you have missed. Second, the data is not independent. In image classification we shuffle pictures freely; here every frame depends on the previous one. Third, mistakes cost money and time, because the robot is real. And fourth, data is slow: every demonstration has to be physically performed by someone. Keep these four in mind. Almost every technique in this course exists to deal with one of them.</a:t>
            </a:r>
          </a:p>
          <a:p/>
          <a:p>
            <a:r>
              <a:t>Instructor: if you have a short clip of a real policy failing, play it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simulation matters so much in robotics. In a simulator we can run thousands of copies of the robot at the same time on one graphics card. We get perfect information for free, nothing breaks, and it runs faster than real time.</a:t>
            </a:r>
          </a:p>
          <a:p/>
          <a:p>
            <a:r>
              <a:t>But there is a price, called the reality gap. The simulator is a model of the world, not the world. It gets masses, friction and motor behaviour slightly wrong; it renders colours and lighting differently from our lab; and its sensors are cleaner than real ones. A policy trained only in simulation can fail on the real arm because of these differences. We will come back to these three gaps in Lesson 3 and Lesson 7.</a:t>
            </a:r>
          </a:p>
          <a:p/>
          <a:p>
            <a:r>
              <a:t>Instructor: the parallel-training video on the legged_gym project page works well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break we meet the robot we will use all semester.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SO-101, a low-cost, open-source robot arm designed by TheRobotStudio together with Hugging Face. It has six motors. Five of them move the arm: the shoulder pan turns the whole arm, shoulder lift raises it, elbow flex bends the elbow, wrist flex tilts the wrist, and wrist roll turns it. The sixth motor opens and closes the gripper.</a:t>
            </a:r>
          </a:p>
          <a:p/>
          <a:p>
            <a:r>
              <a:t>These six names will appear in every dataset and every config file you open, so it is worth learning them now. Instructor: replace the photo frame with a labelled photo of the arm in your lab, and pass a powered-off arm around if you can.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words. A joint is where two parts of the arm connect and can move relative to each other. A degree of freedom is one independent way the robot can move, and our arm has five for the arm plus the gripper. The workspace is every position the gripper can actually reach.</a:t>
            </a:r>
          </a:p>
          <a:p/>
          <a:p>
            <a:r>
              <a:t>Five degrees of freedom is enough for picking and placing, but it is not enough to reach every point at every angle. A human arm has seven. So sometimes the arm simply cannot hold the gripper the way you want, and that is a hardware limit, not a learning failure.</a:t>
            </a:r>
          </a:p>
          <a:p/>
          <a:p>
            <a:r>
              <a:t>Instructor: a short clip moving one joint at a time is very effective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ways to describe what the arm is doing. In joint space, we list the six joint angles. In Cartesian space, we say where the gripper is: its x, y and z position and which way it is pointing.</a:t>
            </a:r>
          </a:p>
          <a:p/>
          <a:p>
            <a:r>
              <a:t>Going from joint angles to gripper position is called forward kinematics, and it always has exactly one answer. Going the other way, from a desired gripper position to joint angles, is inverse kinematics, and it is harder: there may be several ways to bend the arm, or none at all if the point is out of reach. Think of your own arm: knowing how your elbow and shoulder are bent tells you exactly where your hand is, but reaching for a cup can be done in more than one way. We only need the intuition here, no matrices. Our policies will mostly output joint positions directly.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hardware fact that matters a lot later. Each joint is driven by a Feetech STS3215 servo. You send it a target position and its own small controller drives towards that position. You cannot send it a force or a torque.</a:t>
            </a:r>
          </a:p>
          <a:p/>
          <a:p>
            <a:r>
              <a:t>So if you want the gripper to hold something firmly, the only way is to command it to close further than the object allows, and let it squeeze. Expensive research arms can control force directly; ours cannot. This is one reason some published methods do not work as-is on this arm, and it is one reason imitation learning works so well here. We will come back to this in Lessons 7 and 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robot comes as a pair. The leader arm has the same shape as the follower but lighter gearing, so you can move it easily by hand. As you move it, its joint readings are sent to the follower about thirty times a second, and the follower copies the movement. This is called teleoperation, and next week you will try it yourselves.</a:t>
            </a:r>
          </a:p>
          <a:p/>
          <a:p>
            <a:r>
              <a:t>We also mount two cameras: one in front that sees the whole scene, and one on the wrist that sees the grasp up close. When we record, every frame stores the leader's position, which is the command or action, the follower's position, which is the state, and both camera images. That recording is the raw material for imitation learning.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make this concrete with one control step. The policy receives six joint positions plus two camera images. It outputs six numbers: the target position for each joint. Notice the outputs are very close to the inputs. Each step only nudges the arm a little, which is why it has to happen thirty times a second.</a:t>
            </a:r>
          </a:p>
          <a:p/>
          <a:p>
            <a:r>
              <a:t>Now the arithmetic. Six joint values thirty times a second is one hundred and eighty numbers per second, plus sixty images. A twenty-second demonstration is six hundred frames and twelve hundred images. In Lesson 3 we will use exactly this calculation to work out how big our dataset needs to be.</a:t>
            </a:r>
          </a:p>
          <a:p/>
          <a:p>
            <a:r>
              <a:t>Instructor: capture real values from your arm during teleoperation and replace the example numbers.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part: how a robot policy actually gets built, and the three families of methods we will study.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six stages in order. We simulate the robot and its scene. We collect data, either by demonstrating or by letting the robot try. We train the policy. We evaluate it honestly, which means counting successes on the real task, not just looking at a loss curve. We deploy it on the real arm. And we improve it by finding the main failure and fixing it, then going round again.</a:t>
            </a:r>
          </a:p>
          <a:p/>
          <a:p>
            <a:r>
              <a:t>Beginners usually think training is the main event. In practice, most of the time on real projects goes into data, evaluation and improvement. This course is designed to give those stages the time they deserve.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three families of methods, and the one question that separates them: where does the training data come from?</a:t>
            </a:r>
          </a:p>
          <a:p/>
          <a:p>
            <a:r>
              <a:t>In reinforcement learning the robot generates its own data by trying, and you write a reward function that scores each attempt. That happens mostly in simulation, and its typical failure is reward hacking: the robot finds a way to score well that is not what you meant.</a:t>
            </a:r>
          </a:p>
          <a:p/>
          <a:p>
            <a:r>
              <a:t>In imitation learning a person demonstrates the task, and the recorded actions are the correct answers. There is no reward at all; it is supervised learning. It trains on real data, and it fails when the robot drifts into situations the demonstrations never showed.</a:t>
            </a:r>
          </a:p>
          <a:p/>
          <a:p>
            <a:r>
              <a:t>A vision-language-action model is imitation learning on top of a large pretrained model, with a sentence attached to each demonstration, so one model can do several tasks. Its typical failure is doing the wrong task confidently. If you remember only one slide from today, make it this 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fourteen weeks fit together. Odd weeks are lectures like today; even weeks are three-hour labs where you use Isaac Sim and the real SO-101 arm. Each lab puts the previous lecture into practice.</a:t>
            </a:r>
          </a:p>
          <a:p/>
          <a:p>
            <a:r>
              <a:t>There are two written tests, one after week eight on foundations, data and reinforcement learning, and one after week fourteen on imitation learning, VLA and evaluation. The assignment is a pod project where you take a pick-and-place task through the whole cycle and demonstrate it live. Every lesson starts with a short check on the previous one, so keep up week by week.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check understanding. In pairs, take the eight scenario cards and label each one with the lifecycle stage it belongs to and the method it belongs to. Four example cards are on the slide.</a:t>
            </a:r>
          </a:p>
          <a:p/>
          <a:p>
            <a:r>
              <a:t>Instructor: hide the answer lines (or print cards without them) before class, and reveal them after the discussion. Listen for pairs who confuse collecting data with training; that is the most common mix-up at this stage.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go, five quick questions. They match the learning outcomes from the start of the lesson. If you are unsure about any of them, that is fine; it tells me what to revisit at the start of next week's lab.</a:t>
            </a:r>
          </a:p>
          <a:p/>
          <a:p>
            <a:r>
              <a:t>Instructor: review the answers before Lesson 2 and use the most-missed question as the lab's entry check.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week is our first lab. You will rotate between two stations. At the sim station you will tour Isaac Sim, load the SO-101 and watch a policy trained with reinforcement learning, which you will train yourselves in Lesson 6. At the arm station you will calibrate the leader and follower and teleoperate them.</a:t>
            </a:r>
          </a:p>
          <a:p/>
          <a:p>
            <a:r>
              <a:t>Safety starts next week. Keep the workspace clear, keep your hands out of the follower's path, and if anything goes wrong, cut the power supply, not just the USB cable. Never leave a powered arm on its own. See you in the lab.</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main sources behind today's lecture. The Robot Learning tutorial from Hugging Face is the best single place to read more; sections one and two cover what we did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30229"/>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
        <p:nvSpPr>
          <p:cNvPr id="6" name="Footer Placeholder 5">
            <a:extLst>
              <a:ext uri="{FF2B5EF4-FFF2-40B4-BE49-F238E27FC236}">
                <a16:creationId xmlns:a16="http://schemas.microsoft.com/office/drawing/2014/main" id="{9BE200EA-5608-25F7-9D16-8618AB8F1329}"/>
              </a:ext>
            </a:extLst>
          </p:cNvPr>
          <p:cNvSpPr>
            <a:spLocks noGrp="1"/>
          </p:cNvSpPr>
          <p:nvPr>
            <p:ph type="ftr" sz="quarter" idx="13"/>
          </p:nvPr>
        </p:nvSpPr>
        <p:spPr>
          <a:xfrm>
            <a:off x="542018" y="6492875"/>
            <a:ext cx="4114800" cy="365125"/>
          </a:xfrm>
        </p:spPr>
        <p:txBody>
          <a:bodyPr/>
          <a:lstStyle/>
          <a:p>
            <a:pPr algn="l"/>
            <a:r>
              <a:rPr lang="it-IT"/>
              <a:t>ITI121 Generative AI - PDC in Generative AI &amp; Deep Learning</a:t>
            </a:r>
            <a:endParaRPr lang="en-SG" dirty="0"/>
          </a:p>
        </p:txBody>
      </p:sp>
      <p:sp>
        <p:nvSpPr>
          <p:cNvPr id="7" name="Slide Number Placeholder 6">
            <a:extLst>
              <a:ext uri="{FF2B5EF4-FFF2-40B4-BE49-F238E27FC236}">
                <a16:creationId xmlns:a16="http://schemas.microsoft.com/office/drawing/2014/main" id="{934C0804-8576-3D7C-894B-CB09C4D33808}"/>
              </a:ext>
            </a:extLst>
          </p:cNvPr>
          <p:cNvSpPr>
            <a:spLocks noGrp="1"/>
          </p:cNvSpPr>
          <p:nvPr>
            <p:ph type="sldNum" sz="quarter" idx="14"/>
          </p:nvPr>
        </p:nvSpPr>
        <p:spPr>
          <a:xfrm>
            <a:off x="8610600" y="6492874"/>
            <a:ext cx="2743200" cy="365125"/>
          </a:xfrm>
        </p:spPr>
        <p:txBody>
          <a:bodyPr/>
          <a:lstStyle/>
          <a:p>
            <a:fld id="{CE19DD2C-80DA-488C-99A4-6C8CE83C9C30}" type="slidenum">
              <a:rPr lang="en-SG" smtClean="0"/>
              <a:t>‹#›</a:t>
            </a:fld>
            <a:endParaRPr lang="en-SG"/>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0C6C-FDE3-C662-2486-197F1D3B3A34}"/>
              </a:ext>
            </a:extLst>
          </p:cNvPr>
          <p:cNvPicPr>
            <a:picLocks noChangeAspect="1"/>
          </p:cNvPicPr>
          <p:nvPr userDrawn="1"/>
        </p:nvPicPr>
        <p:blipFill>
          <a:blip r:embed="rId2"/>
          <a:srcRect/>
          <a:stretch/>
        </p:blipFill>
        <p:spPr>
          <a:xfrm>
            <a:off x="0" y="0"/>
            <a:ext cx="12192000" cy="6858000"/>
          </a:xfrm>
          <a:prstGeom prst="rect">
            <a:avLst/>
          </a:prstGeom>
        </p:spPr>
      </p:pic>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356323" y="1528131"/>
            <a:ext cx="5337923" cy="1866872"/>
          </a:xfrm>
          <a:prstGeom prst="rect">
            <a:avLst/>
          </a:prstGeom>
        </p:spPr>
        <p:txBody>
          <a:bodyPr/>
          <a:lstStyle>
            <a:lvl1pPr>
              <a:lnSpc>
                <a:spcPct val="80000"/>
              </a:lnSpc>
              <a:defRPr sz="6667" b="1">
                <a:solidFill>
                  <a:schemeClr val="tx1"/>
                </a:solidFill>
              </a:defRPr>
            </a:lvl1pPr>
          </a:lstStyle>
          <a:p>
            <a:pPr lvl="0"/>
            <a:endParaRPr lang="en-SG" dirty="0"/>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356323" y="3549449"/>
            <a:ext cx="4813671" cy="999104"/>
          </a:xfrm>
          <a:prstGeom prst="rect">
            <a:avLst/>
          </a:prstGeom>
        </p:spPr>
        <p:txBody>
          <a:bodyPr/>
          <a:lstStyle>
            <a:lvl1pPr>
              <a:defRPr sz="1867" b="0">
                <a:solidFill>
                  <a:schemeClr val="tx1"/>
                </a:solidFill>
              </a:defRPr>
            </a:lvl1pPr>
          </a:lstStyle>
          <a:p>
            <a:pPr lvl="0"/>
            <a:endParaRPr lang="en-SG" dirty="0"/>
          </a:p>
        </p:txBody>
      </p:sp>
      <p:sp>
        <p:nvSpPr>
          <p:cNvPr id="18" name="Rectangle 1">
            <a:extLst>
              <a:ext uri="{FF2B5EF4-FFF2-40B4-BE49-F238E27FC236}">
                <a16:creationId xmlns:a16="http://schemas.microsoft.com/office/drawing/2014/main" id="{B0011CE1-EDBF-46B7-9599-4FD9FCE16C51}"/>
              </a:ext>
            </a:extLst>
          </p:cNvPr>
          <p:cNvSpPr/>
          <p:nvPr userDrawn="1"/>
        </p:nvSpPr>
        <p:spPr>
          <a:xfrm rot="2871830">
            <a:off x="6936865" y="138470"/>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547" y="393707"/>
            <a:ext cx="2822077" cy="584956"/>
          </a:xfrm>
          <a:prstGeom prst="rect">
            <a:avLst/>
          </a:prstGeom>
        </p:spPr>
      </p:pic>
      <p:sp>
        <p:nvSpPr>
          <p:cNvPr id="2" name="Isosceles Triangle 2">
            <a:extLst>
              <a:ext uri="{FF2B5EF4-FFF2-40B4-BE49-F238E27FC236}">
                <a16:creationId xmlns:a16="http://schemas.microsoft.com/office/drawing/2014/main" id="{A15BFF93-6482-1724-38DE-4828529F78E7}"/>
              </a:ext>
            </a:extLst>
          </p:cNvPr>
          <p:cNvSpPr/>
          <p:nvPr userDrawn="1"/>
        </p:nvSpPr>
        <p:spPr>
          <a:xfrm rot="16200000">
            <a:off x="10798933" y="5465604"/>
            <a:ext cx="1375097" cy="141319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 name="connsiteX0" fmla="*/ 0 w 1062123"/>
              <a:gd name="connsiteY0" fmla="*/ 1219442 h 1219442"/>
              <a:gd name="connsiteX1" fmla="*/ 3853 w 1062123"/>
              <a:gd name="connsiteY1" fmla="*/ 0 h 1219442"/>
              <a:gd name="connsiteX2" fmla="*/ 1062123 w 1062123"/>
              <a:gd name="connsiteY2" fmla="*/ 1131336 h 1219442"/>
              <a:gd name="connsiteX3" fmla="*/ 0 w 106212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31902 w 1058464"/>
              <a:gd name="connsiteY0" fmla="*/ 1131335 h 1132395"/>
              <a:gd name="connsiteX1" fmla="*/ 36 w 1058464"/>
              <a:gd name="connsiteY1" fmla="*/ 0 h 1132395"/>
              <a:gd name="connsiteX2" fmla="*/ 1058306 w 1058464"/>
              <a:gd name="connsiteY2" fmla="*/ 1131336 h 1132395"/>
              <a:gd name="connsiteX3" fmla="*/ 31902 w 1058464"/>
              <a:gd name="connsiteY3" fmla="*/ 1131335 h 1132395"/>
              <a:gd name="connsiteX0" fmla="*/ 5810 w 1032372"/>
              <a:gd name="connsiteY0" fmla="*/ 1074182 h 1075242"/>
              <a:gd name="connsiteX1" fmla="*/ 137 w 1032372"/>
              <a:gd name="connsiteY1" fmla="*/ 0 h 1075242"/>
              <a:gd name="connsiteX2" fmla="*/ 1032214 w 1032372"/>
              <a:gd name="connsiteY2" fmla="*/ 1074183 h 1075242"/>
              <a:gd name="connsiteX3" fmla="*/ 5810 w 1032372"/>
              <a:gd name="connsiteY3" fmla="*/ 1074182 h 1075242"/>
              <a:gd name="connsiteX0" fmla="*/ 1200 w 1032523"/>
              <a:gd name="connsiteY0" fmla="*/ 1078945 h 1078945"/>
              <a:gd name="connsiteX1" fmla="*/ 289 w 1032523"/>
              <a:gd name="connsiteY1" fmla="*/ 0 h 1078945"/>
              <a:gd name="connsiteX2" fmla="*/ 1032366 w 1032523"/>
              <a:gd name="connsiteY2" fmla="*/ 1074183 h 1078945"/>
              <a:gd name="connsiteX3" fmla="*/ 1200 w 1032523"/>
              <a:gd name="connsiteY3" fmla="*/ 1078945 h 1078945"/>
              <a:gd name="connsiteX0" fmla="*/ 0 w 1031323"/>
              <a:gd name="connsiteY0" fmla="*/ 1059895 h 1059895"/>
              <a:gd name="connsiteX1" fmla="*/ 1470 w 1031323"/>
              <a:gd name="connsiteY1" fmla="*/ 0 h 1059895"/>
              <a:gd name="connsiteX2" fmla="*/ 1031166 w 1031323"/>
              <a:gd name="connsiteY2" fmla="*/ 1055133 h 1059895"/>
              <a:gd name="connsiteX3" fmla="*/ 0 w 1031323"/>
              <a:gd name="connsiteY3" fmla="*/ 1059895 h 1059895"/>
            </a:gdLst>
            <a:ahLst/>
            <a:cxnLst>
              <a:cxn ang="0">
                <a:pos x="connsiteX0" y="connsiteY0"/>
              </a:cxn>
              <a:cxn ang="0">
                <a:pos x="connsiteX1" y="connsiteY1"/>
              </a:cxn>
              <a:cxn ang="0">
                <a:pos x="connsiteX2" y="connsiteY2"/>
              </a:cxn>
              <a:cxn ang="0">
                <a:pos x="connsiteX3" y="connsiteY3"/>
              </a:cxn>
            </a:cxnLst>
            <a:rect l="l" t="t" r="r" b="b"/>
            <a:pathLst>
              <a:path w="1031323" h="1059895">
                <a:moveTo>
                  <a:pt x="0" y="1059895"/>
                </a:moveTo>
                <a:cubicBezTo>
                  <a:pt x="1284" y="650874"/>
                  <a:pt x="186" y="409021"/>
                  <a:pt x="1470" y="0"/>
                </a:cubicBezTo>
                <a:cubicBezTo>
                  <a:pt x="354227" y="377112"/>
                  <a:pt x="1042740" y="1051880"/>
                  <a:pt x="1031166" y="1055133"/>
                </a:cubicBezTo>
                <a:cubicBezTo>
                  <a:pt x="1043043" y="1057517"/>
                  <a:pt x="381029" y="1059895"/>
                  <a:pt x="0" y="1059895"/>
                </a:cubicBezTo>
                <a:close/>
              </a:path>
            </a:pathLst>
          </a:cu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4" name="Rectangle 11">
            <a:extLst>
              <a:ext uri="{FF2B5EF4-FFF2-40B4-BE49-F238E27FC236}">
                <a16:creationId xmlns:a16="http://schemas.microsoft.com/office/drawing/2014/main" id="{F51460D6-F294-9FEC-8A11-8E4DE73D906F}"/>
              </a:ext>
            </a:extLst>
          </p:cNvPr>
          <p:cNvSpPr/>
          <p:nvPr userDrawn="1"/>
        </p:nvSpPr>
        <p:spPr>
          <a:xfrm rot="13500000">
            <a:off x="11360201" y="5062314"/>
            <a:ext cx="311071" cy="2220841"/>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 name="connsiteX0" fmla="*/ 712 w 205183"/>
              <a:gd name="connsiteY0" fmla="*/ 149617 h 1368402"/>
              <a:gd name="connsiteX1" fmla="*/ 195553 w 205183"/>
              <a:gd name="connsiteY1" fmla="*/ 0 h 1368402"/>
              <a:gd name="connsiteX2" fmla="*/ 204992 w 205183"/>
              <a:gd name="connsiteY2" fmla="*/ 1368402 h 1368402"/>
              <a:gd name="connsiteX3" fmla="*/ 557 w 205183"/>
              <a:gd name="connsiteY3" fmla="*/ 1213519 h 1368402"/>
              <a:gd name="connsiteX4" fmla="*/ 712 w 205183"/>
              <a:gd name="connsiteY4" fmla="*/ 149617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213519 h 1368402"/>
              <a:gd name="connsiteX4" fmla="*/ 0 w 207533"/>
              <a:gd name="connsiteY4" fmla="*/ 174342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175058 h 1368402"/>
              <a:gd name="connsiteX4" fmla="*/ 0 w 207533"/>
              <a:gd name="connsiteY4" fmla="*/ 174342 h 1368402"/>
              <a:gd name="connsiteX0" fmla="*/ 0 w 209045"/>
              <a:gd name="connsiteY0" fmla="*/ 174342 h 1358786"/>
              <a:gd name="connsiteX1" fmla="*/ 197903 w 209045"/>
              <a:gd name="connsiteY1" fmla="*/ 0 h 1358786"/>
              <a:gd name="connsiteX2" fmla="*/ 208872 w 209045"/>
              <a:gd name="connsiteY2" fmla="*/ 1358786 h 1358786"/>
              <a:gd name="connsiteX3" fmla="*/ 2907 w 209045"/>
              <a:gd name="connsiteY3" fmla="*/ 1175058 h 1358786"/>
              <a:gd name="connsiteX4" fmla="*/ 0 w 209045"/>
              <a:gd name="connsiteY4" fmla="*/ 174342 h 1358786"/>
              <a:gd name="connsiteX0" fmla="*/ 0 w 212106"/>
              <a:gd name="connsiteY0" fmla="*/ 185331 h 1358786"/>
              <a:gd name="connsiteX1" fmla="*/ 200964 w 212106"/>
              <a:gd name="connsiteY1" fmla="*/ 0 h 1358786"/>
              <a:gd name="connsiteX2" fmla="*/ 211933 w 212106"/>
              <a:gd name="connsiteY2" fmla="*/ 1358786 h 1358786"/>
              <a:gd name="connsiteX3" fmla="*/ 5968 w 212106"/>
              <a:gd name="connsiteY3" fmla="*/ 1175058 h 1358786"/>
              <a:gd name="connsiteX4" fmla="*/ 0 w 212106"/>
              <a:gd name="connsiteY4" fmla="*/ 185331 h 135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06" h="1358786">
                <a:moveTo>
                  <a:pt x="0" y="185331"/>
                </a:moveTo>
                <a:cubicBezTo>
                  <a:pt x="63586" y="119586"/>
                  <a:pt x="137378" y="65745"/>
                  <a:pt x="200964" y="0"/>
                </a:cubicBezTo>
                <a:cubicBezTo>
                  <a:pt x="199037" y="439312"/>
                  <a:pt x="213860" y="919474"/>
                  <a:pt x="211933" y="1358786"/>
                </a:cubicBezTo>
                <a:lnTo>
                  <a:pt x="5968" y="1175058"/>
                </a:lnTo>
                <a:cubicBezTo>
                  <a:pt x="3976" y="818471"/>
                  <a:pt x="1992" y="541918"/>
                  <a:pt x="0" y="185331"/>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5" name="Freeform: Shape 4">
            <a:extLst>
              <a:ext uri="{FF2B5EF4-FFF2-40B4-BE49-F238E27FC236}">
                <a16:creationId xmlns:a16="http://schemas.microsoft.com/office/drawing/2014/main" id="{D00AA2F6-9E32-1951-916C-8943096E1C7C}"/>
              </a:ext>
            </a:extLst>
          </p:cNvPr>
          <p:cNvSpPr/>
          <p:nvPr userDrawn="1"/>
        </p:nvSpPr>
        <p:spPr>
          <a:xfrm>
            <a:off x="1058466" y="3902882"/>
            <a:ext cx="5774133" cy="2955801"/>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 name="connsiteX0" fmla="*/ 0 w 5165070"/>
              <a:gd name="connsiteY0" fmla="*/ 2254611 h 2255788"/>
              <a:gd name="connsiteX1" fmla="*/ 2953502 w 5165070"/>
              <a:gd name="connsiteY1" fmla="*/ 0 h 2255788"/>
              <a:gd name="connsiteX2" fmla="*/ 5165070 w 5165070"/>
              <a:gd name="connsiteY2" fmla="*/ 2255788 h 2255788"/>
              <a:gd name="connsiteX3" fmla="*/ 0 w 5165070"/>
              <a:gd name="connsiteY3" fmla="*/ 2254611 h 2255788"/>
              <a:gd name="connsiteX0" fmla="*/ 0 w 5138640"/>
              <a:gd name="connsiteY0" fmla="*/ 2241741 h 2255788"/>
              <a:gd name="connsiteX1" fmla="*/ 2927072 w 5138640"/>
              <a:gd name="connsiteY1" fmla="*/ 0 h 2255788"/>
              <a:gd name="connsiteX2" fmla="*/ 5138640 w 5138640"/>
              <a:gd name="connsiteY2" fmla="*/ 2255788 h 2255788"/>
              <a:gd name="connsiteX3" fmla="*/ 0 w 5138640"/>
              <a:gd name="connsiteY3" fmla="*/ 2241741 h 2255788"/>
              <a:gd name="connsiteX0" fmla="*/ 0 w 5149967"/>
              <a:gd name="connsiteY0" fmla="*/ 2251394 h 2255788"/>
              <a:gd name="connsiteX1" fmla="*/ 2938399 w 5149967"/>
              <a:gd name="connsiteY1" fmla="*/ 0 h 2255788"/>
              <a:gd name="connsiteX2" fmla="*/ 5149967 w 5149967"/>
              <a:gd name="connsiteY2" fmla="*/ 2255788 h 2255788"/>
              <a:gd name="connsiteX3" fmla="*/ 0 w 5149967"/>
              <a:gd name="connsiteY3" fmla="*/ 2251394 h 2255788"/>
              <a:gd name="connsiteX0" fmla="*/ 0 w 5161294"/>
              <a:gd name="connsiteY0" fmla="*/ 2251394 h 2255788"/>
              <a:gd name="connsiteX1" fmla="*/ 2949726 w 5161294"/>
              <a:gd name="connsiteY1" fmla="*/ 0 h 2255788"/>
              <a:gd name="connsiteX2" fmla="*/ 5161294 w 5161294"/>
              <a:gd name="connsiteY2" fmla="*/ 2255788 h 2255788"/>
              <a:gd name="connsiteX3" fmla="*/ 0 w 5161294"/>
              <a:gd name="connsiteY3" fmla="*/ 2251394 h 2255788"/>
              <a:gd name="connsiteX0" fmla="*/ 0 w 5161294"/>
              <a:gd name="connsiteY0" fmla="*/ 2246568 h 2250962"/>
              <a:gd name="connsiteX1" fmla="*/ 2955391 w 5161294"/>
              <a:gd name="connsiteY1" fmla="*/ 0 h 2250962"/>
              <a:gd name="connsiteX2" fmla="*/ 5161294 w 5161294"/>
              <a:gd name="connsiteY2" fmla="*/ 2250962 h 2250962"/>
              <a:gd name="connsiteX3" fmla="*/ 0 w 5161294"/>
              <a:gd name="connsiteY3" fmla="*/ 2246568 h 2250962"/>
              <a:gd name="connsiteX0" fmla="*/ 0 w 5149967"/>
              <a:gd name="connsiteY0" fmla="*/ 2246568 h 2246568"/>
              <a:gd name="connsiteX1" fmla="*/ 2955391 w 5149967"/>
              <a:gd name="connsiteY1" fmla="*/ 0 h 2246568"/>
              <a:gd name="connsiteX2" fmla="*/ 5149967 w 5149967"/>
              <a:gd name="connsiteY2" fmla="*/ 2243722 h 2246568"/>
              <a:gd name="connsiteX3" fmla="*/ 0 w 5149967"/>
              <a:gd name="connsiteY3" fmla="*/ 2246568 h 2246568"/>
            </a:gdLst>
            <a:ahLst/>
            <a:cxnLst>
              <a:cxn ang="0">
                <a:pos x="connsiteX0" y="connsiteY0"/>
              </a:cxn>
              <a:cxn ang="0">
                <a:pos x="connsiteX1" y="connsiteY1"/>
              </a:cxn>
              <a:cxn ang="0">
                <a:pos x="connsiteX2" y="connsiteY2"/>
              </a:cxn>
              <a:cxn ang="0">
                <a:pos x="connsiteX3" y="connsiteY3"/>
              </a:cxn>
            </a:cxnLst>
            <a:rect l="l" t="t" r="r" b="b"/>
            <a:pathLst>
              <a:path w="5149967" h="2246568">
                <a:moveTo>
                  <a:pt x="0" y="2246568"/>
                </a:moveTo>
                <a:lnTo>
                  <a:pt x="2955391" y="0"/>
                </a:lnTo>
                <a:lnTo>
                  <a:pt x="5149967" y="2243722"/>
                </a:lnTo>
                <a:lnTo>
                  <a:pt x="0" y="2246568"/>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ID" sz="1400" b="1" dirty="0"/>
              <a:t> </a:t>
            </a:r>
          </a:p>
        </p:txBody>
      </p:sp>
    </p:spTree>
    <p:extLst>
      <p:ext uri="{BB962C8B-B14F-4D97-AF65-F5344CB8AC3E}">
        <p14:creationId xmlns:p14="http://schemas.microsoft.com/office/powerpoint/2010/main" val="15511982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5" r:id="rId15"/>
    <p:sldLayoutId id="2147483696" r:id="rId16"/>
    <p:sldLayoutId id="2147483697" r:id="rId17"/>
    <p:sldLayoutId id="2147483698" r:id="rId18"/>
    <p:sldLayoutId id="2147483699" r:id="rId19"/>
    <p:sldLayoutId id="2147483700" r:id="rId20"/>
    <p:sldLayoutId id="2147483701"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85A33-1C05-0A99-DEA3-DBBDF06F2471}"/>
              </a:ext>
            </a:extLst>
          </p:cNvPr>
          <p:cNvSpPr>
            <a:spLocks noGrp="1"/>
          </p:cNvSpPr>
          <p:nvPr>
            <p:ph type="body" sz="quarter" idx="12"/>
          </p:nvPr>
        </p:nvSpPr>
        <p:spPr>
          <a:xfrm>
            <a:off x="757451" y="1963253"/>
            <a:ext cx="6198982" cy="1613597"/>
          </a:xfrm>
        </p:spPr>
        <p:txBody>
          <a:bodyPr>
            <a:normAutofit/>
          </a:bodyPr>
          <a:lstStyle/>
          <a:p>
            <a:pPr marL="0" indent="0">
              <a:lnSpc>
                <a:spcPct val="110000"/>
              </a:lnSpc>
              <a:spcAft>
                <a:spcPts val="600"/>
              </a:spcAft>
              <a:buNone/>
            </a:pPr>
            <a:r>
              <a:rPr lang="en-SG" sz="4800" dirty="0"/>
              <a:t>Physical AI: How a Robot Learns</a:t>
            </a:r>
          </a:p>
          <a:p>
            <a:pPr marL="0" indent="0">
              <a:buNone/>
            </a:pPr>
            <a:r>
              <a:rPr sz="1600" b="0">
                <a:solidFill>
                  <a:srgbClr val="5B6275"/>
                </a:solidFill>
              </a:rPr>
              <a:t>Data Acquisition &amp; Policy Learning · Lesson 1 (Lecture)</a:t>
            </a:r>
          </a:p>
        </p:txBody>
      </p:sp>
    </p:spTree>
    <p:extLst>
      <p:ext uri="{BB962C8B-B14F-4D97-AF65-F5344CB8AC3E}">
        <p14:creationId xmlns:p14="http://schemas.microsoft.com/office/powerpoint/2010/main" val="3496168159"/>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course map: one cycle, walked three times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2834639" y="1801368"/>
            <a:ext cx="1463040" cy="603504"/>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Simulate</a:t>
            </a:r>
          </a:p>
        </p:txBody>
      </p:sp>
      <p:sp>
        <p:nvSpPr>
          <p:cNvPr id="8" name="Rounded Rectangle 7"/>
          <p:cNvSpPr/>
          <p:nvPr/>
        </p:nvSpPr>
        <p:spPr>
          <a:xfrm>
            <a:off x="4299643" y="264718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Collect data</a:t>
            </a:r>
          </a:p>
        </p:txBody>
      </p:sp>
      <p:sp>
        <p:nvSpPr>
          <p:cNvPr id="9" name="Rounded Rectangle 8"/>
          <p:cNvSpPr/>
          <p:nvPr/>
        </p:nvSpPr>
        <p:spPr>
          <a:xfrm>
            <a:off x="4299643" y="433882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Train</a:t>
            </a:r>
          </a:p>
        </p:txBody>
      </p:sp>
      <p:sp>
        <p:nvSpPr>
          <p:cNvPr id="10" name="Rounded Rectangle 9"/>
          <p:cNvSpPr/>
          <p:nvPr/>
        </p:nvSpPr>
        <p:spPr>
          <a:xfrm>
            <a:off x="2834639" y="518464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Evaluate</a:t>
            </a:r>
          </a:p>
        </p:txBody>
      </p:sp>
      <p:sp>
        <p:nvSpPr>
          <p:cNvPr id="11" name="Rounded Rectangle 10"/>
          <p:cNvSpPr/>
          <p:nvPr/>
        </p:nvSpPr>
        <p:spPr>
          <a:xfrm>
            <a:off x="1369636" y="433882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Deploy</a:t>
            </a:r>
          </a:p>
        </p:txBody>
      </p:sp>
      <p:sp>
        <p:nvSpPr>
          <p:cNvPr id="12" name="Rounded Rectangle 11"/>
          <p:cNvSpPr/>
          <p:nvPr/>
        </p:nvSpPr>
        <p:spPr>
          <a:xfrm>
            <a:off x="1369636" y="264718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Improve</a:t>
            </a:r>
          </a:p>
        </p:txBody>
      </p:sp>
      <p:cxnSp>
        <p:nvCxnSpPr>
          <p:cNvPr id="13" name="Connector 12"/>
          <p:cNvCxnSpPr/>
          <p:nvPr/>
        </p:nvCxnSpPr>
        <p:spPr>
          <a:xfrm>
            <a:off x="4031793" y="2371953"/>
            <a:ext cx="533736" cy="308153"/>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31163" y="3486607"/>
            <a:ext cx="0" cy="616305"/>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4031793" y="4909413"/>
            <a:ext cx="533736" cy="308153"/>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566790" y="4909413"/>
            <a:ext cx="533736" cy="308153"/>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101156" y="3486607"/>
            <a:ext cx="0" cy="616305"/>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566790" y="2371953"/>
            <a:ext cx="533736" cy="308153"/>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560320" y="3474720"/>
            <a:ext cx="201168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Physical AI</a:t>
            </a:r>
          </a:p>
          <a:p>
            <a:pPr algn="ctr"/>
            <a:r>
              <a:rPr sz="1400" b="0" i="0">
                <a:solidFill>
                  <a:srgbClr val="5B6275"/>
                </a:solidFill>
              </a:rPr>
              <a:t>lifecycle</a:t>
            </a:r>
          </a:p>
        </p:txBody>
      </p:sp>
      <p:sp>
        <p:nvSpPr>
          <p:cNvPr id="20" name="Rounded Rectangle 19"/>
          <p:cNvSpPr/>
          <p:nvPr/>
        </p:nvSpPr>
        <p:spPr>
          <a:xfrm>
            <a:off x="6675120" y="1508760"/>
            <a:ext cx="502920" cy="475488"/>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A</a:t>
            </a:r>
          </a:p>
        </p:txBody>
      </p:sp>
      <p:sp>
        <p:nvSpPr>
          <p:cNvPr id="21" name="Rectangle 20"/>
          <p:cNvSpPr/>
          <p:nvPr/>
        </p:nvSpPr>
        <p:spPr>
          <a:xfrm>
            <a:off x="7269480" y="1490472"/>
            <a:ext cx="32918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Foundations</a:t>
            </a:r>
            <a:r>
              <a:rPr sz="1300" b="0" i="0">
                <a:solidFill>
                  <a:srgbClr val="5B6275"/>
                </a:solidFill>
              </a:rPr>
              <a:t>   L1–L2</a:t>
            </a:r>
          </a:p>
        </p:txBody>
      </p:sp>
      <p:sp>
        <p:nvSpPr>
          <p:cNvPr id="22" name="Rounded Rectangle 21"/>
          <p:cNvSpPr/>
          <p:nvPr/>
        </p:nvSpPr>
        <p:spPr>
          <a:xfrm>
            <a:off x="6675120" y="2130552"/>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B</a:t>
            </a:r>
          </a:p>
        </p:txBody>
      </p:sp>
      <p:sp>
        <p:nvSpPr>
          <p:cNvPr id="23" name="Rectangle 22"/>
          <p:cNvSpPr/>
          <p:nvPr/>
        </p:nvSpPr>
        <p:spPr>
          <a:xfrm>
            <a:off x="7269480" y="2112264"/>
            <a:ext cx="32918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Collecting robot data</a:t>
            </a:r>
            <a:r>
              <a:rPr sz="1300" b="0" i="0">
                <a:solidFill>
                  <a:srgbClr val="5B6275"/>
                </a:solidFill>
              </a:rPr>
              <a:t>   L3–L4</a:t>
            </a:r>
          </a:p>
        </p:txBody>
      </p:sp>
      <p:sp>
        <p:nvSpPr>
          <p:cNvPr id="24" name="Rounded Rectangle 23"/>
          <p:cNvSpPr/>
          <p:nvPr/>
        </p:nvSpPr>
        <p:spPr>
          <a:xfrm>
            <a:off x="6675120" y="2752344"/>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C</a:t>
            </a:r>
          </a:p>
        </p:txBody>
      </p:sp>
      <p:sp>
        <p:nvSpPr>
          <p:cNvPr id="25" name="Rectangle 24"/>
          <p:cNvSpPr/>
          <p:nvPr/>
        </p:nvSpPr>
        <p:spPr>
          <a:xfrm>
            <a:off x="7269480" y="2734056"/>
            <a:ext cx="32918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RL in simulation</a:t>
            </a:r>
            <a:r>
              <a:rPr sz="1300" b="0" i="0">
                <a:solidFill>
                  <a:srgbClr val="5B6275"/>
                </a:solidFill>
              </a:rPr>
              <a:t>   L5–L6</a:t>
            </a:r>
          </a:p>
        </p:txBody>
      </p:sp>
      <p:sp>
        <p:nvSpPr>
          <p:cNvPr id="26" name="Rounded Rectangle 25"/>
          <p:cNvSpPr/>
          <p:nvPr/>
        </p:nvSpPr>
        <p:spPr>
          <a:xfrm>
            <a:off x="6675120" y="3374136"/>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D</a:t>
            </a:r>
          </a:p>
        </p:txBody>
      </p:sp>
      <p:sp>
        <p:nvSpPr>
          <p:cNvPr id="27" name="Rectangle 26"/>
          <p:cNvSpPr/>
          <p:nvPr/>
        </p:nvSpPr>
        <p:spPr>
          <a:xfrm>
            <a:off x="7269480" y="3355848"/>
            <a:ext cx="32918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RL: sim → real arm</a:t>
            </a:r>
            <a:r>
              <a:rPr sz="1300" b="0" i="0">
                <a:solidFill>
                  <a:srgbClr val="5B6275"/>
                </a:solidFill>
              </a:rPr>
              <a:t>   L7–L8</a:t>
            </a:r>
          </a:p>
        </p:txBody>
      </p:sp>
      <p:sp>
        <p:nvSpPr>
          <p:cNvPr id="28" name="Rounded Rectangle 27"/>
          <p:cNvSpPr/>
          <p:nvPr/>
        </p:nvSpPr>
        <p:spPr>
          <a:xfrm>
            <a:off x="6675120" y="3995928"/>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E</a:t>
            </a:r>
          </a:p>
        </p:txBody>
      </p:sp>
      <p:sp>
        <p:nvSpPr>
          <p:cNvPr id="29" name="Rectangle 28"/>
          <p:cNvSpPr/>
          <p:nvPr/>
        </p:nvSpPr>
        <p:spPr>
          <a:xfrm>
            <a:off x="7269480" y="3977640"/>
            <a:ext cx="32918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Imitation learning</a:t>
            </a:r>
            <a:r>
              <a:rPr sz="1300" b="0" i="0">
                <a:solidFill>
                  <a:srgbClr val="5B6275"/>
                </a:solidFill>
              </a:rPr>
              <a:t>   L9–L10</a:t>
            </a:r>
          </a:p>
        </p:txBody>
      </p:sp>
      <p:sp>
        <p:nvSpPr>
          <p:cNvPr id="30" name="Rounded Rectangle 29"/>
          <p:cNvSpPr/>
          <p:nvPr/>
        </p:nvSpPr>
        <p:spPr>
          <a:xfrm>
            <a:off x="6675120" y="4617720"/>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F</a:t>
            </a:r>
          </a:p>
        </p:txBody>
      </p:sp>
      <p:sp>
        <p:nvSpPr>
          <p:cNvPr id="31" name="Rectangle 30"/>
          <p:cNvSpPr/>
          <p:nvPr/>
        </p:nvSpPr>
        <p:spPr>
          <a:xfrm>
            <a:off x="7269480" y="4599432"/>
            <a:ext cx="32918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Evaluate &amp; deploy IL</a:t>
            </a:r>
            <a:r>
              <a:rPr sz="1300" b="0" i="0">
                <a:solidFill>
                  <a:srgbClr val="5B6275"/>
                </a:solidFill>
              </a:rPr>
              <a:t>   L11–L12</a:t>
            </a:r>
          </a:p>
        </p:txBody>
      </p:sp>
      <p:sp>
        <p:nvSpPr>
          <p:cNvPr id="32" name="Rounded Rectangle 31"/>
          <p:cNvSpPr/>
          <p:nvPr/>
        </p:nvSpPr>
        <p:spPr>
          <a:xfrm>
            <a:off x="6675120" y="5239512"/>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G</a:t>
            </a:r>
          </a:p>
        </p:txBody>
      </p:sp>
      <p:sp>
        <p:nvSpPr>
          <p:cNvPr id="33" name="Rectangle 32"/>
          <p:cNvSpPr/>
          <p:nvPr/>
        </p:nvSpPr>
        <p:spPr>
          <a:xfrm>
            <a:off x="7269480" y="5221224"/>
            <a:ext cx="32918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Vision-language-action</a:t>
            </a:r>
            <a:r>
              <a:rPr sz="1300" b="0" i="0">
                <a:solidFill>
                  <a:srgbClr val="5B6275"/>
                </a:solidFill>
              </a:rPr>
              <a:t>   L13–L14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poll</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600200"/>
            <a:ext cx="11064240" cy="20116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000" b="1" i="0">
                <a:solidFill>
                  <a:srgbClr val="FFFFFF"/>
                </a:solidFill>
              </a:rPr>
              <a:t>What do you think is hard about getting a robot to do something useful?</a:t>
            </a:r>
          </a:p>
        </p:txBody>
      </p:sp>
      <p:sp>
        <p:nvSpPr>
          <p:cNvPr id="8" name="Rectangle 7"/>
          <p:cNvSpPr/>
          <p:nvPr/>
        </p:nvSpPr>
        <p:spPr>
          <a:xfrm>
            <a:off x="548640" y="3886200"/>
            <a:ext cx="110642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800" b="0" i="0">
                <a:solidFill>
                  <a:srgbClr val="5B6275"/>
                </a:solidFill>
              </a:rPr>
              <a:t>Answer anonymously in the poll. One or two words is fine.</a:t>
            </a:r>
          </a:p>
        </p:txBody>
      </p:sp>
      <p:sp>
        <p:nvSpPr>
          <p:cNvPr id="9" name="Rounded Rectangle 8"/>
          <p:cNvSpPr/>
          <p:nvPr/>
        </p:nvSpPr>
        <p:spPr>
          <a:xfrm>
            <a:off x="548640" y="4572000"/>
            <a:ext cx="201168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164194"/>
                </a:solidFill>
              </a:rPr>
              <a:t>seeing?</a:t>
            </a:r>
          </a:p>
        </p:txBody>
      </p:sp>
      <p:sp>
        <p:nvSpPr>
          <p:cNvPr id="10" name="Rounded Rectangle 9"/>
          <p:cNvSpPr/>
          <p:nvPr/>
        </p:nvSpPr>
        <p:spPr>
          <a:xfrm>
            <a:off x="2788920" y="4572000"/>
            <a:ext cx="201168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164194"/>
                </a:solidFill>
              </a:rPr>
              <a:t>grasping?</a:t>
            </a:r>
          </a:p>
        </p:txBody>
      </p:sp>
      <p:sp>
        <p:nvSpPr>
          <p:cNvPr id="11" name="Rounded Rectangle 10"/>
          <p:cNvSpPr/>
          <p:nvPr/>
        </p:nvSpPr>
        <p:spPr>
          <a:xfrm>
            <a:off x="5029200" y="4572000"/>
            <a:ext cx="201168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164194"/>
                </a:solidFill>
              </a:rPr>
              <a:t>data?</a:t>
            </a:r>
          </a:p>
        </p:txBody>
      </p:sp>
      <p:sp>
        <p:nvSpPr>
          <p:cNvPr id="12" name="Rounded Rectangle 11"/>
          <p:cNvSpPr/>
          <p:nvPr/>
        </p:nvSpPr>
        <p:spPr>
          <a:xfrm>
            <a:off x="7269480" y="4572000"/>
            <a:ext cx="201168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164194"/>
                </a:solidFill>
              </a:rPr>
              <a:t>safety?</a:t>
            </a:r>
          </a:p>
        </p:txBody>
      </p:sp>
      <p:sp>
        <p:nvSpPr>
          <p:cNvPr id="13" name="Rounded Rectangle 12"/>
          <p:cNvSpPr/>
          <p:nvPr/>
        </p:nvSpPr>
        <p:spPr>
          <a:xfrm>
            <a:off x="9509760" y="4572000"/>
            <a:ext cx="201168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164194"/>
                </a:solidFill>
              </a:rPr>
              <a:t>cost?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outcomes</a:t>
            </a:r>
          </a:p>
        </p:txBody>
      </p:sp>
      <p:sp>
        <p:nvSpPr>
          <p:cNvPr id="3" name="Text Placeholder 2"/>
          <p:cNvSpPr>
            <a:spLocks noGrp="1"/>
          </p:cNvSpPr>
          <p:nvPr>
            <p:ph type="body" idx="11" sz="quarter"/>
          </p:nvPr>
        </p:nvSpPr>
        <p:spPr/>
        <p:txBody>
          <a:bodyPr/>
          <a:lstStyle/>
          <a:p>
            <a:pPr/>
            <a:r>
              <a:rPr sz="2200"/>
              <a:t>By the end of this lesson you should be able to:</a:t>
            </a:r>
          </a:p>
          <a:p>
            <a:pPr lvl="1"/>
            <a:r>
              <a:rPr sz="2000"/>
              <a:t>explain how physical AI differs from AI that runs on a screen</a:t>
            </a:r>
          </a:p>
          <a:p>
            <a:pPr lvl="1"/>
            <a:r>
              <a:rPr sz="2000"/>
              <a:t>describe the six stages of the physical AI development lifecycle</a:t>
            </a:r>
          </a:p>
          <a:p>
            <a:pPr lvl="1"/>
            <a:r>
              <a:rPr sz="2000"/>
              <a:t>name the observation and action of the SO-101 at each control step</a:t>
            </a:r>
          </a:p>
          <a:p>
            <a:pPr lvl="1"/>
            <a:r>
              <a:rPr sz="2000"/>
              <a:t>compare reinforcement learning, imitation learning and VLA by where their training data comes from</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From screen AI to physical AI</a:t>
            </a:r>
          </a:p>
          <a:p>
            <a:pPr algn="l"/>
            <a:r>
              <a:rPr sz="1800" b="0" i="0">
                <a:solidFill>
                  <a:srgbClr val="DDE5F7"/>
                </a:solidFill>
              </a:rPr>
              <a:t>Why a robot is not just a classifier with a body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Screen AI answers once; a robot decides 30 times a second</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ectangle 6"/>
          <p:cNvSpPr/>
          <p:nvPr/>
        </p:nvSpPr>
        <p:spPr>
          <a:xfrm>
            <a:off x="548640" y="1463040"/>
            <a:ext cx="5120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800" b="1" i="0">
                <a:solidFill>
                  <a:srgbClr val="164194"/>
                </a:solidFill>
              </a:rPr>
              <a:t>Screen AI (e.g. image classifier)</a:t>
            </a:r>
          </a:p>
        </p:txBody>
      </p:sp>
      <p:sp>
        <p:nvSpPr>
          <p:cNvPr id="8" name="Rounded Rectangle 7"/>
          <p:cNvSpPr/>
          <p:nvPr/>
        </p:nvSpPr>
        <p:spPr>
          <a:xfrm>
            <a:off x="548640" y="2194560"/>
            <a:ext cx="1463040" cy="9144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0" i="0">
                <a:solidFill>
                  <a:srgbClr val="1F2433"/>
                </a:solidFill>
              </a:rPr>
              <a:t>Image</a:t>
            </a:r>
          </a:p>
        </p:txBody>
      </p:sp>
      <p:cxnSp>
        <p:nvCxnSpPr>
          <p:cNvPr id="9" name="Connector 8"/>
          <p:cNvCxnSpPr/>
          <p:nvPr/>
        </p:nvCxnSpPr>
        <p:spPr>
          <a:xfrm>
            <a:off x="2057400" y="2651760"/>
            <a:ext cx="457200"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560320" y="2194560"/>
            <a:ext cx="146304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Model</a:t>
            </a:r>
          </a:p>
        </p:txBody>
      </p:sp>
      <p:cxnSp>
        <p:nvCxnSpPr>
          <p:cNvPr id="11" name="Connector 10"/>
          <p:cNvCxnSpPr/>
          <p:nvPr/>
        </p:nvCxnSpPr>
        <p:spPr>
          <a:xfrm>
            <a:off x="4069080" y="2651760"/>
            <a:ext cx="457200"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572000" y="2194560"/>
            <a:ext cx="1188720" cy="9144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0" i="0">
                <a:solidFill>
                  <a:srgbClr val="1F2433"/>
                </a:solidFill>
              </a:rPr>
              <a:t>“cat”</a:t>
            </a:r>
          </a:p>
        </p:txBody>
      </p:sp>
      <p:sp>
        <p:nvSpPr>
          <p:cNvPr id="13" name="Rectangle 12"/>
          <p:cNvSpPr/>
          <p:nvPr/>
        </p:nvSpPr>
        <p:spPr>
          <a:xfrm>
            <a:off x="548640" y="3429000"/>
            <a:ext cx="5212080" cy="2194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0" i="0">
                <a:solidFill>
                  <a:srgbClr val="1F2433"/>
                </a:solidFill>
              </a:rPr>
              <a:t>One input, one answer.</a:t>
            </a:r>
          </a:p>
          <a:p>
            <a:pPr algn="l"/>
            <a:r>
              <a:rPr sz="1600" b="0" i="0">
                <a:solidFill>
                  <a:srgbClr val="1F2433"/>
                </a:solidFill>
              </a:rPr>
              <a:t>The answer does not change the next image.</a:t>
            </a:r>
          </a:p>
          <a:p>
            <a:pPr algn="l"/>
            <a:r>
              <a:rPr sz="1600" b="0" i="0">
                <a:solidFill>
                  <a:srgbClr val="1F2433"/>
                </a:solidFill>
              </a:rPr>
              <a:t>A mistake is just a wrong label.</a:t>
            </a:r>
          </a:p>
        </p:txBody>
      </p:sp>
      <p:sp>
        <p:nvSpPr>
          <p:cNvPr id="14" name="Rectangle 13"/>
          <p:cNvSpPr/>
          <p:nvPr/>
        </p:nvSpPr>
        <p:spPr>
          <a:xfrm>
            <a:off x="6400800" y="1463040"/>
            <a:ext cx="52120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800" b="1" i="0">
                <a:solidFill>
                  <a:srgbClr val="E30613"/>
                </a:solidFill>
              </a:rPr>
              <a:t>Physical AI (robot policy)</a:t>
            </a:r>
          </a:p>
        </p:txBody>
      </p:sp>
      <p:sp>
        <p:nvSpPr>
          <p:cNvPr id="15" name="Rounded Rectangle 14"/>
          <p:cNvSpPr/>
          <p:nvPr/>
        </p:nvSpPr>
        <p:spPr>
          <a:xfrm>
            <a:off x="6675120" y="2103120"/>
            <a:ext cx="155448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0" i="0">
                <a:solidFill>
                  <a:srgbClr val="1F2433"/>
                </a:solidFill>
              </a:rPr>
              <a:t>Camera +
joints</a:t>
            </a:r>
          </a:p>
        </p:txBody>
      </p:sp>
      <p:sp>
        <p:nvSpPr>
          <p:cNvPr id="16" name="Rounded Rectangle 15"/>
          <p:cNvSpPr/>
          <p:nvPr/>
        </p:nvSpPr>
        <p:spPr>
          <a:xfrm>
            <a:off x="9784080" y="2103120"/>
            <a:ext cx="1554480" cy="7772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Policy</a:t>
            </a:r>
          </a:p>
        </p:txBody>
      </p:sp>
      <p:sp>
        <p:nvSpPr>
          <p:cNvPr id="17" name="Rounded Rectangle 16"/>
          <p:cNvSpPr/>
          <p:nvPr/>
        </p:nvSpPr>
        <p:spPr>
          <a:xfrm>
            <a:off x="9784080" y="3840480"/>
            <a:ext cx="155448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0" i="0">
                <a:solidFill>
                  <a:srgbClr val="1F2433"/>
                </a:solidFill>
              </a:rPr>
              <a:t>Arm moves</a:t>
            </a:r>
          </a:p>
        </p:txBody>
      </p:sp>
      <p:sp>
        <p:nvSpPr>
          <p:cNvPr id="18" name="Rounded Rectangle 17"/>
          <p:cNvSpPr/>
          <p:nvPr/>
        </p:nvSpPr>
        <p:spPr>
          <a:xfrm>
            <a:off x="6675120" y="3840480"/>
            <a:ext cx="155448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0" i="0">
                <a:solidFill>
                  <a:srgbClr val="1F2433"/>
                </a:solidFill>
              </a:rPr>
              <a:t>World
changes</a:t>
            </a:r>
          </a:p>
        </p:txBody>
      </p:sp>
      <p:cxnSp>
        <p:nvCxnSpPr>
          <p:cNvPr id="19" name="Connector 18"/>
          <p:cNvCxnSpPr/>
          <p:nvPr/>
        </p:nvCxnSpPr>
        <p:spPr>
          <a:xfrm>
            <a:off x="8275320" y="2487168"/>
            <a:ext cx="1463040"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561320" y="2926080"/>
            <a:ext cx="0" cy="86868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8275320" y="4224528"/>
            <a:ext cx="1463040"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52360" y="2926080"/>
            <a:ext cx="0" cy="86868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400800" y="4800600"/>
            <a:ext cx="521208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0" i="0">
                <a:solidFill>
                  <a:srgbClr val="1F2433"/>
                </a:solidFill>
              </a:rPr>
              <a:t>Every action changes the next input.</a:t>
            </a:r>
          </a:p>
          <a:p>
            <a:pPr algn="l"/>
            <a:r>
              <a:rPr sz="1600" b="0" i="0">
                <a:solidFill>
                  <a:srgbClr val="1F2433"/>
                </a:solidFill>
              </a:rPr>
              <a:t>A mistake moves the robot somewhere new.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control loop: perceive → decide → act, every 33 ms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822960" y="1828800"/>
            <a:ext cx="3108960" cy="17373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400" b="1" i="0">
                <a:solidFill>
                  <a:srgbClr val="FFFFFF"/>
                </a:solidFill>
              </a:rPr>
              <a:t>Perceive</a:t>
            </a:r>
          </a:p>
          <a:p>
            <a:pPr algn="ctr"/>
            <a:r>
              <a:rPr sz="1500" b="0" i="0">
                <a:solidFill>
                  <a:srgbClr val="FFFFFF"/>
                </a:solidFill>
              </a:rPr>
              <a:t>read 6 joint positions
+ camera images</a:t>
            </a:r>
          </a:p>
        </p:txBody>
      </p:sp>
      <p:sp>
        <p:nvSpPr>
          <p:cNvPr id="8" name="Rounded Rectangle 7"/>
          <p:cNvSpPr/>
          <p:nvPr/>
        </p:nvSpPr>
        <p:spPr>
          <a:xfrm>
            <a:off x="4526280" y="1828800"/>
            <a:ext cx="3108960" cy="17373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400" b="1" i="0">
                <a:solidFill>
                  <a:srgbClr val="FFFFFF"/>
                </a:solidFill>
              </a:rPr>
              <a:t>Decide</a:t>
            </a:r>
          </a:p>
          <a:p>
            <a:pPr algn="ctr"/>
            <a:r>
              <a:rPr sz="1500" b="0" i="0">
                <a:solidFill>
                  <a:srgbClr val="FFFFFF"/>
                </a:solidFill>
              </a:rPr>
              <a:t>policy computes
the next action</a:t>
            </a:r>
          </a:p>
        </p:txBody>
      </p:sp>
      <p:sp>
        <p:nvSpPr>
          <p:cNvPr id="9" name="Rounded Rectangle 8"/>
          <p:cNvSpPr/>
          <p:nvPr/>
        </p:nvSpPr>
        <p:spPr>
          <a:xfrm>
            <a:off x="8229600" y="1828800"/>
            <a:ext cx="3108960" cy="17373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400" b="1" i="0">
                <a:solidFill>
                  <a:srgbClr val="FFFFFF"/>
                </a:solidFill>
              </a:rPr>
              <a:t>Act</a:t>
            </a:r>
          </a:p>
          <a:p>
            <a:pPr algn="ctr"/>
            <a:r>
              <a:rPr sz="1500" b="0" i="0">
                <a:solidFill>
                  <a:srgbClr val="FFFFFF"/>
                </a:solidFill>
              </a:rPr>
              <a:t>send 6 target
joint positions</a:t>
            </a:r>
          </a:p>
        </p:txBody>
      </p:sp>
      <p:cxnSp>
        <p:nvCxnSpPr>
          <p:cNvPr id="10" name="Connector 9"/>
          <p:cNvCxnSpPr/>
          <p:nvPr/>
        </p:nvCxnSpPr>
        <p:spPr>
          <a:xfrm>
            <a:off x="3977639" y="2697480"/>
            <a:ext cx="502921"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80960" y="2697480"/>
            <a:ext cx="502919"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 y="4160520"/>
            <a:ext cx="105156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164194"/>
                </a:solidFill>
              </a:rPr>
              <a:t>…and repeat. At 30 Hz there are 30 decisions per second: one every 33 milliseconds.</a:t>
            </a:r>
          </a:p>
        </p:txBody>
      </p:sp>
      <p:sp>
        <p:nvSpPr>
          <p:cNvPr id="14" name="Rectangle 13"/>
          <p:cNvSpPr/>
          <p:nvPr/>
        </p:nvSpPr>
        <p:spPr>
          <a:xfrm>
            <a:off x="822960" y="5029200"/>
            <a:ext cx="105156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0" i="0">
                <a:solidFill>
                  <a:srgbClr val="5B6275"/>
                </a:solidFill>
              </a:rPr>
              <a:t>The policy is the only part we train. Everything else (the sensors and motors) stays the same for every method in this course.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physical AI is hard</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20116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2000" b="1" i="0">
                <a:solidFill>
                  <a:srgbClr val="164194"/>
                </a:solidFill>
              </a:rPr>
              <a:t>Errors compound</a:t>
            </a:r>
          </a:p>
          <a:p>
            <a:pPr algn="l"/>
            <a:r>
              <a:rPr sz="1600" b="0" i="0">
                <a:solidFill>
                  <a:srgbClr val="1F2433"/>
                </a:solidFill>
              </a:rPr>
              <a:t>2 mm off at the start of a grasp can become 2 cm off at the end. Each mistake feeds the next decision.</a:t>
            </a:r>
          </a:p>
        </p:txBody>
      </p:sp>
      <p:sp>
        <p:nvSpPr>
          <p:cNvPr id="8" name="Rounded Rectangle 7"/>
          <p:cNvSpPr/>
          <p:nvPr/>
        </p:nvSpPr>
        <p:spPr>
          <a:xfrm>
            <a:off x="6172200" y="1508760"/>
            <a:ext cx="5394960" cy="20116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2000" b="1" i="0">
                <a:solidFill>
                  <a:srgbClr val="164194"/>
                </a:solidFill>
              </a:rPr>
              <a:t>Data is not independent</a:t>
            </a:r>
          </a:p>
          <a:p>
            <a:pPr algn="l"/>
            <a:r>
              <a:rPr sz="1600" b="0" i="0">
                <a:solidFill>
                  <a:srgbClr val="1F2433"/>
                </a:solidFill>
              </a:rPr>
              <a:t>Each frame follows from the last. Shuffling frames like images hides how the robot actually behaves.</a:t>
            </a:r>
          </a:p>
        </p:txBody>
      </p:sp>
      <p:sp>
        <p:nvSpPr>
          <p:cNvPr id="9" name="Rounded Rectangle 8"/>
          <p:cNvSpPr/>
          <p:nvPr/>
        </p:nvSpPr>
        <p:spPr>
          <a:xfrm>
            <a:off x="548640" y="3749039"/>
            <a:ext cx="5394960" cy="20116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2000" b="1" i="0">
                <a:solidFill>
                  <a:srgbClr val="164194"/>
                </a:solidFill>
              </a:rPr>
              <a:t>Mistakes cost money</a:t>
            </a:r>
          </a:p>
          <a:p>
            <a:pPr algn="l"/>
            <a:r>
              <a:rPr sz="1600" b="0" i="0">
                <a:solidFill>
                  <a:srgbClr val="1F2433"/>
                </a:solidFill>
              </a:rPr>
              <a:t>A bad action can hit the table, drop the object or strain a motor. Testing is never free.</a:t>
            </a:r>
          </a:p>
        </p:txBody>
      </p:sp>
      <p:sp>
        <p:nvSpPr>
          <p:cNvPr id="10" name="Rounded Rectangle 9"/>
          <p:cNvSpPr/>
          <p:nvPr/>
        </p:nvSpPr>
        <p:spPr>
          <a:xfrm>
            <a:off x="6172200" y="3749039"/>
            <a:ext cx="5394960" cy="20116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2000" b="1" i="0">
                <a:solidFill>
                  <a:srgbClr val="164194"/>
                </a:solidFill>
              </a:rPr>
              <a:t>Data is slow</a:t>
            </a:r>
          </a:p>
          <a:p>
            <a:pPr algn="l"/>
            <a:r>
              <a:rPr sz="1600" b="0" i="0">
                <a:solidFill>
                  <a:srgbClr val="1F2433"/>
                </a:solidFill>
              </a:rPr>
              <a:t>One real demonstration takes about a minute. An image dataset can be scraped; robot data must be performed.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makes trials cheap, at a price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548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What simulation gives us</a:t>
            </a:r>
          </a:p>
        </p:txBody>
      </p:sp>
      <p:sp>
        <p:nvSpPr>
          <p:cNvPr id="8" name="Rounded Rectangle 7"/>
          <p:cNvSpPr/>
          <p:nvPr/>
        </p:nvSpPr>
        <p:spPr>
          <a:xfrm>
            <a:off x="548640" y="2194560"/>
            <a:ext cx="5394960" cy="65836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Thousands of robots trying at once on one GPU</a:t>
            </a:r>
          </a:p>
        </p:txBody>
      </p:sp>
      <p:sp>
        <p:nvSpPr>
          <p:cNvPr id="9" name="Rounded Rectangle 8"/>
          <p:cNvSpPr/>
          <p:nvPr/>
        </p:nvSpPr>
        <p:spPr>
          <a:xfrm>
            <a:off x="548640" y="2971800"/>
            <a:ext cx="5394960" cy="65836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Perfect labels for free (exact positions, contacts)</a:t>
            </a:r>
          </a:p>
        </p:txBody>
      </p:sp>
      <p:sp>
        <p:nvSpPr>
          <p:cNvPr id="10" name="Rounded Rectangle 9"/>
          <p:cNvSpPr/>
          <p:nvPr/>
        </p:nvSpPr>
        <p:spPr>
          <a:xfrm>
            <a:off x="548640" y="3749039"/>
            <a:ext cx="5394960" cy="65836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No broken hardware, no safety risk</a:t>
            </a:r>
          </a:p>
        </p:txBody>
      </p:sp>
      <p:sp>
        <p:nvSpPr>
          <p:cNvPr id="11" name="Rounded Rectangle 10"/>
          <p:cNvSpPr/>
          <p:nvPr/>
        </p:nvSpPr>
        <p:spPr>
          <a:xfrm>
            <a:off x="548640" y="4526279"/>
            <a:ext cx="5394960" cy="65836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Faster than real time</a:t>
            </a:r>
          </a:p>
        </p:txBody>
      </p:sp>
      <p:sp>
        <p:nvSpPr>
          <p:cNvPr id="12" name="Rounded Rectangle 11"/>
          <p:cNvSpPr/>
          <p:nvPr/>
        </p:nvSpPr>
        <p:spPr>
          <a:xfrm>
            <a:off x="6263640" y="1508760"/>
            <a:ext cx="5349240" cy="54864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What it costs: the reality gap</a:t>
            </a:r>
          </a:p>
        </p:txBody>
      </p:sp>
      <p:sp>
        <p:nvSpPr>
          <p:cNvPr id="13" name="Rounded Rectangle 12"/>
          <p:cNvSpPr/>
          <p:nvPr/>
        </p:nvSpPr>
        <p:spPr>
          <a:xfrm>
            <a:off x="6263640" y="2194560"/>
            <a:ext cx="5349240" cy="9144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E30613"/>
                </a:solidFill>
              </a:rPr>
              <a:t>Dynamics</a:t>
            </a:r>
          </a:p>
          <a:p>
            <a:pPr algn="l"/>
            <a:r>
              <a:rPr sz="1500" b="0" i="0">
                <a:solidFill>
                  <a:srgbClr val="1F2433"/>
                </a:solidFill>
              </a:rPr>
              <a:t>masses, friction, how the motors respond</a:t>
            </a:r>
          </a:p>
        </p:txBody>
      </p:sp>
      <p:sp>
        <p:nvSpPr>
          <p:cNvPr id="14" name="Rounded Rectangle 13"/>
          <p:cNvSpPr/>
          <p:nvPr/>
        </p:nvSpPr>
        <p:spPr>
          <a:xfrm>
            <a:off x="6263640" y="3227832"/>
            <a:ext cx="5349240" cy="9144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E30613"/>
                </a:solidFill>
              </a:rPr>
              <a:t>Appearance</a:t>
            </a:r>
          </a:p>
          <a:p>
            <a:pPr algn="l"/>
            <a:r>
              <a:rPr sz="1500" b="0" i="0">
                <a:solidFill>
                  <a:srgbClr val="1F2433"/>
                </a:solidFill>
              </a:rPr>
              <a:t>colours, textures, lighting</a:t>
            </a:r>
          </a:p>
        </p:txBody>
      </p:sp>
      <p:sp>
        <p:nvSpPr>
          <p:cNvPr id="15" name="Rounded Rectangle 14"/>
          <p:cNvSpPr/>
          <p:nvPr/>
        </p:nvSpPr>
        <p:spPr>
          <a:xfrm>
            <a:off x="6263640" y="4261104"/>
            <a:ext cx="5349240" cy="9144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E30613"/>
                </a:solidFill>
              </a:rPr>
              <a:t>Sensing</a:t>
            </a:r>
          </a:p>
          <a:p>
            <a:pPr algn="l"/>
            <a:r>
              <a:rPr sz="1500" b="0" i="0">
                <a:solidFill>
                  <a:srgbClr val="1F2433"/>
                </a:solidFill>
              </a:rPr>
              <a:t>noise, offsets, delays</a:t>
            </a:r>
          </a:p>
        </p:txBody>
      </p:sp>
      <p:sp>
        <p:nvSpPr>
          <p:cNvPr id="16" name="Rectangle 15"/>
          <p:cNvSpPr/>
          <p:nvPr/>
        </p:nvSpPr>
        <p:spPr>
          <a:xfrm>
            <a:off x="6263640" y="5349240"/>
            <a:ext cx="534924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0" i="1">
                <a:solidFill>
                  <a:srgbClr val="5B6275"/>
                </a:solidFill>
              </a:rPr>
              <a:t>Anything the simulator leaves out, the policy never learns about.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Robot basics with the SO-101</a:t>
            </a:r>
          </a:p>
          <a:p>
            <a:pPr algn="l"/>
            <a:r>
              <a:rPr sz="1800" b="0" i="0">
                <a:solidFill>
                  <a:srgbClr val="DDE5F7"/>
                </a:solidFill>
              </a:rPr>
              <a:t>Joints, spaces, servos and one control step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Meet the SO-101</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120640" cy="429768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PHOTO / VIDEO</a:t>
            </a:r>
          </a:p>
          <a:p>
            <a:pPr algn="ctr"/>
            <a:r>
              <a:rPr sz="1300" b="0" i="0">
                <a:solidFill>
                  <a:srgbClr val="5B6275"/>
                </a:solidFill>
              </a:rPr>
              <a:t>Labelled photo of your lab's SO-101 (leader and follower)</a:t>
            </a:r>
          </a:p>
        </p:txBody>
      </p:sp>
      <p:sp>
        <p:nvSpPr>
          <p:cNvPr id="8" name="Oval 7"/>
          <p:cNvSpPr/>
          <p:nvPr/>
        </p:nvSpPr>
        <p:spPr>
          <a:xfrm>
            <a:off x="6035040" y="1508760"/>
            <a:ext cx="502920" cy="54864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1</a:t>
            </a:r>
          </a:p>
        </p:txBody>
      </p:sp>
      <p:sp>
        <p:nvSpPr>
          <p:cNvPr id="9" name="Rectangle 8"/>
          <p:cNvSpPr/>
          <p:nvPr/>
        </p:nvSpPr>
        <p:spPr>
          <a:xfrm>
            <a:off x="6675120" y="1472184"/>
            <a:ext cx="49377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F2433"/>
                </a:solidFill>
              </a:rPr>
              <a:t>shoulder_pan</a:t>
            </a:r>
            <a:r>
              <a:rPr sz="1400" b="0" i="0">
                <a:solidFill>
                  <a:srgbClr val="5B6275"/>
                </a:solidFill>
              </a:rPr>
              <a:t>   rotates the whole arm left/right</a:t>
            </a:r>
          </a:p>
        </p:txBody>
      </p:sp>
      <p:sp>
        <p:nvSpPr>
          <p:cNvPr id="10" name="Oval 9"/>
          <p:cNvSpPr/>
          <p:nvPr/>
        </p:nvSpPr>
        <p:spPr>
          <a:xfrm>
            <a:off x="6035040" y="2185415"/>
            <a:ext cx="502920" cy="54864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2</a:t>
            </a:r>
          </a:p>
        </p:txBody>
      </p:sp>
      <p:sp>
        <p:nvSpPr>
          <p:cNvPr id="11" name="Rectangle 10"/>
          <p:cNvSpPr/>
          <p:nvPr/>
        </p:nvSpPr>
        <p:spPr>
          <a:xfrm>
            <a:off x="6675120" y="2148839"/>
            <a:ext cx="49377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F2433"/>
                </a:solidFill>
              </a:rPr>
              <a:t>shoulder_lift</a:t>
            </a:r>
            <a:r>
              <a:rPr sz="1400" b="0" i="0">
                <a:solidFill>
                  <a:srgbClr val="5B6275"/>
                </a:solidFill>
              </a:rPr>
              <a:t>   raises/lowers the upper arm</a:t>
            </a:r>
          </a:p>
        </p:txBody>
      </p:sp>
      <p:sp>
        <p:nvSpPr>
          <p:cNvPr id="12" name="Oval 11"/>
          <p:cNvSpPr/>
          <p:nvPr/>
        </p:nvSpPr>
        <p:spPr>
          <a:xfrm>
            <a:off x="6035040" y="2862072"/>
            <a:ext cx="502920" cy="54864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3</a:t>
            </a:r>
          </a:p>
        </p:txBody>
      </p:sp>
      <p:sp>
        <p:nvSpPr>
          <p:cNvPr id="13" name="Rectangle 12"/>
          <p:cNvSpPr/>
          <p:nvPr/>
        </p:nvSpPr>
        <p:spPr>
          <a:xfrm>
            <a:off x="6675120" y="2825496"/>
            <a:ext cx="49377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F2433"/>
                </a:solidFill>
              </a:rPr>
              <a:t>elbow_flex</a:t>
            </a:r>
            <a:r>
              <a:rPr sz="1400" b="0" i="0">
                <a:solidFill>
                  <a:srgbClr val="5B6275"/>
                </a:solidFill>
              </a:rPr>
              <a:t>   bends the elbow</a:t>
            </a:r>
          </a:p>
        </p:txBody>
      </p:sp>
      <p:sp>
        <p:nvSpPr>
          <p:cNvPr id="14" name="Oval 13"/>
          <p:cNvSpPr/>
          <p:nvPr/>
        </p:nvSpPr>
        <p:spPr>
          <a:xfrm>
            <a:off x="6035040" y="3538727"/>
            <a:ext cx="502920" cy="54864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4</a:t>
            </a:r>
          </a:p>
        </p:txBody>
      </p:sp>
      <p:sp>
        <p:nvSpPr>
          <p:cNvPr id="15" name="Rectangle 14"/>
          <p:cNvSpPr/>
          <p:nvPr/>
        </p:nvSpPr>
        <p:spPr>
          <a:xfrm>
            <a:off x="6675120" y="3502151"/>
            <a:ext cx="49377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F2433"/>
                </a:solidFill>
              </a:rPr>
              <a:t>wrist_flex</a:t>
            </a:r>
            <a:r>
              <a:rPr sz="1400" b="0" i="0">
                <a:solidFill>
                  <a:srgbClr val="5B6275"/>
                </a:solidFill>
              </a:rPr>
              <a:t>   tilts the wrist up/down</a:t>
            </a:r>
          </a:p>
        </p:txBody>
      </p:sp>
      <p:sp>
        <p:nvSpPr>
          <p:cNvPr id="16" name="Oval 15"/>
          <p:cNvSpPr/>
          <p:nvPr/>
        </p:nvSpPr>
        <p:spPr>
          <a:xfrm>
            <a:off x="6035040" y="4215383"/>
            <a:ext cx="502920" cy="54864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5</a:t>
            </a:r>
          </a:p>
        </p:txBody>
      </p:sp>
      <p:sp>
        <p:nvSpPr>
          <p:cNvPr id="17" name="Rectangle 16"/>
          <p:cNvSpPr/>
          <p:nvPr/>
        </p:nvSpPr>
        <p:spPr>
          <a:xfrm>
            <a:off x="6675120" y="4178807"/>
            <a:ext cx="49377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F2433"/>
                </a:solidFill>
              </a:rPr>
              <a:t>wrist_roll</a:t>
            </a:r>
            <a:r>
              <a:rPr sz="1400" b="0" i="0">
                <a:solidFill>
                  <a:srgbClr val="5B6275"/>
                </a:solidFill>
              </a:rPr>
              <a:t>   rotates the wrist</a:t>
            </a:r>
          </a:p>
        </p:txBody>
      </p:sp>
      <p:sp>
        <p:nvSpPr>
          <p:cNvPr id="18" name="Oval 17"/>
          <p:cNvSpPr/>
          <p:nvPr/>
        </p:nvSpPr>
        <p:spPr>
          <a:xfrm>
            <a:off x="6035040" y="4892040"/>
            <a:ext cx="502920" cy="5486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6</a:t>
            </a:r>
          </a:p>
        </p:txBody>
      </p:sp>
      <p:sp>
        <p:nvSpPr>
          <p:cNvPr id="19" name="Rectangle 18"/>
          <p:cNvSpPr/>
          <p:nvPr/>
        </p:nvSpPr>
        <p:spPr>
          <a:xfrm>
            <a:off x="6675120" y="4855464"/>
            <a:ext cx="49377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F2433"/>
                </a:solidFill>
              </a:rPr>
              <a:t>gripper</a:t>
            </a:r>
            <a:r>
              <a:rPr sz="1400" b="0" i="0">
                <a:solidFill>
                  <a:srgbClr val="5B6275"/>
                </a:solidFill>
              </a:rPr>
              <a:t>   opens and closes the jaws</a:t>
            </a:r>
          </a:p>
        </p:txBody>
      </p:sp>
      <p:sp>
        <p:nvSpPr>
          <p:cNvPr id="20" name="Rectangle 19"/>
          <p:cNvSpPr/>
          <p:nvPr/>
        </p:nvSpPr>
        <p:spPr>
          <a:xfrm>
            <a:off x="6035040" y="5623560"/>
            <a:ext cx="55778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200" b="0" i="1">
                <a:solidFill>
                  <a:srgbClr val="5B6275"/>
                </a:solidFill>
              </a:rPr>
              <a:t>Open-source design by TheRobotStudio with Hugging Face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Joints, degrees of freedom and workspace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486400" cy="11887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900" b="1" i="0">
                <a:solidFill>
                  <a:srgbClr val="164194"/>
                </a:solidFill>
              </a:rPr>
              <a:t>Joint</a:t>
            </a:r>
          </a:p>
          <a:p>
            <a:pPr algn="l"/>
            <a:r>
              <a:rPr sz="1600" b="0" i="0">
                <a:solidFill>
                  <a:srgbClr val="1F2433"/>
                </a:solidFill>
              </a:rPr>
              <a:t>A place where two parts of the arm connect and can move.</a:t>
            </a:r>
          </a:p>
        </p:txBody>
      </p:sp>
      <p:sp>
        <p:nvSpPr>
          <p:cNvPr id="8" name="Rounded Rectangle 7"/>
          <p:cNvSpPr/>
          <p:nvPr/>
        </p:nvSpPr>
        <p:spPr>
          <a:xfrm>
            <a:off x="548640" y="2880360"/>
            <a:ext cx="5486400" cy="11887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900" b="1" i="0">
                <a:solidFill>
                  <a:srgbClr val="164194"/>
                </a:solidFill>
              </a:rPr>
              <a:t>Degree of freedom (DOF)</a:t>
            </a:r>
          </a:p>
          <a:p>
            <a:pPr algn="l"/>
            <a:r>
              <a:rPr sz="1600" b="0" i="0">
                <a:solidFill>
                  <a:srgbClr val="1F2433"/>
                </a:solidFill>
              </a:rPr>
              <a:t>An independent way the robot can move. The SO-101 has 5 arm DOF plus a gripper.</a:t>
            </a:r>
          </a:p>
        </p:txBody>
      </p:sp>
      <p:sp>
        <p:nvSpPr>
          <p:cNvPr id="9" name="Rounded Rectangle 8"/>
          <p:cNvSpPr/>
          <p:nvPr/>
        </p:nvSpPr>
        <p:spPr>
          <a:xfrm>
            <a:off x="548640" y="4251960"/>
            <a:ext cx="5486400" cy="11887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900" b="1" i="0">
                <a:solidFill>
                  <a:srgbClr val="164194"/>
                </a:solidFill>
              </a:rPr>
              <a:t>Workspace</a:t>
            </a:r>
          </a:p>
          <a:p>
            <a:pPr algn="l"/>
            <a:r>
              <a:rPr sz="1600" b="0" i="0">
                <a:solidFill>
                  <a:srgbClr val="1F2433"/>
                </a:solidFill>
              </a:rPr>
              <a:t>All the places the gripper can reach. Outside it, no policy can succeed.</a:t>
            </a:r>
          </a:p>
        </p:txBody>
      </p:sp>
      <p:sp>
        <p:nvSpPr>
          <p:cNvPr id="10" name="Rounded Rectangle 9"/>
          <p:cNvSpPr/>
          <p:nvPr/>
        </p:nvSpPr>
        <p:spPr>
          <a:xfrm>
            <a:off x="6400800" y="1508760"/>
            <a:ext cx="5212080" cy="393192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PHOTO / VIDEO</a:t>
            </a:r>
          </a:p>
          <a:p>
            <a:pPr algn="ctr"/>
            <a:r>
              <a:rPr sz="1300" b="0" i="0">
                <a:solidFill>
                  <a:srgbClr val="5B6275"/>
                </a:solidFill>
              </a:rPr>
              <a:t>Short clip: moving one joint at a 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ways to describe the same pose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54480"/>
            <a:ext cx="4206240" cy="23774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200" b="1" i="0">
                <a:solidFill>
                  <a:srgbClr val="FFFFFF"/>
                </a:solidFill>
              </a:rPr>
              <a:t>Joint space</a:t>
            </a:r>
          </a:p>
          <a:p>
            <a:pPr algn="ctr"/>
            <a:r>
              <a:rPr sz="1600" b="0" i="0">
                <a:solidFill>
                  <a:srgbClr val="FFFFFF"/>
                </a:solidFill>
              </a:rPr>
              <a:t>six joint angles</a:t>
            </a:r>
          </a:p>
          <a:p>
            <a:pPr algn="ctr"/>
            <a:r>
              <a:rPr sz="1600" b="0" i="0">
                <a:solidFill>
                  <a:srgbClr val="FFFFFF"/>
                </a:solidFill>
              </a:rPr>
              <a:t>[ 12°, −40°, 85°, 30°, 0°, 20° ]</a:t>
            </a:r>
          </a:p>
        </p:txBody>
      </p:sp>
      <p:sp>
        <p:nvSpPr>
          <p:cNvPr id="8" name="Rounded Rectangle 7"/>
          <p:cNvSpPr/>
          <p:nvPr/>
        </p:nvSpPr>
        <p:spPr>
          <a:xfrm>
            <a:off x="7406640" y="1554480"/>
            <a:ext cx="4206240" cy="23774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200" b="1" i="0">
                <a:solidFill>
                  <a:srgbClr val="FFFFFF"/>
                </a:solidFill>
              </a:rPr>
              <a:t>Cartesian space</a:t>
            </a:r>
          </a:p>
          <a:p>
            <a:pPr algn="ctr"/>
            <a:r>
              <a:rPr sz="1600" b="0" i="0">
                <a:solidFill>
                  <a:srgbClr val="FFFFFF"/>
                </a:solidFill>
              </a:rPr>
              <a:t>where the gripper is</a:t>
            </a:r>
          </a:p>
          <a:p>
            <a:pPr algn="ctr"/>
            <a:r>
              <a:rPr sz="1600" b="0" i="0">
                <a:solidFill>
                  <a:srgbClr val="FFFFFF"/>
                </a:solidFill>
              </a:rPr>
              <a:t>x, y, z + orientation</a:t>
            </a:r>
          </a:p>
        </p:txBody>
      </p:sp>
      <p:cxnSp>
        <p:nvCxnSpPr>
          <p:cNvPr id="9" name="Connector 8"/>
          <p:cNvCxnSpPr/>
          <p:nvPr/>
        </p:nvCxnSpPr>
        <p:spPr>
          <a:xfrm>
            <a:off x="4892040" y="2331720"/>
            <a:ext cx="237744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846320" y="1783080"/>
            <a:ext cx="24688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400" b="1" i="0">
                <a:solidFill>
                  <a:srgbClr val="164194"/>
                </a:solidFill>
              </a:rPr>
              <a:t>Forward kinematics</a:t>
            </a:r>
          </a:p>
        </p:txBody>
      </p:sp>
      <p:cxnSp>
        <p:nvCxnSpPr>
          <p:cNvPr id="11" name="Connector 10"/>
          <p:cNvCxnSpPr/>
          <p:nvPr/>
        </p:nvCxnSpPr>
        <p:spPr>
          <a:xfrm flipH="1">
            <a:off x="4892040" y="3154680"/>
            <a:ext cx="2377440" cy="0"/>
          </a:xfrm>
          <a:prstGeom prst="line">
            <a:avLst/>
          </a:prstGeom>
          <a:ln w="31750">
            <a:solidFill>
              <a:srgbClr val="0F6E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846320" y="3246120"/>
            <a:ext cx="24688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400" b="1" i="0">
                <a:solidFill>
                  <a:srgbClr val="0F6E6A"/>
                </a:solidFill>
              </a:rPr>
              <a:t>Inverse kinematics</a:t>
            </a:r>
          </a:p>
        </p:txBody>
      </p:sp>
      <p:sp>
        <p:nvSpPr>
          <p:cNvPr id="13" name="Rounded Rectangle 12"/>
          <p:cNvSpPr/>
          <p:nvPr/>
        </p:nvSpPr>
        <p:spPr>
          <a:xfrm>
            <a:off x="548640" y="4343400"/>
            <a:ext cx="11064240" cy="1371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Forward: </a:t>
            </a:r>
            <a:r>
              <a:rPr sz="1700" b="0" i="0">
                <a:solidFill>
                  <a:srgbClr val="1F2433"/>
                </a:solidFill>
              </a:rPr>
              <a:t>“Given how my arm is bent, where is my hand?” (one answer)</a:t>
            </a:r>
          </a:p>
          <a:p>
            <a:pPr algn="l"/>
            <a:r>
              <a:rPr sz="1700" b="1" i="0">
                <a:solidFill>
                  <a:srgbClr val="0F6E6A"/>
                </a:solidFill>
              </a:rPr>
              <a:t>Inverse: </a:t>
            </a:r>
            <a:r>
              <a:rPr sz="1700" b="0" i="0">
                <a:solidFill>
                  <a:srgbClr val="1F2433"/>
                </a:solidFill>
              </a:rPr>
              <a:t>“How should I bend my arm to reach the cup?” (maybe many answers, maybe none)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servos take positions, not forces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5486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We CAN command</a:t>
            </a:r>
          </a:p>
        </p:txBody>
      </p:sp>
      <p:sp>
        <p:nvSpPr>
          <p:cNvPr id="8" name="Rounded Rectangle 7"/>
          <p:cNvSpPr/>
          <p:nvPr/>
        </p:nvSpPr>
        <p:spPr>
          <a:xfrm>
            <a:off x="548640" y="2148840"/>
            <a:ext cx="5394960" cy="192024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0" i="0">
                <a:solidFill>
                  <a:srgbClr val="1F2433"/>
                </a:solidFill>
              </a:rPr>
              <a:t>A target position for each joint</a:t>
            </a:r>
          </a:p>
          <a:p>
            <a:pPr algn="l"/>
            <a:r>
              <a:rPr sz="1700" b="0" i="0">
                <a:solidFill>
                  <a:srgbClr val="1F2433"/>
                </a:solidFill>
              </a:rPr>
              <a:t>(the servo's own controller drives towards it)</a:t>
            </a:r>
          </a:p>
        </p:txBody>
      </p:sp>
      <p:sp>
        <p:nvSpPr>
          <p:cNvPr id="9" name="Rounded Rectangle 8"/>
          <p:cNvSpPr/>
          <p:nvPr/>
        </p:nvSpPr>
        <p:spPr>
          <a:xfrm>
            <a:off x="6217920" y="1508760"/>
            <a:ext cx="5394960" cy="54864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We CANNOT command</a:t>
            </a:r>
          </a:p>
        </p:txBody>
      </p:sp>
      <p:sp>
        <p:nvSpPr>
          <p:cNvPr id="10" name="Rounded Rectangle 9"/>
          <p:cNvSpPr/>
          <p:nvPr/>
        </p:nvSpPr>
        <p:spPr>
          <a:xfrm>
            <a:off x="6217920" y="2148840"/>
            <a:ext cx="5394960" cy="19202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0" i="0">
                <a:solidFill>
                  <a:srgbClr val="1F2433"/>
                </a:solidFill>
              </a:rPr>
              <a:t>A force or torque</a:t>
            </a:r>
          </a:p>
          <a:p>
            <a:pPr algn="l"/>
            <a:r>
              <a:rPr sz="1700" b="0" i="0">
                <a:solidFill>
                  <a:srgbClr val="1F2433"/>
                </a:solidFill>
              </a:rPr>
              <a:t>“Grip harder” or “push gently”</a:t>
            </a:r>
          </a:p>
        </p:txBody>
      </p:sp>
      <p:sp>
        <p:nvSpPr>
          <p:cNvPr id="11" name="Rounded Rectangle 10"/>
          <p:cNvSpPr/>
          <p:nvPr/>
        </p:nvSpPr>
        <p:spPr>
          <a:xfrm>
            <a:off x="548640" y="4343400"/>
            <a:ext cx="11064240" cy="13258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Six Feetech STS3215 serial-bus servos. </a:t>
            </a:r>
            <a:r>
              <a:rPr sz="1700" b="0" i="0">
                <a:solidFill>
                  <a:srgbClr val="1F2433"/>
                </a:solidFill>
              </a:rPr>
              <a:t>Grip force comes only indirectly, by telling the gripper to close further than the object allows. This limit returns in Lessons 7 and 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Leader, follower and cameras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828800"/>
            <a:ext cx="2743200" cy="14630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i="0">
                <a:solidFill>
                  <a:srgbClr val="FFFFFF"/>
                </a:solidFill>
              </a:rPr>
              <a:t>Leader arm</a:t>
            </a:r>
          </a:p>
          <a:p>
            <a:pPr algn="ctr"/>
            <a:r>
              <a:rPr sz="1500" b="0" i="0">
                <a:solidFill>
                  <a:srgbClr val="FFFFFF"/>
                </a:solidFill>
              </a:rPr>
              <a:t>moved by your hand</a:t>
            </a:r>
          </a:p>
        </p:txBody>
      </p:sp>
      <p:cxnSp>
        <p:nvCxnSpPr>
          <p:cNvPr id="8" name="Connector 7"/>
          <p:cNvCxnSpPr/>
          <p:nvPr/>
        </p:nvCxnSpPr>
        <p:spPr>
          <a:xfrm>
            <a:off x="3383280" y="2560320"/>
            <a:ext cx="155448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291840" y="1920240"/>
            <a:ext cx="17373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0" i="0">
                <a:solidFill>
                  <a:srgbClr val="5B6275"/>
                </a:solidFill>
              </a:rPr>
              <a:t>joint readings
30× per second</a:t>
            </a:r>
          </a:p>
        </p:txBody>
      </p:sp>
      <p:sp>
        <p:nvSpPr>
          <p:cNvPr id="10" name="Rounded Rectangle 9"/>
          <p:cNvSpPr/>
          <p:nvPr/>
        </p:nvSpPr>
        <p:spPr>
          <a:xfrm>
            <a:off x="5029200" y="1828800"/>
            <a:ext cx="2743200" cy="14630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i="0">
                <a:solidFill>
                  <a:srgbClr val="FFFFFF"/>
                </a:solidFill>
              </a:rPr>
              <a:t>Follower arm</a:t>
            </a:r>
          </a:p>
          <a:p>
            <a:pPr algn="ctr"/>
            <a:r>
              <a:rPr sz="1500" b="0" i="0">
                <a:solidFill>
                  <a:srgbClr val="FFFFFF"/>
                </a:solidFill>
              </a:rPr>
              <a:t>copies the leader</a:t>
            </a:r>
          </a:p>
        </p:txBody>
      </p:sp>
      <p:sp>
        <p:nvSpPr>
          <p:cNvPr id="11" name="Rounded Rectangle 10"/>
          <p:cNvSpPr/>
          <p:nvPr/>
        </p:nvSpPr>
        <p:spPr>
          <a:xfrm>
            <a:off x="8595360" y="1508760"/>
            <a:ext cx="3017520" cy="9144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164194"/>
                </a:solidFill>
              </a:rPr>
              <a:t>Front camera</a:t>
            </a:r>
          </a:p>
          <a:p>
            <a:pPr algn="ctr"/>
            <a:r>
              <a:rPr sz="1400" b="0" i="0">
                <a:solidFill>
                  <a:srgbClr val="1F2433"/>
                </a:solidFill>
              </a:rPr>
              <a:t>sees the whole scene</a:t>
            </a:r>
          </a:p>
        </p:txBody>
      </p:sp>
      <p:sp>
        <p:nvSpPr>
          <p:cNvPr id="12" name="Rounded Rectangle 11"/>
          <p:cNvSpPr/>
          <p:nvPr/>
        </p:nvSpPr>
        <p:spPr>
          <a:xfrm>
            <a:off x="8595360" y="2697480"/>
            <a:ext cx="3017520" cy="9144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164194"/>
                </a:solidFill>
              </a:rPr>
              <a:t>Wrist camera</a:t>
            </a:r>
          </a:p>
          <a:p>
            <a:pPr algn="ctr"/>
            <a:r>
              <a:rPr sz="1400" b="0" i="0">
                <a:solidFill>
                  <a:srgbClr val="1F2433"/>
                </a:solidFill>
              </a:rPr>
              <a:t>sees the grasp up close</a:t>
            </a:r>
          </a:p>
        </p:txBody>
      </p:sp>
      <p:sp>
        <p:nvSpPr>
          <p:cNvPr id="13" name="Rounded Rectangle 12"/>
          <p:cNvSpPr/>
          <p:nvPr/>
        </p:nvSpPr>
        <p:spPr>
          <a:xfrm>
            <a:off x="548640" y="3931920"/>
            <a:ext cx="11064240" cy="17373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Recorded every frame: </a:t>
            </a:r>
            <a:r>
              <a:rPr sz="1700" b="0" i="0">
                <a:solidFill>
                  <a:srgbClr val="1F2433"/>
                </a:solidFill>
              </a:rPr>
              <a:t>leader position (the action), follower position (the state), both camera images.</a:t>
            </a:r>
          </a:p>
          <a:p>
            <a:pPr algn="l"/>
            <a:r>
              <a:rPr sz="1700" b="0" i="1">
                <a:solidFill>
                  <a:srgbClr val="5B6275"/>
                </a:solidFill>
              </a:rPr>
              <a:t>This is how most of the data in this course will be collected.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one control step</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484632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Observation (input)</a:t>
            </a:r>
          </a:p>
        </p:txBody>
      </p:sp>
      <p:sp>
        <p:nvSpPr>
          <p:cNvPr id="8" name="Rounded Rectangle 7"/>
          <p:cNvSpPr/>
          <p:nvPr/>
        </p:nvSpPr>
        <p:spPr>
          <a:xfrm>
            <a:off x="548640" y="2057400"/>
            <a:ext cx="4846320" cy="1828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1F2433"/>
                </a:solidFill>
              </a:rPr>
              <a:t>6 joint positions</a:t>
            </a:r>
          </a:p>
          <a:p>
            <a:pPr algn="ctr"/>
            <a:r>
              <a:rPr sz="1500" b="0" i="0">
                <a:solidFill>
                  <a:srgbClr val="5B6275"/>
                </a:solidFill>
              </a:rPr>
              <a:t>[ 2.1, −38.5, 81.0, 27.4, −1.2, 18.0 ]</a:t>
            </a:r>
          </a:p>
          <a:p>
            <a:pPr algn="ctr"/>
            <a:r>
              <a:rPr sz="1700" b="1" i="0">
                <a:solidFill>
                  <a:srgbClr val="1F2433"/>
                </a:solidFill>
              </a:rPr>
              <a:t>+ front image + wrist image</a:t>
            </a:r>
          </a:p>
        </p:txBody>
      </p:sp>
      <p:cxnSp>
        <p:nvCxnSpPr>
          <p:cNvPr id="9" name="Connector 8"/>
          <p:cNvCxnSpPr/>
          <p:nvPr/>
        </p:nvCxnSpPr>
        <p:spPr>
          <a:xfrm>
            <a:off x="5486400" y="2971800"/>
            <a:ext cx="10515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440680" y="2377440"/>
            <a:ext cx="11887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400" b="1" i="0">
                <a:solidFill>
                  <a:srgbClr val="164194"/>
                </a:solidFill>
              </a:rPr>
              <a:t>policy</a:t>
            </a:r>
          </a:p>
        </p:txBody>
      </p:sp>
      <p:sp>
        <p:nvSpPr>
          <p:cNvPr id="11" name="Rounded Rectangle 10"/>
          <p:cNvSpPr/>
          <p:nvPr/>
        </p:nvSpPr>
        <p:spPr>
          <a:xfrm>
            <a:off x="6675120" y="1508760"/>
            <a:ext cx="4937760" cy="50292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Action (output)</a:t>
            </a:r>
          </a:p>
        </p:txBody>
      </p:sp>
      <p:sp>
        <p:nvSpPr>
          <p:cNvPr id="12" name="Rounded Rectangle 11"/>
          <p:cNvSpPr/>
          <p:nvPr/>
        </p:nvSpPr>
        <p:spPr>
          <a:xfrm>
            <a:off x="6675120" y="2057400"/>
            <a:ext cx="4937760" cy="18288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1F2433"/>
                </a:solidFill>
              </a:rPr>
              <a:t>6 target joint positions</a:t>
            </a:r>
          </a:p>
          <a:p>
            <a:pPr algn="ctr"/>
            <a:r>
              <a:rPr sz="1500" b="0" i="0">
                <a:solidFill>
                  <a:srgbClr val="5B6275"/>
                </a:solidFill>
              </a:rPr>
              <a:t>[ 2.4, −37.9, 80.2, 27.9, −1.2, 12.5 ]</a:t>
            </a:r>
          </a:p>
        </p:txBody>
      </p:sp>
      <p:sp>
        <p:nvSpPr>
          <p:cNvPr id="13" name="Rectangle 12"/>
          <p:cNvSpPr/>
          <p:nvPr/>
        </p:nvSpPr>
        <p:spPr>
          <a:xfrm>
            <a:off x="548640" y="4160520"/>
            <a:ext cx="2651760"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4000" b="1" i="0">
                <a:solidFill>
                  <a:srgbClr val="164194"/>
                </a:solidFill>
              </a:rPr>
              <a:t>180</a:t>
            </a:r>
          </a:p>
        </p:txBody>
      </p:sp>
      <p:sp>
        <p:nvSpPr>
          <p:cNvPr id="14" name="Rectangle 13"/>
          <p:cNvSpPr/>
          <p:nvPr/>
        </p:nvSpPr>
        <p:spPr>
          <a:xfrm>
            <a:off x="548640" y="4937760"/>
            <a:ext cx="2651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400" b="0" i="0">
                <a:solidFill>
                  <a:srgbClr val="5B6275"/>
                </a:solidFill>
              </a:rPr>
              <a:t>joint numbers per second</a:t>
            </a:r>
          </a:p>
        </p:txBody>
      </p:sp>
      <p:sp>
        <p:nvSpPr>
          <p:cNvPr id="15" name="Rectangle 14"/>
          <p:cNvSpPr/>
          <p:nvPr/>
        </p:nvSpPr>
        <p:spPr>
          <a:xfrm>
            <a:off x="3337560" y="4160520"/>
            <a:ext cx="2651760"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4000" b="1" i="0">
                <a:solidFill>
                  <a:srgbClr val="164194"/>
                </a:solidFill>
              </a:rPr>
              <a:t>60</a:t>
            </a:r>
          </a:p>
        </p:txBody>
      </p:sp>
      <p:sp>
        <p:nvSpPr>
          <p:cNvPr id="16" name="Rectangle 15"/>
          <p:cNvSpPr/>
          <p:nvPr/>
        </p:nvSpPr>
        <p:spPr>
          <a:xfrm>
            <a:off x="3337560" y="4937760"/>
            <a:ext cx="2651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400" b="0" i="0">
                <a:solidFill>
                  <a:srgbClr val="5B6275"/>
                </a:solidFill>
              </a:rPr>
              <a:t>images per second</a:t>
            </a:r>
          </a:p>
        </p:txBody>
      </p:sp>
      <p:sp>
        <p:nvSpPr>
          <p:cNvPr id="17" name="Rectangle 16"/>
          <p:cNvSpPr/>
          <p:nvPr/>
        </p:nvSpPr>
        <p:spPr>
          <a:xfrm>
            <a:off x="6126479" y="4160520"/>
            <a:ext cx="2651760"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4000" b="1" i="0">
                <a:solidFill>
                  <a:srgbClr val="164194"/>
                </a:solidFill>
              </a:rPr>
              <a:t>600</a:t>
            </a:r>
          </a:p>
        </p:txBody>
      </p:sp>
      <p:sp>
        <p:nvSpPr>
          <p:cNvPr id="18" name="Rectangle 17"/>
          <p:cNvSpPr/>
          <p:nvPr/>
        </p:nvSpPr>
        <p:spPr>
          <a:xfrm>
            <a:off x="6126479" y="4937760"/>
            <a:ext cx="2651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400" b="0" i="0">
                <a:solidFill>
                  <a:srgbClr val="5B6275"/>
                </a:solidFill>
              </a:rPr>
              <a:t>frames in a 20 s demo</a:t>
            </a:r>
          </a:p>
        </p:txBody>
      </p:sp>
      <p:sp>
        <p:nvSpPr>
          <p:cNvPr id="19" name="Rectangle 18"/>
          <p:cNvSpPr/>
          <p:nvPr/>
        </p:nvSpPr>
        <p:spPr>
          <a:xfrm>
            <a:off x="8915399" y="4160520"/>
            <a:ext cx="2651760"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4000" b="1" i="0">
                <a:solidFill>
                  <a:srgbClr val="164194"/>
                </a:solidFill>
              </a:rPr>
              <a:t>1,200</a:t>
            </a:r>
          </a:p>
        </p:txBody>
      </p:sp>
      <p:sp>
        <p:nvSpPr>
          <p:cNvPr id="20" name="Rectangle 19"/>
          <p:cNvSpPr/>
          <p:nvPr/>
        </p:nvSpPr>
        <p:spPr>
          <a:xfrm>
            <a:off x="8915399" y="4937760"/>
            <a:ext cx="2651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400" b="0" i="0">
                <a:solidFill>
                  <a:srgbClr val="5B6275"/>
                </a:solidFill>
              </a:rPr>
              <a:t>images in a 20 s demo</a:t>
            </a:r>
          </a:p>
        </p:txBody>
      </p:sp>
      <p:sp>
        <p:nvSpPr>
          <p:cNvPr id="21" name="Rectangle 20"/>
          <p:cNvSpPr/>
          <p:nvPr/>
        </p:nvSpPr>
        <p:spPr>
          <a:xfrm>
            <a:off x="548640" y="5532120"/>
            <a:ext cx="110642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100" b="0" i="1">
                <a:solidFill>
                  <a:srgbClr val="5B6275"/>
                </a:solidFill>
              </a:rPr>
              <a:t>Example values are illustrative; replace with numbers captured from your own arm.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The lifecycle and three ways to train an arm</a:t>
            </a:r>
          </a:p>
          <a:p>
            <a:pPr algn="l"/>
            <a:r>
              <a:rPr sz="1800" b="0" i="0">
                <a:solidFill>
                  <a:srgbClr val="DDE5F7"/>
                </a:solidFill>
              </a:rPr>
              <a:t>Where does the training data come from?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physical AI development lifecycle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828800"/>
            <a:ext cx="16459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Simulate</a:t>
            </a:r>
          </a:p>
        </p:txBody>
      </p:sp>
      <p:sp>
        <p:nvSpPr>
          <p:cNvPr id="8" name="Rounded Rectangle 7"/>
          <p:cNvSpPr/>
          <p:nvPr/>
        </p:nvSpPr>
        <p:spPr>
          <a:xfrm>
            <a:off x="548640" y="2880360"/>
            <a:ext cx="164592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Build a virtual robot and scene</a:t>
            </a:r>
          </a:p>
        </p:txBody>
      </p:sp>
      <p:cxnSp>
        <p:nvCxnSpPr>
          <p:cNvPr id="9" name="Connector 8"/>
          <p:cNvCxnSpPr/>
          <p:nvPr/>
        </p:nvCxnSpPr>
        <p:spPr>
          <a:xfrm>
            <a:off x="2212848" y="2286000"/>
            <a:ext cx="192024"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23160" y="1828800"/>
            <a:ext cx="16459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Collect data</a:t>
            </a:r>
          </a:p>
        </p:txBody>
      </p:sp>
      <p:sp>
        <p:nvSpPr>
          <p:cNvPr id="11" name="Rounded Rectangle 10"/>
          <p:cNvSpPr/>
          <p:nvPr/>
        </p:nvSpPr>
        <p:spPr>
          <a:xfrm>
            <a:off x="2423160" y="2880360"/>
            <a:ext cx="164592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Demonstrations or trial-and-error</a:t>
            </a:r>
          </a:p>
        </p:txBody>
      </p:sp>
      <p:cxnSp>
        <p:nvCxnSpPr>
          <p:cNvPr id="12" name="Connector 11"/>
          <p:cNvCxnSpPr/>
          <p:nvPr/>
        </p:nvCxnSpPr>
        <p:spPr>
          <a:xfrm>
            <a:off x="4087368" y="2286000"/>
            <a:ext cx="192024"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97679" y="1828800"/>
            <a:ext cx="16459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Train</a:t>
            </a:r>
          </a:p>
        </p:txBody>
      </p:sp>
      <p:sp>
        <p:nvSpPr>
          <p:cNvPr id="14" name="Rounded Rectangle 13"/>
          <p:cNvSpPr/>
          <p:nvPr/>
        </p:nvSpPr>
        <p:spPr>
          <a:xfrm>
            <a:off x="4297679" y="2880360"/>
            <a:ext cx="164592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Fit the policy network</a:t>
            </a:r>
          </a:p>
        </p:txBody>
      </p:sp>
      <p:cxnSp>
        <p:nvCxnSpPr>
          <p:cNvPr id="15" name="Connector 14"/>
          <p:cNvCxnSpPr/>
          <p:nvPr/>
        </p:nvCxnSpPr>
        <p:spPr>
          <a:xfrm>
            <a:off x="5961888" y="2286000"/>
            <a:ext cx="192023"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72199" y="1828800"/>
            <a:ext cx="16459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Evaluate</a:t>
            </a:r>
          </a:p>
        </p:txBody>
      </p:sp>
      <p:sp>
        <p:nvSpPr>
          <p:cNvPr id="17" name="Rounded Rectangle 16"/>
          <p:cNvSpPr/>
          <p:nvPr/>
        </p:nvSpPr>
        <p:spPr>
          <a:xfrm>
            <a:off x="6172199" y="2880360"/>
            <a:ext cx="164592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Measure success honestly</a:t>
            </a:r>
          </a:p>
        </p:txBody>
      </p:sp>
      <p:cxnSp>
        <p:nvCxnSpPr>
          <p:cNvPr id="18" name="Connector 17"/>
          <p:cNvCxnSpPr/>
          <p:nvPr/>
        </p:nvCxnSpPr>
        <p:spPr>
          <a:xfrm>
            <a:off x="7836407" y="2286000"/>
            <a:ext cx="192024"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046719" y="1828800"/>
            <a:ext cx="16459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Deploy</a:t>
            </a:r>
          </a:p>
        </p:txBody>
      </p:sp>
      <p:sp>
        <p:nvSpPr>
          <p:cNvPr id="20" name="Rounded Rectangle 19"/>
          <p:cNvSpPr/>
          <p:nvPr/>
        </p:nvSpPr>
        <p:spPr>
          <a:xfrm>
            <a:off x="8046719" y="2880360"/>
            <a:ext cx="164592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Run it on the real arm</a:t>
            </a:r>
          </a:p>
        </p:txBody>
      </p:sp>
      <p:cxnSp>
        <p:nvCxnSpPr>
          <p:cNvPr id="21" name="Connector 20"/>
          <p:cNvCxnSpPr/>
          <p:nvPr/>
        </p:nvCxnSpPr>
        <p:spPr>
          <a:xfrm>
            <a:off x="9710928" y="2286000"/>
            <a:ext cx="192023" cy="0"/>
          </a:xfrm>
          <a:prstGeom prst="line">
            <a:avLst/>
          </a:prstGeom>
          <a:ln w="254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921240" y="1828800"/>
            <a:ext cx="16459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Improve</a:t>
            </a:r>
          </a:p>
        </p:txBody>
      </p:sp>
      <p:sp>
        <p:nvSpPr>
          <p:cNvPr id="23" name="Rounded Rectangle 22"/>
          <p:cNvSpPr/>
          <p:nvPr/>
        </p:nvSpPr>
        <p:spPr>
          <a:xfrm>
            <a:off x="9921240" y="2880360"/>
            <a:ext cx="164592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Fix the main failure, repeat</a:t>
            </a:r>
          </a:p>
        </p:txBody>
      </p:sp>
      <p:sp>
        <p:nvSpPr>
          <p:cNvPr id="24" name="Rounded Rectangle 23"/>
          <p:cNvSpPr/>
          <p:nvPr/>
        </p:nvSpPr>
        <p:spPr>
          <a:xfrm>
            <a:off x="548640" y="4526280"/>
            <a:ext cx="11064240" cy="10972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Simulation helps most at the start. </a:t>
            </a:r>
            <a:r>
              <a:rPr sz="1700" b="0" i="0">
                <a:solidFill>
                  <a:srgbClr val="1F2433"/>
                </a:solidFill>
              </a:rPr>
              <a:t>Evaluation and improvement are where most real projects spend their time.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ways to train an arm</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ectangle 6"/>
          <p:cNvSpPr/>
          <p:nvPr/>
        </p:nvSpPr>
        <p:spPr>
          <a:xfrm>
            <a:off x="548640" y="2194560"/>
            <a:ext cx="23774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5B6275"/>
                </a:solidFill>
              </a:rPr>
              <a:t>Where data comes from</a:t>
            </a:r>
          </a:p>
        </p:txBody>
      </p:sp>
      <p:sp>
        <p:nvSpPr>
          <p:cNvPr id="8" name="Rectangle 7"/>
          <p:cNvSpPr/>
          <p:nvPr/>
        </p:nvSpPr>
        <p:spPr>
          <a:xfrm>
            <a:off x="548640" y="3017520"/>
            <a:ext cx="23774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5B6275"/>
                </a:solidFill>
              </a:rPr>
              <a:t>What you provide</a:t>
            </a:r>
          </a:p>
        </p:txBody>
      </p:sp>
      <p:sp>
        <p:nvSpPr>
          <p:cNvPr id="9" name="Rectangle 8"/>
          <p:cNvSpPr/>
          <p:nvPr/>
        </p:nvSpPr>
        <p:spPr>
          <a:xfrm>
            <a:off x="548640" y="3840480"/>
            <a:ext cx="23774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5B6275"/>
                </a:solidFill>
              </a:rPr>
              <a:t>Where it trains</a:t>
            </a:r>
          </a:p>
        </p:txBody>
      </p:sp>
      <p:sp>
        <p:nvSpPr>
          <p:cNvPr id="10" name="Rectangle 9"/>
          <p:cNvSpPr/>
          <p:nvPr/>
        </p:nvSpPr>
        <p:spPr>
          <a:xfrm>
            <a:off x="548640" y="4663440"/>
            <a:ext cx="23774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5B6275"/>
                </a:solidFill>
              </a:rPr>
              <a:t>Typical failure</a:t>
            </a:r>
          </a:p>
        </p:txBody>
      </p:sp>
      <p:sp>
        <p:nvSpPr>
          <p:cNvPr id="11" name="Rounded Rectangle 10"/>
          <p:cNvSpPr/>
          <p:nvPr/>
        </p:nvSpPr>
        <p:spPr>
          <a:xfrm>
            <a:off x="3017520" y="1508760"/>
            <a:ext cx="2743200" cy="5943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Reinforcement learning</a:t>
            </a:r>
          </a:p>
        </p:txBody>
      </p:sp>
      <p:sp>
        <p:nvSpPr>
          <p:cNvPr id="12" name="Rounded Rectangle 11"/>
          <p:cNvSpPr/>
          <p:nvPr/>
        </p:nvSpPr>
        <p:spPr>
          <a:xfrm>
            <a:off x="3017520" y="219456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Robot tries, gets a score</a:t>
            </a:r>
          </a:p>
        </p:txBody>
      </p:sp>
      <p:sp>
        <p:nvSpPr>
          <p:cNvPr id="13" name="Rounded Rectangle 12"/>
          <p:cNvSpPr/>
          <p:nvPr/>
        </p:nvSpPr>
        <p:spPr>
          <a:xfrm>
            <a:off x="3017520" y="301752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You write the reward</a:t>
            </a:r>
          </a:p>
        </p:txBody>
      </p:sp>
      <p:sp>
        <p:nvSpPr>
          <p:cNvPr id="14" name="Rounded Rectangle 13"/>
          <p:cNvSpPr/>
          <p:nvPr/>
        </p:nvSpPr>
        <p:spPr>
          <a:xfrm>
            <a:off x="3017520" y="384048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Mostly in simulation</a:t>
            </a:r>
          </a:p>
        </p:txBody>
      </p:sp>
      <p:sp>
        <p:nvSpPr>
          <p:cNvPr id="15" name="Rounded Rectangle 14"/>
          <p:cNvSpPr/>
          <p:nvPr/>
        </p:nvSpPr>
        <p:spPr>
          <a:xfrm>
            <a:off x="3017520" y="466344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Fails by reward hacking</a:t>
            </a:r>
          </a:p>
        </p:txBody>
      </p:sp>
      <p:sp>
        <p:nvSpPr>
          <p:cNvPr id="16" name="Rounded Rectangle 15"/>
          <p:cNvSpPr/>
          <p:nvPr/>
        </p:nvSpPr>
        <p:spPr>
          <a:xfrm>
            <a:off x="5897879" y="1508760"/>
            <a:ext cx="2743200" cy="59436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Imitation learning</a:t>
            </a:r>
          </a:p>
        </p:txBody>
      </p:sp>
      <p:sp>
        <p:nvSpPr>
          <p:cNvPr id="17" name="Rounded Rectangle 16"/>
          <p:cNvSpPr/>
          <p:nvPr/>
        </p:nvSpPr>
        <p:spPr>
          <a:xfrm>
            <a:off x="5897879" y="219456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Human demonstrates</a:t>
            </a:r>
          </a:p>
        </p:txBody>
      </p:sp>
      <p:sp>
        <p:nvSpPr>
          <p:cNvPr id="18" name="Rounded Rectangle 17"/>
          <p:cNvSpPr/>
          <p:nvPr/>
        </p:nvSpPr>
        <p:spPr>
          <a:xfrm>
            <a:off x="5897879" y="301752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You record the dataset</a:t>
            </a:r>
          </a:p>
        </p:txBody>
      </p:sp>
      <p:sp>
        <p:nvSpPr>
          <p:cNvPr id="19" name="Rounded Rectangle 18"/>
          <p:cNvSpPr/>
          <p:nvPr/>
        </p:nvSpPr>
        <p:spPr>
          <a:xfrm>
            <a:off x="5897879" y="384048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Real arm, no reward</a:t>
            </a:r>
          </a:p>
        </p:txBody>
      </p:sp>
      <p:sp>
        <p:nvSpPr>
          <p:cNvPr id="20" name="Rounded Rectangle 19"/>
          <p:cNvSpPr/>
          <p:nvPr/>
        </p:nvSpPr>
        <p:spPr>
          <a:xfrm>
            <a:off x="5897879" y="466344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Fails off its training data</a:t>
            </a:r>
          </a:p>
        </p:txBody>
      </p:sp>
      <p:sp>
        <p:nvSpPr>
          <p:cNvPr id="21" name="Rounded Rectangle 20"/>
          <p:cNvSpPr/>
          <p:nvPr/>
        </p:nvSpPr>
        <p:spPr>
          <a:xfrm>
            <a:off x="8778240" y="1508760"/>
            <a:ext cx="2743200" cy="59436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Vision-language-action</a:t>
            </a:r>
          </a:p>
        </p:txBody>
      </p:sp>
      <p:sp>
        <p:nvSpPr>
          <p:cNvPr id="22" name="Rounded Rectangle 21"/>
          <p:cNvSpPr/>
          <p:nvPr/>
        </p:nvSpPr>
        <p:spPr>
          <a:xfrm>
            <a:off x="8778240" y="219456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Demos + a sentence</a:t>
            </a:r>
          </a:p>
        </p:txBody>
      </p:sp>
      <p:sp>
        <p:nvSpPr>
          <p:cNvPr id="23" name="Rounded Rectangle 22"/>
          <p:cNvSpPr/>
          <p:nvPr/>
        </p:nvSpPr>
        <p:spPr>
          <a:xfrm>
            <a:off x="8778240" y="301752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Fine-tune a big pretrained model</a:t>
            </a:r>
          </a:p>
        </p:txBody>
      </p:sp>
      <p:sp>
        <p:nvSpPr>
          <p:cNvPr id="24" name="Rounded Rectangle 23"/>
          <p:cNvSpPr/>
          <p:nvPr/>
        </p:nvSpPr>
        <p:spPr>
          <a:xfrm>
            <a:off x="8778240" y="384048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One model, many tasks</a:t>
            </a:r>
          </a:p>
        </p:txBody>
      </p:sp>
      <p:sp>
        <p:nvSpPr>
          <p:cNvPr id="25" name="Rounded Rectangle 24"/>
          <p:cNvSpPr/>
          <p:nvPr/>
        </p:nvSpPr>
        <p:spPr>
          <a:xfrm>
            <a:off x="8778240" y="4663440"/>
            <a:ext cx="2743200" cy="7315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Can pick the wrong task</a:t>
            </a:r>
          </a:p>
        </p:txBody>
      </p:sp>
      <p:sp>
        <p:nvSpPr>
          <p:cNvPr id="26" name="Rectangle 25"/>
          <p:cNvSpPr/>
          <p:nvPr/>
        </p:nvSpPr>
        <p:spPr>
          <a:xfrm>
            <a:off x="548640" y="5532120"/>
            <a:ext cx="110642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1" i="0">
                <a:solidFill>
                  <a:srgbClr val="164194"/>
                </a:solidFill>
              </a:rPr>
              <a:t>The key question: does the data come from the robot trying, or from a person showing?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roadmap: 14 weeks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828800"/>
            <a:ext cx="731520" cy="1188720"/>
          </a:xfrm>
          <a:prstGeom prst="roundRect">
            <a:avLst>
              <a:gd name="adj" fmla="val 12000"/>
            </a:avLst>
          </a:prstGeom>
          <a:solidFill>
            <a:srgbClr val="EEF1F9"/>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1</a:t>
            </a:r>
          </a:p>
          <a:p>
            <a:pPr algn="ctr"/>
            <a:r>
              <a:rPr sz="1800" b="1" i="0">
                <a:solidFill>
                  <a:srgbClr val="164194"/>
                </a:solidFill>
              </a:rPr>
              <a:t>L1</a:t>
            </a:r>
          </a:p>
          <a:p>
            <a:pPr algn="ctr"/>
            <a:r>
              <a:rPr sz="1100" b="0" i="0">
                <a:solidFill>
                  <a:srgbClr val="5B6275"/>
                </a:solidFill>
              </a:rPr>
              <a:t>Lec</a:t>
            </a:r>
          </a:p>
        </p:txBody>
      </p:sp>
      <p:sp>
        <p:nvSpPr>
          <p:cNvPr id="8" name="Rounded Rectangle 7"/>
          <p:cNvSpPr/>
          <p:nvPr/>
        </p:nvSpPr>
        <p:spPr>
          <a:xfrm>
            <a:off x="1339595" y="1828800"/>
            <a:ext cx="731520" cy="11887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2</a:t>
            </a:r>
          </a:p>
          <a:p>
            <a:pPr algn="ctr"/>
            <a:r>
              <a:rPr sz="1800" b="1" i="0">
                <a:solidFill>
                  <a:srgbClr val="0F6E6A"/>
                </a:solidFill>
              </a:rPr>
              <a:t>L2</a:t>
            </a:r>
          </a:p>
          <a:p>
            <a:pPr algn="ctr"/>
            <a:r>
              <a:rPr sz="1100" b="0" i="0">
                <a:solidFill>
                  <a:srgbClr val="5B6275"/>
                </a:solidFill>
              </a:rPr>
              <a:t>Lab</a:t>
            </a:r>
          </a:p>
        </p:txBody>
      </p:sp>
      <p:sp>
        <p:nvSpPr>
          <p:cNvPr id="9" name="Rounded Rectangle 8"/>
          <p:cNvSpPr/>
          <p:nvPr/>
        </p:nvSpPr>
        <p:spPr>
          <a:xfrm>
            <a:off x="2130552" y="1828800"/>
            <a:ext cx="731520" cy="11887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3</a:t>
            </a:r>
          </a:p>
          <a:p>
            <a:pPr algn="ctr"/>
            <a:r>
              <a:rPr sz="1800" b="1" i="0">
                <a:solidFill>
                  <a:srgbClr val="164194"/>
                </a:solidFill>
              </a:rPr>
              <a:t>L3</a:t>
            </a:r>
          </a:p>
          <a:p>
            <a:pPr algn="ctr"/>
            <a:r>
              <a:rPr sz="1100" b="0" i="0">
                <a:solidFill>
                  <a:srgbClr val="5B6275"/>
                </a:solidFill>
              </a:rPr>
              <a:t>Lec</a:t>
            </a:r>
          </a:p>
        </p:txBody>
      </p:sp>
      <p:sp>
        <p:nvSpPr>
          <p:cNvPr id="10" name="Rounded Rectangle 9"/>
          <p:cNvSpPr/>
          <p:nvPr/>
        </p:nvSpPr>
        <p:spPr>
          <a:xfrm>
            <a:off x="2921508" y="1828800"/>
            <a:ext cx="731520" cy="11887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4</a:t>
            </a:r>
          </a:p>
          <a:p>
            <a:pPr algn="ctr"/>
            <a:r>
              <a:rPr sz="1800" b="1" i="0">
                <a:solidFill>
                  <a:srgbClr val="0F6E6A"/>
                </a:solidFill>
              </a:rPr>
              <a:t>L4</a:t>
            </a:r>
          </a:p>
          <a:p>
            <a:pPr algn="ctr"/>
            <a:r>
              <a:rPr sz="1100" b="0" i="0">
                <a:solidFill>
                  <a:srgbClr val="5B6275"/>
                </a:solidFill>
              </a:rPr>
              <a:t>Lab</a:t>
            </a:r>
          </a:p>
        </p:txBody>
      </p:sp>
      <p:sp>
        <p:nvSpPr>
          <p:cNvPr id="11" name="Rounded Rectangle 10"/>
          <p:cNvSpPr/>
          <p:nvPr/>
        </p:nvSpPr>
        <p:spPr>
          <a:xfrm>
            <a:off x="3712463" y="1828800"/>
            <a:ext cx="731520" cy="11887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5</a:t>
            </a:r>
          </a:p>
          <a:p>
            <a:pPr algn="ctr"/>
            <a:r>
              <a:rPr sz="1800" b="1" i="0">
                <a:solidFill>
                  <a:srgbClr val="164194"/>
                </a:solidFill>
              </a:rPr>
              <a:t>L5</a:t>
            </a:r>
          </a:p>
          <a:p>
            <a:pPr algn="ctr"/>
            <a:r>
              <a:rPr sz="1100" b="0" i="0">
                <a:solidFill>
                  <a:srgbClr val="5B6275"/>
                </a:solidFill>
              </a:rPr>
              <a:t>Lec</a:t>
            </a:r>
          </a:p>
        </p:txBody>
      </p:sp>
      <p:sp>
        <p:nvSpPr>
          <p:cNvPr id="12" name="Rounded Rectangle 11"/>
          <p:cNvSpPr/>
          <p:nvPr/>
        </p:nvSpPr>
        <p:spPr>
          <a:xfrm>
            <a:off x="4503420" y="1828800"/>
            <a:ext cx="731520" cy="11887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6</a:t>
            </a:r>
          </a:p>
          <a:p>
            <a:pPr algn="ctr"/>
            <a:r>
              <a:rPr sz="1800" b="1" i="0">
                <a:solidFill>
                  <a:srgbClr val="0F6E6A"/>
                </a:solidFill>
              </a:rPr>
              <a:t>L6</a:t>
            </a:r>
          </a:p>
          <a:p>
            <a:pPr algn="ctr"/>
            <a:r>
              <a:rPr sz="1100" b="0" i="0">
                <a:solidFill>
                  <a:srgbClr val="5B6275"/>
                </a:solidFill>
              </a:rPr>
              <a:t>Lab</a:t>
            </a:r>
          </a:p>
        </p:txBody>
      </p:sp>
      <p:sp>
        <p:nvSpPr>
          <p:cNvPr id="13" name="Rounded Rectangle 12"/>
          <p:cNvSpPr/>
          <p:nvPr/>
        </p:nvSpPr>
        <p:spPr>
          <a:xfrm>
            <a:off x="5294375" y="1828800"/>
            <a:ext cx="731520" cy="11887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7</a:t>
            </a:r>
          </a:p>
          <a:p>
            <a:pPr algn="ctr"/>
            <a:r>
              <a:rPr sz="1800" b="1" i="0">
                <a:solidFill>
                  <a:srgbClr val="164194"/>
                </a:solidFill>
              </a:rPr>
              <a:t>L7</a:t>
            </a:r>
          </a:p>
          <a:p>
            <a:pPr algn="ctr"/>
            <a:r>
              <a:rPr sz="1100" b="0" i="0">
                <a:solidFill>
                  <a:srgbClr val="5B6275"/>
                </a:solidFill>
              </a:rPr>
              <a:t>Lec</a:t>
            </a:r>
          </a:p>
        </p:txBody>
      </p:sp>
      <p:sp>
        <p:nvSpPr>
          <p:cNvPr id="14" name="Rounded Rectangle 13"/>
          <p:cNvSpPr/>
          <p:nvPr/>
        </p:nvSpPr>
        <p:spPr>
          <a:xfrm>
            <a:off x="6085331" y="1828800"/>
            <a:ext cx="731520" cy="11887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8</a:t>
            </a:r>
          </a:p>
          <a:p>
            <a:pPr algn="ctr"/>
            <a:r>
              <a:rPr sz="1800" b="1" i="0">
                <a:solidFill>
                  <a:srgbClr val="0F6E6A"/>
                </a:solidFill>
              </a:rPr>
              <a:t>L8</a:t>
            </a:r>
          </a:p>
          <a:p>
            <a:pPr algn="ctr"/>
            <a:r>
              <a:rPr sz="1100" b="0" i="0">
                <a:solidFill>
                  <a:srgbClr val="5B6275"/>
                </a:solidFill>
              </a:rPr>
              <a:t>Lab</a:t>
            </a:r>
          </a:p>
        </p:txBody>
      </p:sp>
      <p:sp>
        <p:nvSpPr>
          <p:cNvPr id="15" name="Rounded Rectangle 14"/>
          <p:cNvSpPr/>
          <p:nvPr/>
        </p:nvSpPr>
        <p:spPr>
          <a:xfrm>
            <a:off x="6876288" y="1828800"/>
            <a:ext cx="731520" cy="11887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9</a:t>
            </a:r>
          </a:p>
          <a:p>
            <a:pPr algn="ctr"/>
            <a:r>
              <a:rPr sz="1800" b="1" i="0">
                <a:solidFill>
                  <a:srgbClr val="164194"/>
                </a:solidFill>
              </a:rPr>
              <a:t>L9</a:t>
            </a:r>
          </a:p>
          <a:p>
            <a:pPr algn="ctr"/>
            <a:r>
              <a:rPr sz="1100" b="0" i="0">
                <a:solidFill>
                  <a:srgbClr val="5B6275"/>
                </a:solidFill>
              </a:rPr>
              <a:t>Lec</a:t>
            </a:r>
          </a:p>
        </p:txBody>
      </p:sp>
      <p:sp>
        <p:nvSpPr>
          <p:cNvPr id="16" name="Rounded Rectangle 15"/>
          <p:cNvSpPr/>
          <p:nvPr/>
        </p:nvSpPr>
        <p:spPr>
          <a:xfrm>
            <a:off x="7667244" y="1828800"/>
            <a:ext cx="731520" cy="11887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10</a:t>
            </a:r>
          </a:p>
          <a:p>
            <a:pPr algn="ctr"/>
            <a:r>
              <a:rPr sz="1800" b="1" i="0">
                <a:solidFill>
                  <a:srgbClr val="0F6E6A"/>
                </a:solidFill>
              </a:rPr>
              <a:t>L10</a:t>
            </a:r>
          </a:p>
          <a:p>
            <a:pPr algn="ctr"/>
            <a:r>
              <a:rPr sz="1100" b="0" i="0">
                <a:solidFill>
                  <a:srgbClr val="5B6275"/>
                </a:solidFill>
              </a:rPr>
              <a:t>Lab</a:t>
            </a:r>
          </a:p>
        </p:txBody>
      </p:sp>
      <p:sp>
        <p:nvSpPr>
          <p:cNvPr id="17" name="Rounded Rectangle 16"/>
          <p:cNvSpPr/>
          <p:nvPr/>
        </p:nvSpPr>
        <p:spPr>
          <a:xfrm>
            <a:off x="8458200" y="1828800"/>
            <a:ext cx="731520" cy="11887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11</a:t>
            </a:r>
          </a:p>
          <a:p>
            <a:pPr algn="ctr"/>
            <a:r>
              <a:rPr sz="1800" b="1" i="0">
                <a:solidFill>
                  <a:srgbClr val="164194"/>
                </a:solidFill>
              </a:rPr>
              <a:t>L11</a:t>
            </a:r>
          </a:p>
          <a:p>
            <a:pPr algn="ctr"/>
            <a:r>
              <a:rPr sz="1100" b="0" i="0">
                <a:solidFill>
                  <a:srgbClr val="5B6275"/>
                </a:solidFill>
              </a:rPr>
              <a:t>Lec</a:t>
            </a:r>
          </a:p>
        </p:txBody>
      </p:sp>
      <p:sp>
        <p:nvSpPr>
          <p:cNvPr id="18" name="Rounded Rectangle 17"/>
          <p:cNvSpPr/>
          <p:nvPr/>
        </p:nvSpPr>
        <p:spPr>
          <a:xfrm>
            <a:off x="9249156" y="1828800"/>
            <a:ext cx="731520" cy="11887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12</a:t>
            </a:r>
          </a:p>
          <a:p>
            <a:pPr algn="ctr"/>
            <a:r>
              <a:rPr sz="1800" b="1" i="0">
                <a:solidFill>
                  <a:srgbClr val="0F6E6A"/>
                </a:solidFill>
              </a:rPr>
              <a:t>L12</a:t>
            </a:r>
          </a:p>
          <a:p>
            <a:pPr algn="ctr"/>
            <a:r>
              <a:rPr sz="1100" b="0" i="0">
                <a:solidFill>
                  <a:srgbClr val="5B6275"/>
                </a:solidFill>
              </a:rPr>
              <a:t>Lab</a:t>
            </a:r>
          </a:p>
        </p:txBody>
      </p:sp>
      <p:sp>
        <p:nvSpPr>
          <p:cNvPr id="19" name="Rounded Rectangle 18"/>
          <p:cNvSpPr/>
          <p:nvPr/>
        </p:nvSpPr>
        <p:spPr>
          <a:xfrm>
            <a:off x="10040111" y="1828800"/>
            <a:ext cx="731520" cy="11887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13</a:t>
            </a:r>
          </a:p>
          <a:p>
            <a:pPr algn="ctr"/>
            <a:r>
              <a:rPr sz="1800" b="1" i="0">
                <a:solidFill>
                  <a:srgbClr val="164194"/>
                </a:solidFill>
              </a:rPr>
              <a:t>L13</a:t>
            </a:r>
          </a:p>
          <a:p>
            <a:pPr algn="ctr"/>
            <a:r>
              <a:rPr sz="1100" b="0" i="0">
                <a:solidFill>
                  <a:srgbClr val="5B6275"/>
                </a:solidFill>
              </a:rPr>
              <a:t>Lec</a:t>
            </a:r>
          </a:p>
        </p:txBody>
      </p:sp>
      <p:sp>
        <p:nvSpPr>
          <p:cNvPr id="20" name="Rounded Rectangle 19"/>
          <p:cNvSpPr/>
          <p:nvPr/>
        </p:nvSpPr>
        <p:spPr>
          <a:xfrm>
            <a:off x="10831067" y="1828800"/>
            <a:ext cx="731520" cy="11887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0" i="0">
                <a:solidFill>
                  <a:srgbClr val="5B6275"/>
                </a:solidFill>
              </a:rPr>
              <a:t>Wk 14</a:t>
            </a:r>
          </a:p>
          <a:p>
            <a:pPr algn="ctr"/>
            <a:r>
              <a:rPr sz="1800" b="1" i="0">
                <a:solidFill>
                  <a:srgbClr val="0F6E6A"/>
                </a:solidFill>
              </a:rPr>
              <a:t>L14</a:t>
            </a:r>
          </a:p>
          <a:p>
            <a:pPr algn="ctr"/>
            <a:r>
              <a:rPr sz="1100" b="0" i="0">
                <a:solidFill>
                  <a:srgbClr val="5B6275"/>
                </a:solidFill>
              </a:rPr>
              <a:t>Lab</a:t>
            </a:r>
          </a:p>
        </p:txBody>
      </p:sp>
      <p:sp>
        <p:nvSpPr>
          <p:cNvPr id="21" name="Rectangle 20"/>
          <p:cNvSpPr/>
          <p:nvPr/>
        </p:nvSpPr>
        <p:spPr>
          <a:xfrm>
            <a:off x="548640" y="1417320"/>
            <a:ext cx="158191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1" i="0">
                <a:solidFill>
                  <a:srgbClr val="164194"/>
                </a:solidFill>
              </a:rPr>
              <a:t>Foundations</a:t>
            </a:r>
          </a:p>
        </p:txBody>
      </p:sp>
      <p:sp>
        <p:nvSpPr>
          <p:cNvPr id="22" name="Rectangle 21"/>
          <p:cNvSpPr/>
          <p:nvPr/>
        </p:nvSpPr>
        <p:spPr>
          <a:xfrm>
            <a:off x="2130552" y="1417320"/>
            <a:ext cx="158191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1" i="0">
                <a:solidFill>
                  <a:srgbClr val="164194"/>
                </a:solidFill>
              </a:rPr>
              <a:t>Data</a:t>
            </a:r>
          </a:p>
        </p:txBody>
      </p:sp>
      <p:sp>
        <p:nvSpPr>
          <p:cNvPr id="23" name="Rectangle 22"/>
          <p:cNvSpPr/>
          <p:nvPr/>
        </p:nvSpPr>
        <p:spPr>
          <a:xfrm>
            <a:off x="3712463" y="1417320"/>
            <a:ext cx="158191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1" i="0">
                <a:solidFill>
                  <a:srgbClr val="164194"/>
                </a:solidFill>
              </a:rPr>
              <a:t>RL in sim</a:t>
            </a:r>
          </a:p>
        </p:txBody>
      </p:sp>
      <p:sp>
        <p:nvSpPr>
          <p:cNvPr id="24" name="Rectangle 23"/>
          <p:cNvSpPr/>
          <p:nvPr/>
        </p:nvSpPr>
        <p:spPr>
          <a:xfrm>
            <a:off x="5294375" y="1417320"/>
            <a:ext cx="158191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1" i="0">
                <a:solidFill>
                  <a:srgbClr val="164194"/>
                </a:solidFill>
              </a:rPr>
              <a:t>RL → arm</a:t>
            </a:r>
          </a:p>
        </p:txBody>
      </p:sp>
      <p:sp>
        <p:nvSpPr>
          <p:cNvPr id="25" name="Rectangle 24"/>
          <p:cNvSpPr/>
          <p:nvPr/>
        </p:nvSpPr>
        <p:spPr>
          <a:xfrm>
            <a:off x="6876288" y="1417320"/>
            <a:ext cx="158191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1" i="0">
                <a:solidFill>
                  <a:srgbClr val="164194"/>
                </a:solidFill>
              </a:rPr>
              <a:t>Imitation</a:t>
            </a:r>
          </a:p>
        </p:txBody>
      </p:sp>
      <p:sp>
        <p:nvSpPr>
          <p:cNvPr id="26" name="Rectangle 25"/>
          <p:cNvSpPr/>
          <p:nvPr/>
        </p:nvSpPr>
        <p:spPr>
          <a:xfrm>
            <a:off x="8458200" y="1417320"/>
            <a:ext cx="158191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1" i="0">
                <a:solidFill>
                  <a:srgbClr val="164194"/>
                </a:solidFill>
              </a:rPr>
              <a:t>Evaluate</a:t>
            </a:r>
          </a:p>
        </p:txBody>
      </p:sp>
      <p:sp>
        <p:nvSpPr>
          <p:cNvPr id="27" name="Rectangle 26"/>
          <p:cNvSpPr/>
          <p:nvPr/>
        </p:nvSpPr>
        <p:spPr>
          <a:xfrm>
            <a:off x="10040111" y="1417320"/>
            <a:ext cx="158191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200" b="1" i="0">
                <a:solidFill>
                  <a:srgbClr val="164194"/>
                </a:solidFill>
              </a:rPr>
              <a:t>VLA</a:t>
            </a:r>
          </a:p>
        </p:txBody>
      </p:sp>
      <p:sp>
        <p:nvSpPr>
          <p:cNvPr id="28" name="Rounded Rectangle 27"/>
          <p:cNvSpPr/>
          <p:nvPr/>
        </p:nvSpPr>
        <p:spPr>
          <a:xfrm>
            <a:off x="548640" y="3520440"/>
            <a:ext cx="3520440" cy="1005840"/>
          </a:xfrm>
          <a:prstGeom prst="roundRect">
            <a:avLst>
              <a:gd name="adj" fmla="val 12000"/>
            </a:avLst>
          </a:prstGeom>
          <a:solidFill>
            <a:srgbClr val="FFF4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800" b="1" i="0">
                <a:solidFill>
                  <a:srgbClr val="8A5A00"/>
                </a:solidFill>
              </a:rPr>
              <a:t>Test 1</a:t>
            </a:r>
          </a:p>
          <a:p>
            <a:pPr algn="l"/>
            <a:r>
              <a:rPr sz="1400" b="0" i="0">
                <a:solidFill>
                  <a:srgbClr val="1F2433"/>
                </a:solidFill>
              </a:rPr>
              <a:t>after Week 8 · Lessons 1–8</a:t>
            </a:r>
          </a:p>
        </p:txBody>
      </p:sp>
      <p:sp>
        <p:nvSpPr>
          <p:cNvPr id="29" name="Rounded Rectangle 28"/>
          <p:cNvSpPr/>
          <p:nvPr/>
        </p:nvSpPr>
        <p:spPr>
          <a:xfrm>
            <a:off x="4297679" y="3520440"/>
            <a:ext cx="3520440" cy="1005840"/>
          </a:xfrm>
          <a:prstGeom prst="roundRect">
            <a:avLst>
              <a:gd name="adj" fmla="val 12000"/>
            </a:avLst>
          </a:prstGeom>
          <a:solidFill>
            <a:srgbClr val="FFF4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800" b="1" i="0">
                <a:solidFill>
                  <a:srgbClr val="8A5A00"/>
                </a:solidFill>
              </a:rPr>
              <a:t>Test 2</a:t>
            </a:r>
          </a:p>
          <a:p>
            <a:pPr algn="l"/>
            <a:r>
              <a:rPr sz="1400" b="0" i="0">
                <a:solidFill>
                  <a:srgbClr val="1F2433"/>
                </a:solidFill>
              </a:rPr>
              <a:t>after Week 14 · Lessons 9–14</a:t>
            </a:r>
          </a:p>
        </p:txBody>
      </p:sp>
      <p:sp>
        <p:nvSpPr>
          <p:cNvPr id="30" name="Rounded Rectangle 29"/>
          <p:cNvSpPr/>
          <p:nvPr/>
        </p:nvSpPr>
        <p:spPr>
          <a:xfrm>
            <a:off x="8046719" y="3520440"/>
            <a:ext cx="3520440" cy="1005840"/>
          </a:xfrm>
          <a:prstGeom prst="roundRect">
            <a:avLst>
              <a:gd name="adj" fmla="val 12000"/>
            </a:avLst>
          </a:prstGeom>
          <a:solidFill>
            <a:srgbClr val="FFF4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800" b="1" i="0">
                <a:solidFill>
                  <a:srgbClr val="8A5A00"/>
                </a:solidFill>
              </a:rPr>
              <a:t>Assignment</a:t>
            </a:r>
          </a:p>
          <a:p>
            <a:pPr algn="l"/>
            <a:r>
              <a:rPr sz="1400" b="0" i="0">
                <a:solidFill>
                  <a:srgbClr val="1F2433"/>
                </a:solidFill>
              </a:rPr>
              <a:t>pick-and-place project · demo after Week 14</a:t>
            </a:r>
          </a:p>
        </p:txBody>
      </p:sp>
      <p:sp>
        <p:nvSpPr>
          <p:cNvPr id="31" name="Rectangle 30"/>
          <p:cNvSpPr/>
          <p:nvPr/>
        </p:nvSpPr>
        <p:spPr>
          <a:xfrm>
            <a:off x="548640" y="4846320"/>
            <a:ext cx="1106424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0" i="0">
                <a:solidFill>
                  <a:srgbClr val="5B6275"/>
                </a:solidFill>
              </a:rPr>
              <a:t>Lecture weeks explain the idea; lab weeks make it run in Isaac Sim and on the SO-101. Each lesson starts with a short check on the last one.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Activity: Spot the stage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ectangle 6"/>
          <p:cNvSpPr/>
          <p:nvPr/>
        </p:nvSpPr>
        <p:spPr>
          <a:xfrm>
            <a:off x="548640" y="1463040"/>
            <a:ext cx="110642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800" b="0" i="0">
                <a:solidFill>
                  <a:srgbClr val="1F2433"/>
                </a:solidFill>
              </a:rPr>
              <a:t>In pairs, label each card with a lifecycle stage and the method it belongs to (RL, IL or VLA).</a:t>
            </a:r>
          </a:p>
        </p:txBody>
      </p:sp>
      <p:sp>
        <p:nvSpPr>
          <p:cNvPr id="8" name="Rounded Rectangle 7"/>
          <p:cNvSpPr/>
          <p:nvPr/>
        </p:nvSpPr>
        <p:spPr>
          <a:xfrm>
            <a:off x="548640" y="2377440"/>
            <a:ext cx="5394960" cy="1371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1">
                <a:solidFill>
                  <a:srgbClr val="1F2433"/>
                </a:solidFill>
              </a:rPr>
              <a:t>“A student hand-guides the leader arm fifty times.”</a:t>
            </a:r>
          </a:p>
          <a:p>
            <a:pPr algn="l"/>
            <a:r>
              <a:rPr sz="1300" b="0" i="0">
                <a:solidFill>
                  <a:srgbClr val="5B6275"/>
                </a:solidFill>
              </a:rPr>
              <a:t>Answer: Collect data · IL</a:t>
            </a:r>
          </a:p>
        </p:txBody>
      </p:sp>
      <p:sp>
        <p:nvSpPr>
          <p:cNvPr id="9" name="Rounded Rectangle 8"/>
          <p:cNvSpPr/>
          <p:nvPr/>
        </p:nvSpPr>
        <p:spPr>
          <a:xfrm>
            <a:off x="6172200" y="2377440"/>
            <a:ext cx="5394960" cy="1371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1">
                <a:solidFill>
                  <a:srgbClr val="1F2433"/>
                </a:solidFill>
              </a:rPr>
              <a:t>“4,096 simulated arms try to reach a target.”</a:t>
            </a:r>
          </a:p>
          <a:p>
            <a:pPr algn="l"/>
            <a:r>
              <a:rPr sz="1300" b="0" i="0">
                <a:solidFill>
                  <a:srgbClr val="5B6275"/>
                </a:solidFill>
              </a:rPr>
              <a:t>Answer: Train · RL</a:t>
            </a:r>
          </a:p>
        </p:txBody>
      </p:sp>
      <p:sp>
        <p:nvSpPr>
          <p:cNvPr id="10" name="Rounded Rectangle 9"/>
          <p:cNvSpPr/>
          <p:nvPr/>
        </p:nvSpPr>
        <p:spPr>
          <a:xfrm>
            <a:off x="548640" y="3977639"/>
            <a:ext cx="5394960" cy="1371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1">
                <a:solidFill>
                  <a:srgbClr val="1F2433"/>
                </a:solidFill>
              </a:rPr>
              <a:t>“The policy succeeds 14 times out of 20 on the real arm.”</a:t>
            </a:r>
          </a:p>
          <a:p>
            <a:pPr algn="l"/>
            <a:r>
              <a:rPr sz="1300" b="0" i="0">
                <a:solidFill>
                  <a:srgbClr val="5B6275"/>
                </a:solidFill>
              </a:rPr>
              <a:t>Answer: Evaluate · any</a:t>
            </a:r>
          </a:p>
        </p:txBody>
      </p:sp>
      <p:sp>
        <p:nvSpPr>
          <p:cNvPr id="11" name="Rounded Rectangle 10"/>
          <p:cNvSpPr/>
          <p:nvPr/>
        </p:nvSpPr>
        <p:spPr>
          <a:xfrm>
            <a:off x="6172200" y="3977639"/>
            <a:ext cx="5394960" cy="1371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1">
                <a:solidFill>
                  <a:srgbClr val="1F2433"/>
                </a:solidFill>
              </a:rPr>
              <a:t>“Each demo is saved with ‘pick the blue cube’.”</a:t>
            </a:r>
          </a:p>
          <a:p>
            <a:pPr algn="l"/>
            <a:r>
              <a:rPr sz="1300" b="0" i="0">
                <a:solidFill>
                  <a:srgbClr val="5B6275"/>
                </a:solidFill>
              </a:rPr>
              <a:t>Answer: Collect data · VLA</a:t>
            </a:r>
          </a:p>
        </p:txBody>
      </p:sp>
      <p:sp>
        <p:nvSpPr>
          <p:cNvPr id="12" name="Rectangle 11"/>
          <p:cNvSpPr/>
          <p:nvPr/>
        </p:nvSpPr>
        <p:spPr>
          <a:xfrm>
            <a:off x="548640" y="5623560"/>
            <a:ext cx="110642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300" b="0" i="0">
                <a:solidFill>
                  <a:srgbClr val="5B6275"/>
                </a:solidFill>
              </a:rPr>
              <a:t>10 minutes · 8 cards per pair · answers shown on screen afterwards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Exit ticket</a:t>
            </a:r>
          </a:p>
        </p:txBody>
      </p:sp>
      <p:sp>
        <p:nvSpPr>
          <p:cNvPr id="3" name="Text Placeholder 2"/>
          <p:cNvSpPr>
            <a:spLocks noGrp="1"/>
          </p:cNvSpPr>
          <p:nvPr>
            <p:ph type="body" idx="11" sz="quarter"/>
          </p:nvPr>
        </p:nvSpPr>
        <p:spPr/>
        <p:txBody>
          <a:bodyPr/>
          <a:lstStyle/>
          <a:p>
            <a:pPr/>
            <a:r>
              <a:rPr sz="2200"/>
              <a:t>Answer on paper or in the form before you leave:</a:t>
            </a:r>
          </a:p>
          <a:p>
            <a:pPr lvl="1"/>
            <a:r>
              <a:rPr sz="2000"/>
              <a:t>What does the SO-101 policy receive as its observation each step?</a:t>
            </a:r>
          </a:p>
          <a:p>
            <a:pPr lvl="1"/>
            <a:r>
              <a:rPr sz="2000"/>
              <a:t>What does it output as its action?</a:t>
            </a:r>
          </a:p>
          <a:p>
            <a:pPr lvl="1"/>
            <a:r>
              <a:rPr sz="2000"/>
              <a:t>Put the six lifecycle stages in order.</a:t>
            </a:r>
          </a:p>
          <a:p>
            <a:pPr lvl="1"/>
            <a:r>
              <a:rPr sz="2000"/>
              <a:t>Where does reinforcement learning get its training data?</a:t>
            </a:r>
          </a:p>
          <a:p>
            <a:pPr lvl="1"/>
            <a:r>
              <a:rPr sz="2000"/>
              <a:t>Where does imitation learning get its training data?</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week: L2 lab · Meet the tools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548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Sim station · Isaac Sim</a:t>
            </a:r>
          </a:p>
        </p:txBody>
      </p:sp>
      <p:sp>
        <p:nvSpPr>
          <p:cNvPr id="8" name="Rounded Rectangle 7"/>
          <p:cNvSpPr/>
          <p:nvPr/>
        </p:nvSpPr>
        <p:spPr>
          <a:xfrm>
            <a:off x="548640" y="2103120"/>
            <a:ext cx="5394960" cy="21031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Tour the simulator</a:t>
            </a:r>
          </a:p>
          <a:p>
            <a:pPr algn="l"/>
            <a:r>
              <a:rPr sz="1600" b="0" i="0">
                <a:solidFill>
                  <a:srgbClr val="1F2433"/>
                </a:solidFill>
              </a:rPr>
              <a:t>Load the SO-101 and move each joint</a:t>
            </a:r>
          </a:p>
          <a:p>
            <a:pPr algn="l"/>
            <a:r>
              <a:rPr sz="1600" b="0" i="0">
                <a:solidFill>
                  <a:srgbClr val="1F2433"/>
                </a:solidFill>
              </a:rPr>
              <a:t>Watch a trained Reach policy</a:t>
            </a:r>
          </a:p>
        </p:txBody>
      </p:sp>
      <p:sp>
        <p:nvSpPr>
          <p:cNvPr id="9" name="Rounded Rectangle 8"/>
          <p:cNvSpPr/>
          <p:nvPr/>
        </p:nvSpPr>
        <p:spPr>
          <a:xfrm>
            <a:off x="6217920" y="1508760"/>
            <a:ext cx="5394960" cy="5486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Arm station · SO-101</a:t>
            </a:r>
          </a:p>
        </p:txBody>
      </p:sp>
      <p:sp>
        <p:nvSpPr>
          <p:cNvPr id="10" name="Rounded Rectangle 9"/>
          <p:cNvSpPr/>
          <p:nvPr/>
        </p:nvSpPr>
        <p:spPr>
          <a:xfrm>
            <a:off x="6217920" y="2103120"/>
            <a:ext cx="5394960" cy="21031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Calibrate leader and follower</a:t>
            </a:r>
          </a:p>
          <a:p>
            <a:pPr algn="l"/>
            <a:r>
              <a:rPr sz="1600" b="0" i="0">
                <a:solidFill>
                  <a:srgbClr val="1F2433"/>
                </a:solidFill>
              </a:rPr>
              <a:t>Teleoperate with live camera view</a:t>
            </a:r>
          </a:p>
          <a:p>
            <a:pPr algn="l"/>
            <a:r>
              <a:rPr sz="1600" b="0" i="0">
                <a:solidFill>
                  <a:srgbClr val="1F2433"/>
                </a:solidFill>
              </a:rPr>
              <a:t>Fill in the joint table</a:t>
            </a:r>
          </a:p>
        </p:txBody>
      </p:sp>
      <p:sp>
        <p:nvSpPr>
          <p:cNvPr id="11" name="Rounded Rectangle 10"/>
          <p:cNvSpPr/>
          <p:nvPr/>
        </p:nvSpPr>
        <p:spPr>
          <a:xfrm>
            <a:off x="548640" y="4480560"/>
            <a:ext cx="11064240" cy="118872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E30613"/>
                </a:solidFill>
              </a:rPr>
              <a:t>Safety first: </a:t>
            </a:r>
            <a:r>
              <a:rPr sz="1600" b="0" i="0">
                <a:solidFill>
                  <a:srgbClr val="1F2433"/>
                </a:solidFill>
              </a:rPr>
              <a:t>clear workspace, hands out of the follower's path, cut the power (not just USB) to stop, never leave a powered arm alone.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and further reading</a:t>
            </a:r>
          </a:p>
        </p:txBody>
      </p:sp>
      <p:sp>
        <p:nvSpPr>
          <p:cNvPr id="3" name="Text Placeholder 2"/>
          <p:cNvSpPr>
            <a:spLocks noGrp="1"/>
          </p:cNvSpPr>
          <p:nvPr>
            <p:ph type="body" idx="11" sz="quarter"/>
          </p:nvPr>
        </p:nvSpPr>
        <p:spPr/>
        <p:txBody>
          <a:bodyPr/>
          <a:lstStyle/>
          <a:p>
            <a:pPr/>
            <a:r>
              <a:rPr sz="1500"/>
              <a:t>Capuano et al. (2025). Robot Learning: A Tutorial. https://arxiv.org/abs/2510.12403</a:t>
            </a:r>
          </a:p>
          <a:p>
            <a:pPr/>
            <a:r>
              <a:rPr sz="1500"/>
              <a:t>Hugging Face LeRobot documentation: SO-101. https://huggingface.co/docs/lerobot/so101</a:t>
            </a:r>
          </a:p>
          <a:p>
            <a:pPr/>
            <a:r>
              <a:rPr sz="1500"/>
              <a:t>NVIDIA. Train an SO-101 Robot From Sim-to-Real With NVIDIA Isaac. https://docs.nvidia.com/learning/physical-ai/sim-to-real-so-101/latest/index.html</a:t>
            </a:r>
          </a:p>
          <a:p>
            <a:pPr/>
            <a:r>
              <a:rPr sz="1500"/>
              <a:t>Zhao et al. (2023). Learning Fine-Grained Bimanual Manipulation with Low-Cost Hardware (ACT). https://arxiv.org/abs/2304.13705</a:t>
            </a:r>
          </a:p>
          <a:p>
            <a:pPr/>
            <a:r>
              <a:rPr sz="1500"/>
              <a:t>Rudin et al. (2021). Learning to Walk in Minutes Using Massively Parallel Deep RL. https://arxiv.org/abs/2109.11978</a:t>
            </a:r>
          </a:p>
          <a:p>
            <a:pPr/>
            <a:r>
              <a:rPr sz="1500"/>
              <a:t>Lynch &amp; Park. Modern Robotics (free book and videos). https://hades.mech.northwestern.edu/index.php/Modern_Robotics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L1</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customXml/itemProps2.xml><?xml version="1.0" encoding="utf-8"?>
<ds:datastoreItem xmlns:ds="http://schemas.openxmlformats.org/officeDocument/2006/customXml" ds:itemID="{A30EE154-A736-456D-A3E2-27745362195B}">
  <ds:schemaRefs>
    <ds:schemaRef ds:uri="http://schemas.microsoft.com/sharepoint/v3/contenttype/forms"/>
  </ds:schemaRefs>
</ds:datastoreItem>
</file>

<file path=customXml/itemProps3.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SEN 129(23) A19</Template>
  <TotalTime>7148</TotalTime>
  <Words>356</Words>
  <Application>Microsoft Office PowerPoint</Application>
  <PresentationFormat>Widescreen</PresentationFormat>
  <Paragraphs>35</Paragraphs>
  <Slides>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Arvo</vt:lpstr>
      <vt:lpstr>Avenir Book</vt:lpstr>
      <vt:lpstr>Aptos</vt:lpstr>
      <vt:lpstr>Arial</vt:lpstr>
      <vt:lpstr>Calibri</vt:lpstr>
      <vt:lpstr>Calibri Light</vt:lpstr>
      <vt:lpstr>Roboto</vt:lpstr>
      <vt:lpstr>SEN 129(23) A19</vt:lpstr>
      <vt:lpstr>PowerPoint Presentation</vt:lpstr>
      <vt:lpstr>Learning Outcomes</vt:lpstr>
      <vt:lpstr>What is Responsible AI?</vt:lpstr>
      <vt:lpstr>AI Ethics, AI Governance &amp; Responsible AI</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Kheng Kok MAR (NYP)</cp:lastModifiedBy>
  <cp:revision>14</cp:revision>
  <dcterms:created xsi:type="dcterms:W3CDTF">2023-04-05T14:55:09Z</dcterms:created>
  <dcterms:modified xsi:type="dcterms:W3CDTF">2025-07-29T10:11:31Z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