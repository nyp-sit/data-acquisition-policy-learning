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0"/>
  </p:notesMasterIdLst>
  <p:handoutMasterIdLst>
    <p:handoutMasterId r:id="rId11"/>
  </p:handoutMasterIdLst>
  <p:sldIdLst>
    <p:sldId id="419" r:id="rId5"/>
    <p:sldId id="420" r:id="rId9"/>
    <p:sldId id="421" r:id="rId8"/>
    <p:sldId id="422" r:id="rId7"/>
    <p:sldId id="423" r:id="rId6"/>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77326" autoAdjust="0"/>
  </p:normalViewPr>
  <p:slideViewPr>
    <p:cSldViewPr snapToGrid="0">
      <p:cViewPr varScale="1">
        <p:scale>
          <a:sx n="94" d="100"/>
          <a:sy n="94" d="100"/>
        </p:scale>
        <p:origin x="105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433"/>
                </a:solidFill>
              </a:rPr>
              <a:t>Final reach error (mm), lower is better</a:t>
            </a:r>
          </a:p>
        </c:rich>
      </c:tx>
      <c:layout/>
      <c:overlay val="0"/>
    </c:title>
    <c:autoTitleDeleted val="0"/>
    <c:plotArea>
      <c:barChart>
        <c:barDir val="col"/>
        <c:grouping val="clustered"/>
        <c:ser>
          <c:idx val="0"/>
          <c:order val="0"/>
          <c:tx>
            <c:strRef>
              <c:f>Sheet1!$B$1</c:f>
              <c:strCache>
                <c:ptCount val="1"/>
                <c:pt idx="0">
                  <c:v>In simulation</c:v>
                </c:pt>
              </c:strCache>
            </c:strRef>
          </c:tx>
          <c:spPr>
            <a:solidFill>
              <a:srgbClr val="164194"/>
            </a:solidFill>
          </c:spPr>
          <c:cat>
            <c:strRef>
              <c:f>Sheet1!$A$2:$A$3</c:f>
              <c:strCache>
                <c:ptCount val="2"/>
                <c:pt idx="0">
                  <c:v>Not randomised</c:v>
                </c:pt>
                <c:pt idx="1">
                  <c:v>Randomised</c:v>
                </c:pt>
              </c:strCache>
            </c:strRef>
          </c:cat>
          <c:val>
            <c:numRef>
              <c:f>Sheet1!$B$2:$B$3</c:f>
              <c:numCache>
                <c:formatCode>General</c:formatCode>
                <c:ptCount val="2"/>
                <c:pt idx="0">
                  <c:v>8</c:v>
                </c:pt>
                <c:pt idx="1">
                  <c:v>11</c:v>
                </c:pt>
              </c:numCache>
            </c:numRef>
          </c:val>
        </c:ser>
        <c:ser>
          <c:idx val="1"/>
          <c:order val="1"/>
          <c:tx>
            <c:strRef>
              <c:f>Sheet1!$C$1</c:f>
              <c:strCache>
                <c:ptCount val="1"/>
                <c:pt idx="0">
                  <c:v>On the real arm</c:v>
                </c:pt>
              </c:strCache>
            </c:strRef>
          </c:tx>
          <c:spPr>
            <a:solidFill>
              <a:srgbClr val="E30613"/>
            </a:solidFill>
          </c:spPr>
          <c:cat>
            <c:strRef>
              <c:f>Sheet1!$A$2:$A$3</c:f>
              <c:strCache>
                <c:ptCount val="2"/>
                <c:pt idx="0">
                  <c:v>Not randomised</c:v>
                </c:pt>
                <c:pt idx="1">
                  <c:v>Randomised</c:v>
                </c:pt>
              </c:strCache>
            </c:strRef>
          </c:cat>
          <c:val>
            <c:numRef>
              <c:f>Sheet1!$C$2:$C$3</c:f>
              <c:numCache>
                <c:formatCode>General</c:formatCode>
                <c:ptCount val="2"/>
                <c:pt idx="0">
                  <c:v>35</c:v>
                </c:pt>
                <c:pt idx="1">
                  <c:v>18</c:v>
                </c:pt>
              </c:numCache>
            </c:numRef>
          </c:val>
        </c:ser>
        <c:dLbls>
          <c:numFmt formatCode="0&quot; mm&quot;" sourceLinked="0"/>
          <c:txPr>
            <a:bodyPr/>
            <a:lstStyle/>
            <a:p>
              <a:pPr>
                <a:defRPr sz="1300" b="1">
                  <a:solidFill>
                    <a:srgbClr val="1F2433"/>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C9D0E3"/>
            </a:solidFill>
          </a:ln>
        </c:spPr>
        <c:txPr>
          <a:bodyPr/>
          <a:lstStyle/>
          <a:p>
            <a:pPr>
              <a:defRPr sz="1300">
                <a:solidFill>
                  <a:srgbClr val="1F2433"/>
                </a:solidFill>
              </a:defRPr>
            </a:pPr>
          </a:p>
        </c:txPr>
        <c:crossAx val="-2113994440"/>
        <c:crosses val="autoZero"/>
        <c:auto val="1"/>
        <c:lblAlgn val="ctr"/>
        <c:lblOffset val="100"/>
        <c:noMultiLvlLbl val="0"/>
      </c:catAx>
      <c:valAx>
        <c:axId val="-2113994440"/>
        <c:scaling>
          <c:max val="40.0"/>
        </c:scaling>
        <c:delete val="0"/>
        <c:axPos val="l"/>
        <c:majorGridlines>
          <c:spPr>
            <a:ln>
              <a:solidFill>
                <a:srgbClr val="E3E7F0"/>
              </a:solidFill>
            </a:ln>
          </c:spPr>
        </c:majorGridlines>
        <c:majorTickMark val="out"/>
        <c:minorTickMark val="none"/>
        <c:tickLblPos val="nextTo"/>
        <c:spPr>
          <a:ln>
            <a:noFill/>
          </a:ln>
        </c:spPr>
        <c:txPr>
          <a:bodyPr/>
          <a:lstStyle/>
          <a:p>
            <a:pPr>
              <a:defRPr sz="1200">
                <a:solidFill>
                  <a:srgbClr val="5B6275"/>
                </a:solidFill>
              </a:defRPr>
            </a:pPr>
          </a:p>
        </c:txPr>
        <c:crossAx val="-2068027336"/>
        <c:crosses val="autoZero"/>
      </c:valAx>
    </c:plotArea>
    <c:legend>
      <c:legendPos val="b"/>
      <c:overlay val="0"/>
      <c:txPr>
        <a:bodyPr/>
        <a:lstStyle/>
        <a:p>
          <a:pPr>
            <a:defRPr sz="1200">
              <a:solidFill>
                <a:srgbClr val="5B6275"/>
              </a:solidFil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29/7/2025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29/7/2025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reconnect with last week's lab before we build on it. Five minutes, on paper or in the poll. Don't look at your notes yet; I want to see what actually stuck.</a:t>
            </a:r>
          </a:p>
          <a:p/>
          <a:p>
            <a:r>
              <a:t>Answers. One: when both smoothness penalties were removed, the arm still reached the target, but it jittered and vibrated, especially near the end. The reward curve looked perfectly healthy. Only the video showed the problem. Hold on to that, because today we'll see that the real arm punishes jitter much more than the simulator does.</a:t>
            </a:r>
          </a:p>
          <a:p/>
          <a:p>
            <a:r>
              <a:t>Two: the simulator works in radians for joint positions and radians per second for velocities. LeRobot on the real arm reports calibrated units: degrees, or a normalised range from minus a hundred to a hundred depending on how it is configured. Your unit table records which one your pod uses. Three: for each joint the table records the joint order, the units, the zero offset and the sign. If anyone's table has blanks, that's fine for today, but it must be complete before next week's lab, because the bridge cannot run without it.</a:t>
            </a:r>
          </a:p>
          <a:p/>
          <a:p>
            <a:r>
              <a:t>If most of the room missed question three, I'll spend two more minutes on it now, since the whole of Part 2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map again. Block C was all inside the simulator. Today we move into Block D, and look at which stages are lit up: Deploy and Evaluate. For the first time, a policy you trained leaves the computer and drives real motors.</a:t>
            </a:r>
          </a:p>
          <a:p/>
          <a:p>
            <a:r>
              <a:t>This is also our first real contact with the reality gap you met back in Lesson 3. Back then it was an idea on a slide. This week and next it becomes a number you measure in millimetres.</a:t>
            </a:r>
          </a:p>
          <a:p/>
          <a:p>
            <a:r>
              <a:t>Notice that Blocks E and F do the same journey again with imitation learning. So the deployment habits we build today, the contract, the safety envelope, the metrics, all come back in Lessons 11 and 12. Learn them properly now and the second time round will feel easy.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everyone. Two weeks ago you met reinforcement learning, and last week in the lab you actually trained a Reach policy in Isaac Lab. A thousand little SO-101 arms, all learning at once, and by the end they were reaching for targets quite nicely. Some of you also broke the reward on purpose and watched the arm shake or go lazy.</a:t>
            </a:r>
          </a:p>
          <a:p/>
          <a:p>
            <a:r>
              <a:t>Today we ask the obvious next question: what happens when we take that policy out of the simulator and put it on the real arm sitting on your pod's table? I'll be honest with you up front: it rarely works first time. And the reasons it fails are some of the most useful things you will learn in this whole unit, because they apply to every robot policy you will ever deploy, not just this one.</a:t>
            </a:r>
          </a:p>
          <a:p/>
          <a:p>
            <a:r>
              <a:t>By the end of today you'll know why a good policy can fail on real hardware, what has to match exactly between the simulator and the arm, how we keep everyone safe while we test, and how we measure whether it worked. Next week you do it for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want you to walk out with today.</a:t>
            </a:r>
          </a:p>
          <a:p/>
          <a:p>
            <a:r>
              <a:t>First, you should be able to explain why a policy that works perfectly in simulation can still fail on the real SO-101. Not just say "reality gap", but point at the actual causes on our arm.</a:t>
            </a:r>
          </a:p>
          <a:p/>
          <a:p>
            <a:r>
              <a:t>Second, the deployment contract. This is the list of things that must match exactly between training and the real arm. It sounds like bookkeeping, and it is, but most sim-to-real failures I have seen in practice are bookkeeping failures, not physics failures.</a:t>
            </a:r>
          </a:p>
          <a:p/>
          <a:p>
            <a:r>
              <a:t>Third, you should be able to explain why our Reach policy can make the jump to the real arm while a Lift policy cannot, at least not without extra equipment. And fourth, you should know how to measure the result: which numbers to record and how to name the failures you see. That vocabulary is exactly what you'll use in your Assignment Part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teach you anything, I want a prediction from you. Here's the situation. The randomised policy you trained in Lab 6 is lovely in simulation: it lands within a centimetre of every target. Next week you'll load exactly that policy, unchanged, onto your pod's arm. What happens?</a:t>
            </a:r>
          </a:p>
          <a:p/>
          <a:p>
            <a:r>
              <a:t>Take thirty seconds to think on your own, then vote. Hands up for A, B, C, D. Or hold up the letter card, or use the poll.</a:t>
            </a:r>
          </a:p>
          <a:p/>
          <a:p>
            <a:r>
              <a:t>Don't worry about getting it right. There's no single answer I'm fishing for here; in fact, every one of these four outcomes really happens in labs around the world. What decides which one you get is exactly what we cover today. So write your letter down somewhere, and we'll come back to it near the end of the lesson and see whether you'd change your mind.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We'll look closely at the arm itself and ask what's different about it compared to the simulated one. I'll keep this concrete: actual servos, actual numbers, actual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only ever lived in the left column. It practised for millions of steps in a world where motors do exactly what the physics engine says, where sensors are perfect, and where time stops politely while it thinks.</a:t>
            </a:r>
          </a:p>
          <a:p/>
          <a:p>
            <a:r>
              <a:t>Now look at the right column. Our SO-101 uses small hobby servos. There's slack in the gears, there's friction that varies from joint to joint, and how fast a joint moves depends on how much weight it's holding up. The joint readings come from encoders with a finite resolution, plus whatever small error crept in when you calibrated. And reading six servos and writing six commands over a USB bus takes real time.</a:t>
            </a:r>
          </a:p>
          <a:p/>
          <a:p>
            <a:r>
              <a:t>None of these differences is huge on its own. That's what makes the gap sneaky. Each item is small, but the policy has never seen any of them, and they all arrive at once. Quick question for you: which row do you think will cause us the most trouble? Hold that thought; we'll check it against the numbers in a few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in Lesson 1 I said our servos accept position commands only, and that this fact would come back? Here it is.</a:t>
            </a:r>
          </a:p>
          <a:p/>
          <a:p>
            <a:r>
              <a:t>When the bridge sends a target angle, it doesn't go straight to the motor. The servo has its own little controller inside, running its own firmware, deciding how hard to push. That pushes a motor through a gearbox, and an encoder reports the angle back. We control the first box. The servo controls the rest.</a:t>
            </a:r>
          </a:p>
          <a:p/>
          <a:p>
            <a:r>
              <a:t>Now the four troublemakers. Backlash: the gears have a bit of slack, so when you reverse direction the motor turns a little before the output shaft moves at all. Friction: very small commands may not move the joint, and then it suddenly unsticks and jumps. Load: the same command moves the arm faster when it's folded up than when it's stretched out and gravity is pulling on it. And position only: we never get to say "push this hard". If you want to feel this, after class, power the follower, move the leader very slowly back and forth by a degree or two, and watch the follower. You'll see it lag, then catch up. That's backlash and friction, right there on your desk.</a:t>
            </a:r>
          </a:p>
          <a:p/>
          <a:p>
            <a:r>
              <a:t>The simulator models each servo as a clean spring and damper. It's a good approximation, but it isn't the same machine, and that difference is the dynamics gap.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numbers on this, because "a small error" means nothing until you know what it does at the gripper.</a:t>
            </a:r>
          </a:p>
          <a:p/>
          <a:p>
            <a:r>
              <a:t>The rule is simple geometry: the error at the gripper is roughly the distance from the joint to the gripper, multiplied by the angle error in radians. For our arm, let's use thirty centimetres from shoulder to gripper as a round figure.</a:t>
            </a:r>
          </a:p>
          <a:p/>
          <a:p>
            <a:r>
              <a:t>Left side. Say your calibration is off by one degree at the shoulder. One degree is zero point zero one seven five radians. Times zero point three metres gives about five millimetres at the gripper. One degree! You'd never see that by eye on the joint.</a:t>
            </a:r>
          </a:p>
          <a:p/>
          <a:p>
            <a:r>
              <a:t>Right side. Now timing. Suppose the joint is moving at one radian per second, which is a perfectly normal reach speed, and the reading the policy sees is one control step old: thirty-three milliseconds. In that time the joint has moved zero point zero three three radians, about two degrees. Times zero point three metres: about a centimetre of stale information.</a:t>
            </a:r>
          </a:p>
          <a:p/>
          <a:p>
            <a:r>
              <a:t>Now here's the punchline. Our success tolerance next week is two centimetres. So a one-degree offset here and one step of delay there, and you have used up most of your error budget before the policy has made a single mistake of its own. Ask your neighbour: which of these two would randomisation help with, and which one is really a calibration job? I'll give you the answer: delay is a training problem, offset is mostly a calibration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zoom into one single control step: thirty-three milliseconds of the arm's life.</a:t>
            </a:r>
          </a:p>
          <a:p/>
          <a:p>
            <a:r>
              <a:t>In Isaac Lab, the top bar, the policy observes the exact state and its action is applied in the same instant. Then the physics engine steps forward. Clean.</a:t>
            </a:r>
          </a:p>
          <a:p/>
          <a:p>
            <a:r>
              <a:t>On the real arm, the bottom bar, the step is busy. First the bridge reads six servos over the serial bus, one after another. Then it builds the observation and runs the policy, which is actually the fast part: a small network like ours runs in well under a millisecond. Then it writes six targets back. And only then do the servos start to move. I've drawn the segments as illustrations; the real lengths depend on your PC and your cables, and you measured your own loop rate at the arm station in Lab 6.</a:t>
            </a:r>
          </a:p>
          <a:p/>
          <a:p>
            <a:r>
              <a:t>Four effects come out of this. Noise: readings jitter by an encoder step or two, even when the arm is perfectly still. Offset: your calibration zero is a little off, which gives a constant bias on every reading. Delay: the policy is always acting on where the arm was, not where it is. And rate: if the loop slips from thirty to twenty hertz, each action lasts fifty milliseconds instead of thirty-three, and a policy that learned to make little steps suddenly makes bigger ones. That's how you get overshoot.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we do about it? The big idea, which you met in Lesson 3, is this: if you can't make the simulator exactly right, make it a little bit wrong in lots of different ways, so the real world just looks like one more variation.</a:t>
            </a:r>
          </a:p>
          <a:p/>
          <a:p>
            <a:r>
              <a:t>Walk through the table with me. For the servos, we draw the actuator stiffness and damping from a range every episode, so the policy can't rely on one exact response. For mass and friction, we vary them at reset; that's the same events system you switched on in Lab 4. For sensing, we add noise to the joint readings, which the Reach task already does, and we can add a small random bias to imitate calibration error. For delay, we hold actions or observations back by zero, one or two steps at random; Isaac Lab even has a delayed actuator model for exactly this. And finally, the cheapest trick of all: a conservative action scale and a healthy action-rate penalty, so the policy takes small, calm steps that a hobby servo can actually follow.</a:t>
            </a:r>
          </a:p>
          <a:p/>
          <a:p>
            <a:r>
              <a:t>Notice the right-hand column. Each technique teaches the policy a habit. That's a nice way to think about it: randomisation isn't about the simulator, it's about the habits you want the policy to bring to the real arm.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Lab 6 you trained two versions of the policy: one with randomisation and joint noise switched on, and one with both switched off. This chart shows the kind of result we expect when you test them next week. These are illustrative numbers, not a promise, and next week you'll fill in your own.</a:t>
            </a:r>
          </a:p>
          <a:p/>
          <a:p>
            <a:r>
              <a:t>Look at the blue bars first, the simulation results. The randomised policy is actually slightly worse in simulation. It's a generalist: it learned to cope with heavy arms, light arms, sticky joints and noisy sensors, so it gives up a little precision on the one perfect world.</a:t>
            </a:r>
          </a:p>
          <a:p/>
          <a:p>
            <a:r>
              <a:t>Now the red bars, the real arm. This is where the randomised policy earns its keep. The non-randomised policy was a specialist in a world that doesn't exist, and on the real arm its error balloons. The randomised one degrades much less, because to it, the real arm is just another variation.</a:t>
            </a:r>
          </a:p>
          <a:p/>
          <a:p>
            <a:r>
              <a:t>But don't overdo it. If you make the ranges enormous, the policy can't learn anything useful at all. That's the trade-off from Lesson 3: too narrow and you overfit the simulator, too wide and you never learn. So here's a question to discuss with your neighbour for one minute: if your randomised policy turns out worse on the real arm than the non-randomised one, what would you suspect?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habit professional robotics teams live by: fail where it's cheap.</a:t>
            </a:r>
          </a:p>
          <a:p/>
          <a:p>
            <a:r>
              <a:t>Step one is where you've been: training in Isaac Lab with randomisation on. Step two is the new one, and it's free: before you touch the real arm, play your policy in a changed simulator. Make the joint noise heavier, change the actuator gains, add an extra step of delay: give it a world it never trained on. This is called sim-to-sim testing. It costs you nothing but a few minutes of GPU time.</a:t>
            </a:r>
          </a:p>
          <a:p/>
          <a:p>
            <a:r>
              <a:t>Only then do we go to the real arm, and even then we start slowly: a reduced step size, the instructor standing there, and a hand near the power switch. And only after that do we run at the normal limits and log five targets per policy.</a:t>
            </a:r>
          </a:p>
          <a:p/>
          <a:p>
            <a:r>
              <a:t>Look at the cost of failure along the bottom of each card. It goes from nothing, to nothing, to a stopped run, to a failure you write in your log. The logic at the bottom is the key. If it fails in the changed simulator, it will almost certainly fail on the arm, so fix it there for free. If it passes, it can still fail on the arm, but now for fewer reasons, and you know which ones are left.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from the break. Part one was physics: things about the real arm we can only soften, never remove. Part two is the opposite. It's about things we can get exactly right, if we're careful. In my experience this is where most sim-to-real attempts actually go wrong, so stay sharp for the next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training finishes, you have a checkpoint file. It's a bit like a backpack with everything from training stuffed inside: the actor, which is the policy itself; the critic, the coach from Lesson 5 that estimated how good each situation was; the optimiser's internal state; and the observation normaliser if one was used.</a:t>
            </a:r>
          </a:p>
          <a:p/>
          <a:p>
            <a:r>
              <a:t>The real arm needs only one thing from that backpack: the actor. So we export. When you run the play step in Isaac Lab, it writes two files into the run's exported folder. One is TorchScript, policy dot p t. You load it with torch dot jit dot load and run it in Python with PyTorch. The other is ONNX, policy dot onnx: the same network in a framework-neutral format, which runs with ONNX Runtime, even on a small computer that doesn't have PyTorch installed at all.</a:t>
            </a:r>
          </a:p>
          <a:p/>
          <a:p>
            <a:r>
              <a:t>Two things to notice. The normaliser travels inside the exported file, so you don't apply it again yourself; do it twice and every observation is squashed. And the critic stays behind. It was only ever needed to coach training. On the arm, only the actor runs. If anyone asks you in the test "what do you deploy from a PPO run?", the answer is the actor, not the whole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heart of today's lesson, so let's take our time.</a:t>
            </a:r>
          </a:p>
          <a:p/>
          <a:p>
            <a:r>
              <a:t>The policy is a neural network. It has no idea what a shoulder is. It just receives twenty-five numbers and returns six. It only works if those twenty-five numbers mean exactly what they meant during training, in the same order, in the same units, at the same rate. That agreement is what I call the deployment contract.</a:t>
            </a:r>
          </a:p>
          <a:p/>
          <a:p>
            <a:r>
              <a:t>Item one: observation order. Joint positions, then joint velocities, then the target pose, then the last action, twenty-five numbers. Swap two blocks and the network reads velocities as positions. Item two: units. Radians, radians per second, metres. The target orientation is a quaternion, and Isaac Lab writes it w, x, y, z; plenty of other libraries write x, y, z, w, so check. Item three: scaling and offsets. The joint positions are relative to the default pose, not absolute angles. Item four: control rate, thirty hertz, the rate it trained at. Item five: action scaling. The policy's output isn't an angle; you get the joint target by multiplying by the scale in your config and adding the default pose. And item six, joint order: shoulder pan, shoulder lift, elbow flex, wrist flex, wrist roll, gripper.</a:t>
            </a:r>
          </a:p>
          <a:p/>
          <a:p>
            <a:r>
              <a:t>Every single item must match. A good policy with one mismatch looks exactly like a bad policy, and you can waste a whole lab tuning rewards when the real bug was a missing minus sign.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push one real number all the way through, so the contract stops being abstract. We'll follow the elbow. From this pod's unit table: the real arm reports degrees, the zero offset is ten degrees, the sign is minus one, and the default pose for this joint is zero radians. These are made-up but realistic values; you'll use your own.</a:t>
            </a:r>
          </a:p>
          <a:p/>
          <a:p>
            <a:r>
              <a:t>Step one: LeRobot reads the elbow at forty-five degrees. Step two: convert to the simulator's language. Take off the offset, forty-five minus ten is thirty-five; apply the sign, minus thirty-five; convert to radians: minus zero point six one one. Step three: the observation is the position relative to the default pose, so minus zero point six one one minus zero, still minus zero point six one one.</a:t>
            </a:r>
          </a:p>
          <a:p/>
          <a:p>
            <a:r>
              <a:t>Step four: the policy runs, and for this joint it outputs minus one. Step five: that's not an angle yet. Target equals default plus scale times action, so zero plus zero point five times minus one, minus zero point five radians. Step six: back to degrees, using the table in reverse: ten plus minus one times minus zero point five times one-eighty over pi. That's thirty-eight point six degrees.</a:t>
            </a:r>
          </a:p>
          <a:p/>
          <a:p>
            <a:r>
              <a:t>And step seven, the safety step. The arm is at forty-five and wants to go to thirty-eight point six, a change of six point four degrees in one step. Our limit is five degrees per step, so we send forty. Next step it'll get the rest. Try this yourself with your own pod's numbers tonight; if you can do one joint by hand, you understand the bridge.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zoom out from one joint to the whole loop. This is the bridge: the small program that sits between the policy and the arm. I've built it for you, and you'll use it next week, but you need to understand every box.</a:t>
            </a:r>
          </a:p>
          <a:p/>
          <a:p>
            <a:r>
              <a:t>Top row, left to right. Read the six joints from LeRobot. Convert units: that's your unit table, offsets, signs and order. Build the observation: twenty-five numbers in exactly the training order. Run the policy. Then down the right-hand side and back along the bottom. Convert the action: scale it, add the default, convert back to real units. Clamp it: step limit, joint limits, workspace limits. Send the six targets to the follower. And then wait for the next tick, so the loop runs at thirty hertz, not as fast as the computer can go.</a:t>
            </a:r>
          </a:p>
          <a:p/>
          <a:p>
            <a:r>
              <a:t>Look at the colours. The teal boxes talk to hardware; they speak in real units. The red box is the policy; it only speaks the simulator's language. And the blue boxes are the translators in between. Almost every contract bug lives in a blue box. So when something goes wrong next week, start your search there.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contract matters so much: a contract bug doesn't announce itself. It just looks like a bad policy. So let's practise reading symptoms.</a:t>
            </a:r>
          </a:p>
          <a:p/>
          <a:p>
            <a:r>
              <a:t>Top left. The arm moves away from the target, keeps going, and pins a joint against its limit. Prime suspect: the sign of that joint is flipped. The policy pushes in the right direction in its world, and the arm goes the wrong way in ours, so the error grows and the policy pushes harder.</a:t>
            </a:r>
          </a:p>
          <a:p/>
          <a:p>
            <a:r>
              <a:t>Top right. The arm heads to some strange pose first and then sort of reaches. Suspect: positions sent as absolute angles instead of relative to the default pose. The policy thinks it's somewhere it isn't.</a:t>
            </a:r>
          </a:p>
          <a:p/>
          <a:p>
            <a:r>
              <a:t>Bottom left. It reaches, but it's jerky and overshoots. Suspect: the loop is running at the wrong rate. If someone removed the wait and the loop runs as fast as the computer can go, every action lands far more often than the policy expects.</a:t>
            </a:r>
          </a:p>
          <a:p/>
          <a:p>
            <a:r>
              <a:t>Bottom right. It barely moves. Suspect: the action scale has been applied twice, or the clamp is so tight that every step gets cut down to nothing. Notice I've kept three bugs back. You'll hunt for those yourselves in the activity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an important question: why did we choose Reach, of all tasks, to take to the real arm? Why not something more impressive, like lifting the cube?</a:t>
            </a:r>
          </a:p>
          <a:p/>
          <a:p>
            <a:r>
              <a:t>Go down the table. Joint positions: the servo encoders give us those. Joint velocities: we get them from the change in position divided by the time between readings. The last action: the bridge simply remembers what it sent. And the target: we choose it ourselves, in the robot's frame. Every single thing the Reach policy observes can be measured on the real arm with what's already on your table.</a:t>
            </a:r>
          </a:p>
          <a:p/>
          <a:p>
            <a:r>
              <a:t>Now the last row. A Lift policy also observes the cube's exact position and orientation. In simulation that number is free and perfect: the physics engine just knows. On the real arm, nobody hands you that number. You'd need a camera and a pose estimator to work it out from images, and that estimator has its own error and its own delay, which the policy never trained with.</a:t>
            </a:r>
          </a:p>
          <a:p/>
          <a:p>
            <a:r>
              <a:t>So here's a rule worth writing down: a policy can only transfer if everything it observes can be measured on the real robot. Before you train anything in simulation, look at its observation list and ask, "where will each of these numbers come from on the real robot?" That one question would save a lot of people a lot of wasted training.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policy is a neural network, and a neural network can output anything. So we never let it talk to the motors directly. Its action passes through layers of protection, like the rings on the left.</a:t>
            </a:r>
          </a:p>
          <a:p/>
          <a:p>
            <a:r>
              <a:t>At the centre is what the policy wants. The first ring is the maximum step per command: however big the action, each joint moves at most a few degrees per step. You saw that clamp in the worked example. The next ring is joint limits: soft limits set a little inside the hard mechanical stops, so we never hit the end of travel. Then workspace limits: the gripper stays above the table and inside a box we define. And the outer ring is a person: the power cut-off within arm's reach, with a hand on it.</a:t>
            </a:r>
          </a:p>
          <a:p/>
          <a:p>
            <a:r>
              <a:t>On the right, the rules for first runs. Half the usual step limit. Instructor present for the very first command. Hands out of the follower's path, always. And one person whose only job is the power switch. Not filming, not typing. Just the switch.</a:t>
            </a:r>
          </a:p>
          <a:p/>
          <a:p>
            <a:r>
              <a:t>If you use LeRobot directly, it has a setting called max relative target that caps how far each motor may move in one action. It does the same job as our clamp. Next week, before any pod powers an arm, you'll state your unit table and your limits to me, out loud. If you can't, the arm stays off.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after the second break. Two questions. First: could we skip the simulator and do RL directly on the real arm? People do, and I'll show you how. Second, and much more important for next week: once the policy is running on the arm, how do we decide whether it worked?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all our RL happened in simulation, and only the finished policy touched the arm. But there is another way: let the robot learn directly on real hardware, with a human helping. LeRobot supports a method called HIL-SERL, human-in-the-loop sample-efficient reinforcement learning.</a:t>
            </a:r>
          </a:p>
          <a:p/>
          <a:p>
            <a:r>
              <a:t>Follow the loop. The actor runs the current policy on the real arm. A human watches, and when the arm is about to do something silly or unsafe, the human takes over with the leader arm or a gamepad and shows a better move. The reward comes either from a small classifier that looks at the camera image and decides "success or not", or simply from the human pressing a key: one for success, zero for a failure or a timeout. Meanwhile a learner, using an algorithm called SAC, updates the policy and sends the new weights back to the actor.</a:t>
            </a:r>
          </a:p>
          <a:p/>
          <a:p>
            <a:r>
              <a:t>It works remarkably well. In the original paper, Luo and colleagues reported near-perfect success on real manipulation tasks after one to two and a half hours of training. So why don't we do it in this unit? Look at the right. An exploring policy on a real arm needs one person watching one arm the entire time. With pods of three or four and a whole class, we can't supervise that safely. So in this unit you'll understand it, and you might see it in your career, but RL stays in simulation and only the finished policy touches the arm.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our policy. Next week, "it looked okay" is not an acceptable result. We want numbers. Four of them.</a:t>
            </a:r>
          </a:p>
          <a:p/>
          <a:p>
            <a:r>
              <a:t>Final position error, in millimetres: the distance from the gripper to the target when the episode ends. Success: whether that error is inside our tolerance of twenty millimetres, and we report it as a rate, like four out of five. Time to target: the first moment the gripper gets inside the tolerance. And smoothness: how much the joint targets change from one step to the next, or simply how many times a joint reverses direction. Remember your Lab 6 video with no smoothness penalties? That's the policy that would score badly here, even if it reaches.</a:t>
            </a:r>
          </a:p>
          <a:p/>
          <a:p>
            <a:r>
              <a:t>How do we actually measure position? Two ways, and you'll use both. The bridge script runs forward kinematics on the joint readings, the "where is the gripper?" question from Lesson 1. That's exact and automatic, but it trusts your calibration. If calibration is off by a degree, forward kinematics will happily report the wrong position. So we also check against the grid mat with a ruler. Slower, but it catches the errors the joints can't see. If the two disagree, that disagreement is itself a finding worth writing down.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 pod's results might look like after five targets. Errors of eight, fourteen, twenty-three, eleven and thirty-one millimetres.</a:t>
            </a:r>
          </a:p>
          <a:p/>
          <a:p>
            <a:r>
              <a:t>Let's score it together. Success first: which ones are within twenty millimetres? Targets one, two and four. So three out of five, sixty percent. Mean error: add them up, eighty-seven, divide by five, seventeen point four millimetres. Median: sort them, eight, eleven, fourteen, twenty-three, thirty-one; the middle one is fourteen. Notice the mean is pulled up by the one bad target, so it's worth reporting both.</a:t>
            </a:r>
          </a:p>
          <a:p/>
          <a:p>
            <a:r>
              <a:t>Now the uncomfortable part, at the bottom. Five trials is a tiny sample. If you ran another five, you might easily get two out of five, or five out of five. Statisticians put a number on that: a ninety-five percent confidence interval. For three out of five it runs from roughly twenty-three percent to eighty-eight percent. That's enormous! So "my policy has a sixty percent success rate" is not a fair claim from five trials. We'll learn how to compute these intervals properly in Lesson 11. For now, just get into the habit of saying how many trials a number came from.</a:t>
            </a:r>
          </a:p>
          <a:p/>
          <a:p>
            <a:r>
              <a:t>Quick question for the room: target three had twenty-three millimetres and target five had thirty-one. If you could only re-run one, which would you investigate first, and why?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trial fails, we don't just write "failed". We give it a category, because the category points to the cause.</a:t>
            </a:r>
          </a:p>
          <a:p/>
          <a:p>
            <a:r>
              <a:t>Overshoot: it goes past the target and comes back. Often the action scale is too large, or the real servos have less damping than the simulator assumed. Oscillation: it wobbles around the target and never settles. Usually more delay than it trained with, or a policy that never had smoothness penalties. Joint limit hit: a joint drives to its end stop and stays there. Think sign flip first, then a target outside the reachable space, or limits in simulation that are wider than the real ones. Drift: results creep further off as the session goes on. That's servos warming up, sagging under load, or calibration slipping. And transfer failure: behaviour that looks nothing like the simulation video at all. That's almost always the contract.</a:t>
            </a:r>
          </a:p>
          <a:p/>
          <a:p>
            <a:r>
              <a:t>The blue card is your logging habit. For every failure: which target, which category, the timestamp in the video, your best guess at the cause, and what you'll check next. That last column turns a log into a plan. And it's exactly what your Assignment Part B asks for: not just what happened, but which reward term or contract item caused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practise. Three short clips, or if I haven't got the videos, three descriptions. In pairs, four minutes: for each one, decide the category and argue for a likely cause. Then we vote.</a:t>
            </a:r>
          </a:p>
          <a:p/>
          <a:p>
            <a:r>
              <a:t>Answers, after the discussion. Clip A: the arm gets within a centimetre, then wobbles back and forth until the episode ends. That's oscillation. Likely causes: more loop delay than the policy trained with, so it keeps correcting for where the arm used to be; or this is the policy trained without smoothness penalties. A good follow-up question to ask the pod: did it wobble like this in the changed simulator too?</a:t>
            </a:r>
          </a:p>
          <a:p/>
          <a:p>
            <a:r>
              <a:t>Clip B: every target is reached, but over forty minutes the gripper finishes a little lower each run. That's drift. The servos warm up and get weaker, so the arm sags a bit more under gravity, or a calibration is slipping. Fix: rest the arm, re-check calibration, and note the time of each trial in your log.</a:t>
            </a:r>
          </a:p>
          <a:p/>
          <a:p>
            <a:r>
              <a:t>Clip C: on the very first command, the base swings the wrong way and stops hard against its limit. Category: joint limit hit, and the cause is almost certainly a transfer failure, a flipped sign on shoulder pan. And notice the good news: it stopped at a soft limit, at reduced speed, with someone on the power switch. The safety envelope did its job. That's why we have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main activity. On the left is the contract the policy was trained with, straight from the environment config. On the right is what a pod's bridge actually does. I've planted three bugs in the right-hand side. In pairs, eight minutes: circle each bug, and for each one, predict what the arm would do because of it. Be specific: which joint, which direction, how violent.</a:t>
            </a:r>
          </a:p>
          <a:p/>
          <a:p>
            <a:r>
              <a:t>Answers, after the discussion. Bug one: the joint positions are in degrees, not radians. Every position looks about fifty-seven times too big, so the policy thinks every joint is wildly far from where it should be. Expect large, saturated actions: the arm lunges hard toward a limit, and only the clamp saves it.</a:t>
            </a:r>
          </a:p>
          <a:p/>
          <a:p>
            <a:r>
              <a:t>Bug two: wrist flex and wrist roll are swapped in the joint order. The policy reads the roll angle as flex and the other way round, and its corrections go to the wrong joint. Expect the wrist to twist when it should bend, and the gripper to finish in the wrong place, maybe oscillating as it keeps correcting the wrong thing.</a:t>
            </a:r>
          </a:p>
          <a:p/>
          <a:p>
            <a:r>
              <a:t>Bug three: the last-action term is missing, so the observation has nineteen numbers instead of twenty-five. This one is actually the friendliest bug: the exported network expects twenty-five inputs, so the program crashes with a shape error before the arm ever moves. If someone "fixes" that by padding with zeros, the policy thinks it always did nothing last step, and the motion becomes jerky. The lesson: a crash is a gift. The silent bugs are the dangerous ones.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letter you wrote down at the start? Let's see what we'd say now.</a:t>
            </a:r>
          </a:p>
          <a:p/>
          <a:p>
            <a:r>
              <a:t>A, same as simulation. Unlikely. It would mean there's no reality gap at all, and after Part 1 you know there always is. B, it reaches, but less accurately. This is actually the expected result when the bridge is correct. That leftover error is the reality gap, and randomisation is what shrinks it. If you get B next week, celebrate a little, and then measure it carefully.</a:t>
            </a:r>
          </a:p>
          <a:p/>
          <a:p>
            <a:r>
              <a:t>C, it moves wildly or hits a limit. That's a contract mismatch: units, a sign, or the joint order. The policy is fine; the translation is broken. And the safety envelope makes sure it doesn't hurt anything. D, it barely moves. That's usually scaling or clamping: the action is being shrunk or cut on its way to the servo.</a:t>
            </a:r>
          </a:p>
          <a:p/>
          <a:p>
            <a:r>
              <a:t>So who would change their vote now? Hands up. Here's the big takeaway at the bottom: B is a physics problem, and you shrink it with training. C and D are bookkeeping problems, and you can find and fix those at your desk before you ever power the arm.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before you go. On your own, about five minutes, on paper. I'll read them all before next week's lab, and anything most of you struggle with becomes our entry check.</a:t>
            </a:r>
          </a:p>
          <a:p/>
          <a:p>
            <a:r>
              <a:t>What I'm looking for. One: any four of observation order, units, scaling and offsets, control rate, action scaling, and joint order. Two: Reach observes only things the real arm can measure, joint positions and velocities, the last action, and a target we choose; Lift also needs the cube's exact pose, which on the real arm requires a camera and a pose estimator. Three: any two failure modes with a sensible cause each, for example oscillation caused by extra delay, or a joint-limit hit caused by a flipped sign.</a:t>
            </a:r>
          </a:p>
          <a:p/>
          <a:p>
            <a:r>
              <a:t>Thank you, everyone. Next week is the exciting one: your policy moves a real arm.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next week. At the sim station you'll export both of your Lab 6 policies, the randomised one and the plain one, and play each in a changed simulator with heavier joint noise and different actuator gains. You'll record the mean final error over twenty targets, and then make a prediction: which one will do better on the real arm, and why?</a:t>
            </a:r>
          </a:p>
          <a:p/>
          <a:p>
            <a:r>
              <a:t>At the arm station, you'll load each exported policy into my bridge script with your pod's unit table. The first run is at reduced step size with me standing beside you. Then five targets per policy, recording the error, and logging every failure with the categories from today.</a:t>
            </a:r>
          </a:p>
          <a:p/>
          <a:p>
            <a:r>
              <a:t>What comes out is a table of simulated versus real error for both policies, plus your failure log. That's your RL evidence for Assignment Part B, so take it seriously. And remember: before anyone powers an arm, your pod tells me its unit table and safety limits. Bring them ready. See you next week.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for anyone who wants to go further. The Tobin and Peng papers are the classic domain randomisation papers, and both are very readable. Tan and colleagues is a lovely example of modelling actuators and latency to get a legged robot across the gap. If you only read one thing, read the LeRobot HIL-SERL guide: it shows what real-robot RL looks like in practice on exactly our kind of arm.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a:bodyPr>
          <a:lstStyle/>
          <a:p>
            <a:pPr marL="0" indent="0">
              <a:lnSpc>
                <a:spcPct val="110000"/>
              </a:lnSpc>
              <a:spcAft>
                <a:spcPts val="600"/>
              </a:spcAft>
              <a:buNone/>
            </a:pPr>
            <a:r>
              <a:rPr lang="en-SG" sz="4800" dirty="0"/>
              <a:t>Reinforcement Learning II</a:t>
            </a:r>
          </a:p>
          <a:p>
            <a:pPr marL="0" indent="0">
              <a:buNone/>
            </a:pPr>
            <a:r>
              <a:rPr sz="2000" b="1">
                <a:solidFill>
                  <a:srgbClr val="164194"/>
                </a:solidFill>
              </a:rPr>
              <a:t>From simulation</a:t>
            </a:r>
          </a:p>
          <a:p>
            <a:pPr marL="0" indent="0">
              <a:buNone/>
            </a:pPr>
            <a:r>
              <a:rPr sz="2000" b="1">
                <a:solidFill>
                  <a:srgbClr val="164194"/>
                </a:solidFill>
              </a:rPr>
              <a:t>to the real arm</a:t>
            </a:r>
          </a:p>
          <a:p>
            <a:pPr marL="0" indent="0">
              <a:buNone/>
            </a:pPr>
            <a:r>
              <a:rPr sz="1400" b="0">
                <a:solidFill>
                  <a:srgbClr val="5B6275"/>
                </a:solidFill>
              </a:rPr>
              <a:t>Data Acquisition &amp; Policy Learning · Lesson 7</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are: Block D · taking an RL policy to the real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834640" y="180136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Simulate</a:t>
            </a:r>
          </a:p>
        </p:txBody>
      </p:sp>
      <p:sp>
        <p:nvSpPr>
          <p:cNvPr id="8" name="Rounded Rectangle 7"/>
          <p:cNvSpPr/>
          <p:nvPr/>
        </p:nvSpPr>
        <p:spPr>
          <a:xfrm>
            <a:off x="4297680" y="2651760"/>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Collect data</a:t>
            </a:r>
          </a:p>
        </p:txBody>
      </p:sp>
      <p:sp>
        <p:nvSpPr>
          <p:cNvPr id="9" name="Rounded Rectangle 8"/>
          <p:cNvSpPr/>
          <p:nvPr/>
        </p:nvSpPr>
        <p:spPr>
          <a:xfrm>
            <a:off x="4297680" y="4343400"/>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Train</a:t>
            </a:r>
          </a:p>
        </p:txBody>
      </p:sp>
      <p:sp>
        <p:nvSpPr>
          <p:cNvPr id="10" name="Rounded Rectangle 9"/>
          <p:cNvSpPr/>
          <p:nvPr/>
        </p:nvSpPr>
        <p:spPr>
          <a:xfrm>
            <a:off x="2834640" y="5184648"/>
            <a:ext cx="1463040" cy="603504"/>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Evaluate</a:t>
            </a:r>
          </a:p>
        </p:txBody>
      </p:sp>
      <p:sp>
        <p:nvSpPr>
          <p:cNvPr id="11" name="Rounded Rectangle 10"/>
          <p:cNvSpPr/>
          <p:nvPr/>
        </p:nvSpPr>
        <p:spPr>
          <a:xfrm>
            <a:off x="1371600" y="4343400"/>
            <a:ext cx="1463040" cy="603504"/>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Deploy</a:t>
            </a:r>
          </a:p>
        </p:txBody>
      </p:sp>
      <p:sp>
        <p:nvSpPr>
          <p:cNvPr id="12" name="Rounded Rectangle 11"/>
          <p:cNvSpPr/>
          <p:nvPr/>
        </p:nvSpPr>
        <p:spPr>
          <a:xfrm>
            <a:off x="1371600" y="2651760"/>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Improve</a:t>
            </a:r>
          </a:p>
        </p:txBody>
      </p:sp>
      <p:cxnSp>
        <p:nvCxnSpPr>
          <p:cNvPr id="13" name="Connector 12"/>
          <p:cNvCxnSpPr/>
          <p:nvPr/>
        </p:nvCxnSpPr>
        <p:spPr>
          <a:xfrm>
            <a:off x="4032504" y="2377440"/>
            <a:ext cx="530352" cy="310896"/>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29200" y="3310128"/>
            <a:ext cx="0" cy="987552"/>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032504" y="4956048"/>
            <a:ext cx="530352" cy="274320"/>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569464" y="4956048"/>
            <a:ext cx="530352" cy="274320"/>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3120" y="3310128"/>
            <a:ext cx="0" cy="987552"/>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9464" y="2377440"/>
            <a:ext cx="530352" cy="310896"/>
          </a:xfrm>
          <a:prstGeom prst="line">
            <a:avLst/>
          </a:prstGeom>
          <a:ln w="25400">
            <a:solidFill>
              <a:srgbClr val="C9D0E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560320" y="3474720"/>
            <a:ext cx="2011680" cy="640080"/>
          </a:xfrm>
          <a:prstGeom prst="roundRect">
            <a:avLst>
              <a:gd name="adj" fmla="val 12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Physical AI</a:t>
            </a:r>
          </a:p>
          <a:p>
            <a:pPr algn="ctr"/>
            <a:r>
              <a:rPr sz="1400" b="0" i="0">
                <a:solidFill>
                  <a:srgbClr val="5B6275"/>
                </a:solidFill>
              </a:rPr>
              <a:t>lifecycle</a:t>
            </a:r>
          </a:p>
        </p:txBody>
      </p:sp>
      <p:sp>
        <p:nvSpPr>
          <p:cNvPr id="20" name="Rounded Rectangle 19"/>
          <p:cNvSpPr/>
          <p:nvPr/>
        </p:nvSpPr>
        <p:spPr>
          <a:xfrm>
            <a:off x="6675120" y="1508760"/>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A</a:t>
            </a:r>
          </a:p>
        </p:txBody>
      </p:sp>
      <p:sp>
        <p:nvSpPr>
          <p:cNvPr id="21" name="Rectangle 20"/>
          <p:cNvSpPr/>
          <p:nvPr/>
        </p:nvSpPr>
        <p:spPr>
          <a:xfrm>
            <a:off x="7269480" y="149047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Foundations   L1–L2</a:t>
            </a:r>
          </a:p>
        </p:txBody>
      </p:sp>
      <p:sp>
        <p:nvSpPr>
          <p:cNvPr id="22" name="Rounded Rectangle 21"/>
          <p:cNvSpPr/>
          <p:nvPr/>
        </p:nvSpPr>
        <p:spPr>
          <a:xfrm>
            <a:off x="6675120" y="2130552"/>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B</a:t>
            </a:r>
          </a:p>
        </p:txBody>
      </p:sp>
      <p:sp>
        <p:nvSpPr>
          <p:cNvPr id="23" name="Rectangle 22"/>
          <p:cNvSpPr/>
          <p:nvPr/>
        </p:nvSpPr>
        <p:spPr>
          <a:xfrm>
            <a:off x="7269480" y="211226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Collecting robot data   L3–L4</a:t>
            </a:r>
          </a:p>
        </p:txBody>
      </p:sp>
      <p:sp>
        <p:nvSpPr>
          <p:cNvPr id="24" name="Rounded Rectangle 23"/>
          <p:cNvSpPr/>
          <p:nvPr/>
        </p:nvSpPr>
        <p:spPr>
          <a:xfrm>
            <a:off x="6675120" y="2752344"/>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C</a:t>
            </a:r>
          </a:p>
        </p:txBody>
      </p:sp>
      <p:sp>
        <p:nvSpPr>
          <p:cNvPr id="25" name="Rectangle 24"/>
          <p:cNvSpPr/>
          <p:nvPr/>
        </p:nvSpPr>
        <p:spPr>
          <a:xfrm>
            <a:off x="7269480" y="2734056"/>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RL in simulation   L5–L6</a:t>
            </a:r>
          </a:p>
        </p:txBody>
      </p:sp>
      <p:sp>
        <p:nvSpPr>
          <p:cNvPr id="26" name="Rounded Rectangle 25"/>
          <p:cNvSpPr/>
          <p:nvPr/>
        </p:nvSpPr>
        <p:spPr>
          <a:xfrm>
            <a:off x="6675120" y="3374136"/>
            <a:ext cx="502920" cy="475488"/>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D</a:t>
            </a:r>
          </a:p>
        </p:txBody>
      </p:sp>
      <p:sp>
        <p:nvSpPr>
          <p:cNvPr id="27" name="Rectangle 26"/>
          <p:cNvSpPr/>
          <p:nvPr/>
        </p:nvSpPr>
        <p:spPr>
          <a:xfrm>
            <a:off x="7269480" y="3355848"/>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sim → real arm   L7–L8</a:t>
            </a:r>
          </a:p>
        </p:txBody>
      </p:sp>
      <p:sp>
        <p:nvSpPr>
          <p:cNvPr id="28" name="Rounded Rectangle 27"/>
          <p:cNvSpPr/>
          <p:nvPr/>
        </p:nvSpPr>
        <p:spPr>
          <a:xfrm>
            <a:off x="6675120" y="3995928"/>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E</a:t>
            </a:r>
          </a:p>
        </p:txBody>
      </p:sp>
      <p:sp>
        <p:nvSpPr>
          <p:cNvPr id="29" name="Rectangle 28"/>
          <p:cNvSpPr/>
          <p:nvPr/>
        </p:nvSpPr>
        <p:spPr>
          <a:xfrm>
            <a:off x="7269480" y="3977640"/>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Imitation learning   L9–L10</a:t>
            </a:r>
          </a:p>
        </p:txBody>
      </p:sp>
      <p:sp>
        <p:nvSpPr>
          <p:cNvPr id="30" name="Rounded Rectangle 29"/>
          <p:cNvSpPr/>
          <p:nvPr/>
        </p:nvSpPr>
        <p:spPr>
          <a:xfrm>
            <a:off x="6675120" y="4617720"/>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F</a:t>
            </a:r>
          </a:p>
        </p:txBody>
      </p:sp>
      <p:sp>
        <p:nvSpPr>
          <p:cNvPr id="31" name="Rectangle 30"/>
          <p:cNvSpPr/>
          <p:nvPr/>
        </p:nvSpPr>
        <p:spPr>
          <a:xfrm>
            <a:off x="7269480" y="459943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Evaluate &amp; deploy IL   L11–L12</a:t>
            </a:r>
          </a:p>
        </p:txBody>
      </p:sp>
      <p:sp>
        <p:nvSpPr>
          <p:cNvPr id="32" name="Rounded Rectangle 31"/>
          <p:cNvSpPr/>
          <p:nvPr/>
        </p:nvSpPr>
        <p:spPr>
          <a:xfrm>
            <a:off x="6675120" y="523951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600" b="1" i="0">
                <a:solidFill>
                  <a:srgbClr val="FFFFFF"/>
                </a:solidFill>
              </a:rPr>
              <a:t>G</a:t>
            </a:r>
          </a:p>
        </p:txBody>
      </p:sp>
      <p:sp>
        <p:nvSpPr>
          <p:cNvPr id="33" name="Rectangle 32"/>
          <p:cNvSpPr/>
          <p:nvPr/>
        </p:nvSpPr>
        <p:spPr>
          <a:xfrm>
            <a:off x="7269480" y="522122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Vision-language-action   L13–L14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 check: three questions on Lesson 6</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3</a:t>
            </a:fld>
            <a:endParaRPr lang="en-SG"/>
          </a:p>
        </p:txBody>
      </p:sp>
      <p:sp>
        <p:nvSpPr>
          <p:cNvPr id="7" name="Rounded Rectangle 6"/>
          <p:cNvSpPr/>
          <p:nvPr/>
        </p:nvSpPr>
        <p:spPr>
          <a:xfrm>
            <a:off x="548640" y="160020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1</a:t>
            </a:r>
          </a:p>
        </p:txBody>
      </p:sp>
      <p:sp>
        <p:nvSpPr>
          <p:cNvPr id="8" name="Rounded Rectangle 7"/>
          <p:cNvSpPr/>
          <p:nvPr/>
        </p:nvSpPr>
        <p:spPr>
          <a:xfrm>
            <a:off x="1325880" y="160020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In Lab 6, what happened when both smoothness penalties were removed? What did the reward curve show?</a:t>
            </a:r>
          </a:p>
        </p:txBody>
      </p:sp>
      <p:sp>
        <p:nvSpPr>
          <p:cNvPr id="9" name="Rounded Rectangle 8"/>
          <p:cNvSpPr/>
          <p:nvPr/>
        </p:nvSpPr>
        <p:spPr>
          <a:xfrm>
            <a:off x="548640" y="242316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2</a:t>
            </a:r>
          </a:p>
        </p:txBody>
      </p:sp>
      <p:sp>
        <p:nvSpPr>
          <p:cNvPr id="10" name="Rounded Rectangle 9"/>
          <p:cNvSpPr/>
          <p:nvPr/>
        </p:nvSpPr>
        <p:spPr>
          <a:xfrm>
            <a:off x="1325880" y="242316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What units does Isaac Lab use for joint positions? What units does LeRobot report on the real arm?</a:t>
            </a:r>
          </a:p>
        </p:txBody>
      </p:sp>
      <p:sp>
        <p:nvSpPr>
          <p:cNvPr id="11" name="Rounded Rectangle 10"/>
          <p:cNvSpPr/>
          <p:nvPr/>
        </p:nvSpPr>
        <p:spPr>
          <a:xfrm>
            <a:off x="548640" y="324612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3</a:t>
            </a:r>
          </a:p>
        </p:txBody>
      </p:sp>
      <p:sp>
        <p:nvSpPr>
          <p:cNvPr id="12" name="Rounded Rectangle 11"/>
          <p:cNvSpPr/>
          <p:nvPr/>
        </p:nvSpPr>
        <p:spPr>
          <a:xfrm>
            <a:off x="1325880" y="324612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Your unit-mapping table records four things for every joint. What are they?</a:t>
            </a:r>
          </a:p>
        </p:txBody>
      </p:sp>
      <p:sp>
        <p:nvSpPr>
          <p:cNvPr id="13" name="TextBox 12"/>
          <p:cNvSpPr txBox="1"/>
          <p:nvPr/>
        </p:nvSpPr>
        <p:spPr>
          <a:xfrm>
            <a:off x="548640" y="4160520"/>
            <a:ext cx="11064240" cy="365760"/>
          </a:xfrm>
          <a:prstGeom prst="rect">
            <a:avLst/>
          </a:prstGeom>
          <a:noFill/>
        </p:spPr>
        <p:txBody>
          <a:bodyPr wrap="square" lIns="0" rIns="0" tIns="0" bIns="0" anchor="t">
            <a:spAutoFit/>
          </a:bodyPr>
          <a:lstStyle/>
          <a:p>
            <a:pPr algn="l"/>
            <a:r>
              <a:rPr sz="1400" b="0" i="1">
                <a:solidFill>
                  <a:srgbClr val="5B6275"/>
                </a:solidFill>
              </a:rPr>
              <a:t>5 minutes, on paper or in the poll. We go through the answers together.</a:t>
            </a:r>
          </a:p>
        </p:txBody>
      </p:sp>
      <p:sp>
        <p:nvSpPr>
          <p:cNvPr id="14" name="Rounded Rectangle 13"/>
          <p:cNvSpPr/>
          <p:nvPr/>
        </p:nvSpPr>
        <p:spPr>
          <a:xfrm>
            <a:off x="548640" y="4754880"/>
            <a:ext cx="11064240" cy="9144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0F6E6A"/>
                </a:solidFill>
              </a:rPr>
              <a:t>Keep open today: </a:t>
            </a:r>
            <a:r>
              <a:rPr sz="1600" b="0" i="0">
                <a:solidFill>
                  <a:srgbClr val="1F2433"/>
                </a:solidFill>
              </a:rPr>
              <a:t>your Lab 6 unit-mapping table and your reward-variant videos. We use both in Part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4</a:t>
            </a:fld>
            <a:endParaRPr lang="en-SG"/>
          </a:p>
        </p:txBody>
      </p:sp>
      <p:sp>
        <p:nvSpPr>
          <p:cNvPr id="7" name="TextBox 6"/>
          <p:cNvSpPr txBox="1"/>
          <p:nvPr/>
        </p:nvSpPr>
        <p:spPr>
          <a:xfrm>
            <a:off x="548640" y="1371600"/>
            <a:ext cx="11064240" cy="365760"/>
          </a:xfrm>
          <a:prstGeom prst="rect">
            <a:avLst/>
          </a:prstGeom>
          <a:noFill/>
        </p:spPr>
        <p:txBody>
          <a:bodyPr wrap="square" lIns="0" rIns="0" tIns="0" bIns="0" anchor="t">
            <a:spAutoFit/>
          </a:bodyPr>
          <a:lstStyle/>
          <a:p>
            <a:pPr algn="l"/>
            <a:r>
              <a:rPr sz="1600" b="0" i="0">
                <a:solidFill>
                  <a:srgbClr val="5B6275"/>
                </a:solidFill>
              </a:rPr>
              <a:t>By the end of this lesson you should be able to:</a:t>
            </a:r>
          </a:p>
        </p:txBody>
      </p:sp>
      <p:sp>
        <p:nvSpPr>
          <p:cNvPr id="8" name="Rounded Rectangle 7"/>
          <p:cNvSpPr/>
          <p:nvPr/>
        </p:nvSpPr>
        <p:spPr>
          <a:xfrm>
            <a:off x="548640" y="1874519"/>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Oval 8"/>
          <p:cNvSpPr/>
          <p:nvPr/>
        </p:nvSpPr>
        <p:spPr>
          <a:xfrm>
            <a:off x="822959" y="219456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1</a:t>
            </a:r>
          </a:p>
        </p:txBody>
      </p:sp>
      <p:sp>
        <p:nvSpPr>
          <p:cNvPr id="10" name="TextBox 9"/>
          <p:cNvSpPr txBox="1"/>
          <p:nvPr/>
        </p:nvSpPr>
        <p:spPr>
          <a:xfrm>
            <a:off x="1737360" y="2148839"/>
            <a:ext cx="4023360" cy="1371600"/>
          </a:xfrm>
          <a:prstGeom prst="rect">
            <a:avLst/>
          </a:prstGeom>
          <a:noFill/>
        </p:spPr>
        <p:txBody>
          <a:bodyPr wrap="square" lIns="0" rIns="0" tIns="0" bIns="0" anchor="t">
            <a:spAutoFit/>
          </a:bodyPr>
          <a:lstStyle/>
          <a:p>
            <a:pPr algn="l">
              <a:spcAft>
                <a:spcPts val="400"/>
              </a:spcAft>
            </a:pPr>
            <a:r>
              <a:rPr sz="1800" b="1" i="0">
                <a:solidFill>
                  <a:srgbClr val="164194"/>
                </a:solidFill>
              </a:rPr>
              <a:t>Explain the gap</a:t>
            </a:r>
          </a:p>
          <a:p>
            <a:pPr algn="l"/>
            <a:r>
              <a:rPr sz="1500" b="0" i="0">
                <a:solidFill>
                  <a:srgbClr val="1F2433"/>
                </a:solidFill>
              </a:rPr>
              <a:t>why a policy that works in simulation can fail on the real SO-101</a:t>
            </a:r>
          </a:p>
        </p:txBody>
      </p:sp>
      <p:sp>
        <p:nvSpPr>
          <p:cNvPr id="11" name="Rounded Rectangle 10"/>
          <p:cNvSpPr/>
          <p:nvPr/>
        </p:nvSpPr>
        <p:spPr>
          <a:xfrm>
            <a:off x="6172200" y="1874519"/>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2" name="Oval 11"/>
          <p:cNvSpPr/>
          <p:nvPr/>
        </p:nvSpPr>
        <p:spPr>
          <a:xfrm>
            <a:off x="6446520" y="2194560"/>
            <a:ext cx="685800" cy="685800"/>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2</a:t>
            </a:r>
          </a:p>
        </p:txBody>
      </p:sp>
      <p:sp>
        <p:nvSpPr>
          <p:cNvPr id="13" name="TextBox 12"/>
          <p:cNvSpPr txBox="1"/>
          <p:nvPr/>
        </p:nvSpPr>
        <p:spPr>
          <a:xfrm>
            <a:off x="7360920" y="2148839"/>
            <a:ext cx="4023360" cy="1371600"/>
          </a:xfrm>
          <a:prstGeom prst="rect">
            <a:avLst/>
          </a:prstGeom>
          <a:noFill/>
        </p:spPr>
        <p:txBody>
          <a:bodyPr wrap="square" lIns="0" rIns="0" tIns="0" bIns="0" anchor="t">
            <a:spAutoFit/>
          </a:bodyPr>
          <a:lstStyle/>
          <a:p>
            <a:pPr algn="l">
              <a:spcAft>
                <a:spcPts val="400"/>
              </a:spcAft>
            </a:pPr>
            <a:r>
              <a:rPr sz="1800" b="1" i="0">
                <a:solidFill>
                  <a:srgbClr val="0F6E6A"/>
                </a:solidFill>
              </a:rPr>
              <a:t>State the contract</a:t>
            </a:r>
          </a:p>
          <a:p>
            <a:pPr algn="l"/>
            <a:r>
              <a:rPr sz="1500" b="0" i="0">
                <a:solidFill>
                  <a:srgbClr val="1F2433"/>
                </a:solidFill>
              </a:rPr>
              <a:t>the deployment contract: observation order, units, scaling, rate and action limits</a:t>
            </a:r>
          </a:p>
        </p:txBody>
      </p:sp>
      <p:sp>
        <p:nvSpPr>
          <p:cNvPr id="14" name="Rounded Rectangle 13"/>
          <p:cNvSpPr/>
          <p:nvPr/>
        </p:nvSpPr>
        <p:spPr>
          <a:xfrm>
            <a:off x="548640" y="3886200"/>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5" name="Oval 14"/>
          <p:cNvSpPr/>
          <p:nvPr/>
        </p:nvSpPr>
        <p:spPr>
          <a:xfrm>
            <a:off x="822959" y="4206240"/>
            <a:ext cx="685800" cy="68580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3</a:t>
            </a:r>
          </a:p>
        </p:txBody>
      </p:sp>
      <p:sp>
        <p:nvSpPr>
          <p:cNvPr id="16" name="TextBox 15"/>
          <p:cNvSpPr txBox="1"/>
          <p:nvPr/>
        </p:nvSpPr>
        <p:spPr>
          <a:xfrm>
            <a:off x="1737360" y="4160520"/>
            <a:ext cx="4023360" cy="1371600"/>
          </a:xfrm>
          <a:prstGeom prst="rect">
            <a:avLst/>
          </a:prstGeom>
          <a:noFill/>
        </p:spPr>
        <p:txBody>
          <a:bodyPr wrap="square" lIns="0" rIns="0" tIns="0" bIns="0" anchor="t">
            <a:spAutoFit/>
          </a:bodyPr>
          <a:lstStyle/>
          <a:p>
            <a:pPr algn="l">
              <a:spcAft>
                <a:spcPts val="400"/>
              </a:spcAft>
            </a:pPr>
            <a:r>
              <a:rPr sz="1800" b="1" i="0">
                <a:solidFill>
                  <a:srgbClr val="E30613"/>
                </a:solidFill>
              </a:rPr>
              <a:t>Judge transfer</a:t>
            </a:r>
          </a:p>
          <a:p>
            <a:pPr algn="l"/>
            <a:r>
              <a:rPr sz="1500" b="0" i="0">
                <a:solidFill>
                  <a:srgbClr val="1F2433"/>
                </a:solidFill>
              </a:rPr>
              <a:t>why a Reach policy can transfer while a Lift policy needs extra perception</a:t>
            </a:r>
          </a:p>
        </p:txBody>
      </p:sp>
      <p:sp>
        <p:nvSpPr>
          <p:cNvPr id="17" name="Rounded Rectangle 16"/>
          <p:cNvSpPr/>
          <p:nvPr/>
        </p:nvSpPr>
        <p:spPr>
          <a:xfrm>
            <a:off x="6172200" y="3886200"/>
            <a:ext cx="544068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Oval 17"/>
          <p:cNvSpPr/>
          <p:nvPr/>
        </p:nvSpPr>
        <p:spPr>
          <a:xfrm>
            <a:off x="6446520" y="4206240"/>
            <a:ext cx="685800" cy="68580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200" b="1" i="0">
                <a:solidFill>
                  <a:srgbClr val="FFFFFF"/>
                </a:solidFill>
              </a:rPr>
              <a:t>4</a:t>
            </a:r>
          </a:p>
        </p:txBody>
      </p:sp>
      <p:sp>
        <p:nvSpPr>
          <p:cNvPr id="19" name="TextBox 18"/>
          <p:cNvSpPr txBox="1"/>
          <p:nvPr/>
        </p:nvSpPr>
        <p:spPr>
          <a:xfrm>
            <a:off x="7360920" y="4160520"/>
            <a:ext cx="4023360" cy="1371600"/>
          </a:xfrm>
          <a:prstGeom prst="rect">
            <a:avLst/>
          </a:prstGeom>
          <a:noFill/>
        </p:spPr>
        <p:txBody>
          <a:bodyPr wrap="square" lIns="0" rIns="0" tIns="0" bIns="0" anchor="t">
            <a:spAutoFit/>
          </a:bodyPr>
          <a:lstStyle/>
          <a:p>
            <a:pPr algn="l">
              <a:spcAft>
                <a:spcPts val="400"/>
              </a:spcAft>
            </a:pPr>
            <a:r>
              <a:rPr sz="1800" b="1" i="0">
                <a:solidFill>
                  <a:srgbClr val="164194"/>
                </a:solidFill>
              </a:rPr>
              <a:t>Evaluate on the arm</a:t>
            </a:r>
          </a:p>
          <a:p>
            <a:pPr algn="l"/>
            <a:r>
              <a:rPr sz="1500" b="0" i="0">
                <a:solidFill>
                  <a:srgbClr val="1F2433"/>
                </a:solidFill>
              </a:rPr>
              <a:t>which metrics and failure categories to use for an RL policy on the real 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Prediction: what will your policy do on the real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5</a:t>
            </a:fld>
            <a:endParaRPr lang="en-SG"/>
          </a:p>
        </p:txBody>
      </p:sp>
      <p:sp>
        <p:nvSpPr>
          <p:cNvPr id="7" name="Rounded Rectangle 6"/>
          <p:cNvSpPr/>
          <p:nvPr/>
        </p:nvSpPr>
        <p:spPr>
          <a:xfrm>
            <a:off x="548640" y="1600200"/>
            <a:ext cx="4206240" cy="3931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1300" b="1" i="0">
                <a:solidFill>
                  <a:srgbClr val="DDE5F7"/>
                </a:solidFill>
              </a:rPr>
              <a:t>THE SITUATION</a:t>
            </a:r>
          </a:p>
          <a:p>
            <a:pPr algn="l">
              <a:spcAft>
                <a:spcPts val="1000"/>
              </a:spcAft>
            </a:pPr>
            <a:r>
              <a:rPr sz="1800" b="0" i="0">
                <a:solidFill>
                  <a:srgbClr val="FFFFFF"/>
                </a:solidFill>
              </a:rPr>
              <a:t>Your randomised Reach policy from Lab 6 lands within 1 cm of every target in simulation.</a:t>
            </a:r>
          </a:p>
          <a:p>
            <a:pPr algn="l">
              <a:spcAft>
                <a:spcPts val="1400"/>
              </a:spcAft>
            </a:pPr>
            <a:r>
              <a:rPr sz="1800" b="0" i="0">
                <a:solidFill>
                  <a:srgbClr val="FFFFFF"/>
                </a:solidFill>
              </a:rPr>
              <a:t>Next week you run it, unchanged, on your pod's real SO-101.</a:t>
            </a:r>
          </a:p>
          <a:p>
            <a:pPr algn="l"/>
            <a:r>
              <a:rPr sz="2200" b="1" i="0">
                <a:solidFill>
                  <a:srgbClr val="FFFFFF"/>
                </a:solidFill>
              </a:rPr>
              <a:t>What happens?</a:t>
            </a:r>
          </a:p>
        </p:txBody>
      </p:sp>
      <p:sp>
        <p:nvSpPr>
          <p:cNvPr id="8" name="Rounded Rectangle 7"/>
          <p:cNvSpPr/>
          <p:nvPr/>
        </p:nvSpPr>
        <p:spPr>
          <a:xfrm>
            <a:off x="5029200" y="1600200"/>
            <a:ext cx="731520" cy="82296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A</a:t>
            </a:r>
          </a:p>
        </p:txBody>
      </p:sp>
      <p:sp>
        <p:nvSpPr>
          <p:cNvPr id="9" name="Rounded Rectangle 8"/>
          <p:cNvSpPr/>
          <p:nvPr/>
        </p:nvSpPr>
        <p:spPr>
          <a:xfrm>
            <a:off x="5897880" y="1600200"/>
            <a:ext cx="5715000" cy="8229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Same as simulation: within 1 cm of every target</a:t>
            </a:r>
          </a:p>
        </p:txBody>
      </p:sp>
      <p:sp>
        <p:nvSpPr>
          <p:cNvPr id="10" name="Rounded Rectangle 9"/>
          <p:cNvSpPr/>
          <p:nvPr/>
        </p:nvSpPr>
        <p:spPr>
          <a:xfrm>
            <a:off x="5029200" y="2606040"/>
            <a:ext cx="731520" cy="82296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B</a:t>
            </a:r>
          </a:p>
        </p:txBody>
      </p:sp>
      <p:sp>
        <p:nvSpPr>
          <p:cNvPr id="11" name="Rounded Rectangle 10"/>
          <p:cNvSpPr/>
          <p:nvPr/>
        </p:nvSpPr>
        <p:spPr>
          <a:xfrm>
            <a:off x="5897880" y="2606040"/>
            <a:ext cx="5715000" cy="8229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It reaches, but less accurately: 2 to 4 cm off</a:t>
            </a:r>
          </a:p>
        </p:txBody>
      </p:sp>
      <p:sp>
        <p:nvSpPr>
          <p:cNvPr id="12" name="Rounded Rectangle 11"/>
          <p:cNvSpPr/>
          <p:nvPr/>
        </p:nvSpPr>
        <p:spPr>
          <a:xfrm>
            <a:off x="5029200" y="3611880"/>
            <a:ext cx="731520" cy="8229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C</a:t>
            </a:r>
          </a:p>
        </p:txBody>
      </p:sp>
      <p:sp>
        <p:nvSpPr>
          <p:cNvPr id="13" name="Rounded Rectangle 12"/>
          <p:cNvSpPr/>
          <p:nvPr/>
        </p:nvSpPr>
        <p:spPr>
          <a:xfrm>
            <a:off x="5897880" y="3611880"/>
            <a:ext cx="5715000" cy="8229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It moves wildly or slams a joint into its limit</a:t>
            </a:r>
          </a:p>
        </p:txBody>
      </p:sp>
      <p:sp>
        <p:nvSpPr>
          <p:cNvPr id="14" name="Rounded Rectangle 13"/>
          <p:cNvSpPr/>
          <p:nvPr/>
        </p:nvSpPr>
        <p:spPr>
          <a:xfrm>
            <a:off x="5029200" y="4617720"/>
            <a:ext cx="731520" cy="8229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D</a:t>
            </a:r>
          </a:p>
        </p:txBody>
      </p:sp>
      <p:sp>
        <p:nvSpPr>
          <p:cNvPr id="15" name="Rounded Rectangle 14"/>
          <p:cNvSpPr/>
          <p:nvPr/>
        </p:nvSpPr>
        <p:spPr>
          <a:xfrm>
            <a:off x="5897880" y="4617720"/>
            <a:ext cx="5715000" cy="8229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i="0">
                <a:solidFill>
                  <a:srgbClr val="1F2433"/>
                </a:solidFill>
              </a:rPr>
              <a:t>It barely moves at all</a:t>
            </a:r>
          </a:p>
        </p:txBody>
      </p:sp>
      <p:sp>
        <p:nvSpPr>
          <p:cNvPr id="16" name="TextBox 15"/>
          <p:cNvSpPr txBox="1"/>
          <p:nvPr/>
        </p:nvSpPr>
        <p:spPr>
          <a:xfrm>
            <a:off x="548640" y="5760720"/>
            <a:ext cx="11064240" cy="365760"/>
          </a:xfrm>
          <a:prstGeom prst="rect">
            <a:avLst/>
          </a:prstGeom>
          <a:noFill/>
        </p:spPr>
        <p:txBody>
          <a:bodyPr wrap="square" lIns="0" rIns="0" tIns="0" bIns="0" anchor="t">
            <a:spAutoFit/>
          </a:bodyPr>
          <a:lstStyle/>
          <a:p>
            <a:pPr algn="l"/>
            <a:r>
              <a:rPr sz="1400" b="0" i="1">
                <a:solidFill>
                  <a:srgbClr val="5B6275"/>
                </a:solidFill>
              </a:rPr>
              <a:t>Vote now and write your letter down. We come back to it at the end of the lesson.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6</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The reality gap on a low-cost arm</a:t>
            </a:r>
          </a:p>
          <a:p>
            <a:pPr algn="l"/>
            <a:r>
              <a:rPr sz="1800" b="0" i="0">
                <a:solidFill>
                  <a:srgbClr val="DDE5F7"/>
                </a:solidFill>
              </a:rPr>
              <a:t>Why a policy that works in simulation can fail on the real SO-101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policy, two different arms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7</a:t>
            </a:fld>
            <a:endParaRPr lang="en-SG"/>
          </a:p>
        </p:txBody>
      </p:sp>
      <p:sp>
        <p:nvSpPr>
          <p:cNvPr id="7" name="Rounded Rectangle 6"/>
          <p:cNvSpPr/>
          <p:nvPr/>
        </p:nvSpPr>
        <p:spPr>
          <a:xfrm>
            <a:off x="2880360" y="1508760"/>
            <a:ext cx="429768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In Isaac Lab</a:t>
            </a:r>
          </a:p>
        </p:txBody>
      </p:sp>
      <p:sp>
        <p:nvSpPr>
          <p:cNvPr id="8" name="Rounded Rectangle 7"/>
          <p:cNvSpPr/>
          <p:nvPr/>
        </p:nvSpPr>
        <p:spPr>
          <a:xfrm>
            <a:off x="7315200" y="1508760"/>
            <a:ext cx="4297680" cy="548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On the real SO-101</a:t>
            </a:r>
          </a:p>
        </p:txBody>
      </p:sp>
      <p:sp>
        <p:nvSpPr>
          <p:cNvPr id="9" name="Rounded Rectangle 8"/>
          <p:cNvSpPr/>
          <p:nvPr/>
        </p:nvSpPr>
        <p:spPr>
          <a:xfrm>
            <a:off x="548640" y="2148840"/>
            <a:ext cx="2194560" cy="80467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Actuators</a:t>
            </a:r>
          </a:p>
        </p:txBody>
      </p:sp>
      <p:sp>
        <p:nvSpPr>
          <p:cNvPr id="10" name="Rounded Rectangle 9"/>
          <p:cNvSpPr/>
          <p:nvPr/>
        </p:nvSpPr>
        <p:spPr>
          <a:xfrm>
            <a:off x="2880360" y="2148840"/>
            <a:ext cx="4297680" cy="804672"/>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Ideal drives that follow the stiffness and damping you set, every time</a:t>
            </a:r>
          </a:p>
        </p:txBody>
      </p:sp>
      <p:sp>
        <p:nvSpPr>
          <p:cNvPr id="11" name="Rounded Rectangle 10"/>
          <p:cNvSpPr/>
          <p:nvPr/>
        </p:nvSpPr>
        <p:spPr>
          <a:xfrm>
            <a:off x="7315200" y="2148840"/>
            <a:ext cx="429768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Hobby servos with backlash and friction; response changes with load; position commands only</a:t>
            </a:r>
          </a:p>
        </p:txBody>
      </p:sp>
      <p:sp>
        <p:nvSpPr>
          <p:cNvPr id="12" name="Rounded Rectangle 11"/>
          <p:cNvSpPr/>
          <p:nvPr/>
        </p:nvSpPr>
        <p:spPr>
          <a:xfrm>
            <a:off x="548640" y="3044952"/>
            <a:ext cx="2194560" cy="80467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Sensing</a:t>
            </a:r>
          </a:p>
        </p:txBody>
      </p:sp>
      <p:sp>
        <p:nvSpPr>
          <p:cNvPr id="13" name="Rounded Rectangle 12"/>
          <p:cNvSpPr/>
          <p:nvPr/>
        </p:nvSpPr>
        <p:spPr>
          <a:xfrm>
            <a:off x="2880360" y="3044952"/>
            <a:ext cx="4297680" cy="804672"/>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Exact joint angles and velocities, with no noise unless you add it</a:t>
            </a:r>
          </a:p>
        </p:txBody>
      </p:sp>
      <p:sp>
        <p:nvSpPr>
          <p:cNvPr id="14" name="Rounded Rectangle 13"/>
          <p:cNvSpPr/>
          <p:nvPr/>
        </p:nvSpPr>
        <p:spPr>
          <a:xfrm>
            <a:off x="7315200" y="3044952"/>
            <a:ext cx="429768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Encoder steps, a small calibration offset and noisy readings; velocity must be estimated</a:t>
            </a:r>
          </a:p>
        </p:txBody>
      </p:sp>
      <p:sp>
        <p:nvSpPr>
          <p:cNvPr id="15" name="Rounded Rectangle 14"/>
          <p:cNvSpPr/>
          <p:nvPr/>
        </p:nvSpPr>
        <p:spPr>
          <a:xfrm>
            <a:off x="548640" y="3941064"/>
            <a:ext cx="2194560" cy="80467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Timing</a:t>
            </a:r>
          </a:p>
        </p:txBody>
      </p:sp>
      <p:sp>
        <p:nvSpPr>
          <p:cNvPr id="16" name="Rounded Rectangle 15"/>
          <p:cNvSpPr/>
          <p:nvPr/>
        </p:nvSpPr>
        <p:spPr>
          <a:xfrm>
            <a:off x="2880360" y="3941064"/>
            <a:ext cx="4297680" cy="804672"/>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Observe and act in the same instant, exactly 30 times a second</a:t>
            </a:r>
          </a:p>
        </p:txBody>
      </p:sp>
      <p:sp>
        <p:nvSpPr>
          <p:cNvPr id="17" name="Rounded Rectangle 16"/>
          <p:cNvSpPr/>
          <p:nvPr/>
        </p:nvSpPr>
        <p:spPr>
          <a:xfrm>
            <a:off x="7315200" y="3941064"/>
            <a:ext cx="429768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Reading and writing six servos over USB takes time, and the loop rate can slip</a:t>
            </a:r>
          </a:p>
        </p:txBody>
      </p:sp>
      <p:sp>
        <p:nvSpPr>
          <p:cNvPr id="18" name="Rounded Rectangle 17"/>
          <p:cNvSpPr/>
          <p:nvPr/>
        </p:nvSpPr>
        <p:spPr>
          <a:xfrm>
            <a:off x="548640" y="4837176"/>
            <a:ext cx="2194560" cy="80467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Target</a:t>
            </a:r>
          </a:p>
        </p:txBody>
      </p:sp>
      <p:sp>
        <p:nvSpPr>
          <p:cNvPr id="19" name="Rounded Rectangle 18"/>
          <p:cNvSpPr/>
          <p:nvPr/>
        </p:nvSpPr>
        <p:spPr>
          <a:xfrm>
            <a:off x="2880360" y="4837176"/>
            <a:ext cx="4297680" cy="804672"/>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Known exactly, in the robot's own frame</a:t>
            </a:r>
          </a:p>
        </p:txBody>
      </p:sp>
      <p:sp>
        <p:nvSpPr>
          <p:cNvPr id="20" name="Rounded Rectangle 19"/>
          <p:cNvSpPr/>
          <p:nvPr/>
        </p:nvSpPr>
        <p:spPr>
          <a:xfrm>
            <a:off x="7315200" y="4837176"/>
            <a:ext cx="4297680" cy="804672"/>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Must be chosen and measured in the robot's frame; the grid mat is our ground truth</a:t>
            </a:r>
          </a:p>
        </p:txBody>
      </p:sp>
      <p:sp>
        <p:nvSpPr>
          <p:cNvPr id="21" name="TextBox 20"/>
          <p:cNvSpPr txBox="1"/>
          <p:nvPr/>
        </p:nvSpPr>
        <p:spPr>
          <a:xfrm>
            <a:off x="548640" y="5806440"/>
            <a:ext cx="11064240" cy="365760"/>
          </a:xfrm>
          <a:prstGeom prst="rect">
            <a:avLst/>
          </a:prstGeom>
          <a:noFill/>
        </p:spPr>
        <p:txBody>
          <a:bodyPr wrap="square" lIns="0" rIns="0" tIns="0" bIns="0" anchor="t">
            <a:spAutoFit/>
          </a:bodyPr>
          <a:lstStyle/>
          <a:p>
            <a:pPr algn="l"/>
            <a:r>
              <a:rPr sz="1500" b="1" i="0">
                <a:solidFill>
                  <a:srgbClr val="164194"/>
                </a:solidFill>
              </a:rPr>
              <a:t>The policy only ever met the left column. Everything on the right is new to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Inside a hobby servo: where the dynamics gap comes from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8</a:t>
            </a:fld>
            <a:endParaRPr lang="en-SG"/>
          </a:p>
        </p:txBody>
      </p:sp>
      <p:sp>
        <p:nvSpPr>
          <p:cNvPr id="7" name="Rounded Rectangle 6"/>
          <p:cNvSpPr/>
          <p:nvPr/>
        </p:nvSpPr>
        <p:spPr>
          <a:xfrm>
            <a:off x="548640" y="1600200"/>
            <a:ext cx="24231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Command</a:t>
            </a:r>
          </a:p>
          <a:p>
            <a:pPr algn="ctr"/>
            <a:r>
              <a:rPr sz="1300" b="0" i="0">
                <a:solidFill>
                  <a:srgbClr val="DDE5F7"/>
                </a:solidFill>
              </a:rPr>
              <a:t>target angle from the bridge</a:t>
            </a:r>
          </a:p>
        </p:txBody>
      </p:sp>
      <p:sp>
        <p:nvSpPr>
          <p:cNvPr id="8" name="Rounded Rectangle 7"/>
          <p:cNvSpPr/>
          <p:nvPr/>
        </p:nvSpPr>
        <p:spPr>
          <a:xfrm>
            <a:off x="3429000" y="1600200"/>
            <a:ext cx="2423160" cy="960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Servo controller</a:t>
            </a:r>
          </a:p>
          <a:p>
            <a:pPr algn="ctr"/>
            <a:r>
              <a:rPr sz="1300" b="0" i="0">
                <a:solidFill>
                  <a:srgbClr val="DDE5F7"/>
                </a:solidFill>
              </a:rPr>
              <a:t>its own firmware decides the effort</a:t>
            </a:r>
          </a:p>
        </p:txBody>
      </p:sp>
      <p:sp>
        <p:nvSpPr>
          <p:cNvPr id="9" name="Rounded Rectangle 8"/>
          <p:cNvSpPr/>
          <p:nvPr/>
        </p:nvSpPr>
        <p:spPr>
          <a:xfrm>
            <a:off x="6309360" y="1600200"/>
            <a:ext cx="2423160" cy="960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Motor + gearbox</a:t>
            </a:r>
          </a:p>
          <a:p>
            <a:pPr algn="ctr"/>
            <a:r>
              <a:rPr sz="1300" b="0" i="0">
                <a:solidFill>
                  <a:srgbClr val="DDE5F7"/>
                </a:solidFill>
              </a:rPr>
              <a:t>turns the output shaft</a:t>
            </a:r>
          </a:p>
        </p:txBody>
      </p:sp>
      <p:sp>
        <p:nvSpPr>
          <p:cNvPr id="10" name="Rounded Rectangle 9"/>
          <p:cNvSpPr/>
          <p:nvPr/>
        </p:nvSpPr>
        <p:spPr>
          <a:xfrm>
            <a:off x="9189720" y="1600200"/>
            <a:ext cx="24231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Encoder</a:t>
            </a:r>
          </a:p>
          <a:p>
            <a:pPr algn="ctr"/>
            <a:r>
              <a:rPr sz="1300" b="0" i="0">
                <a:solidFill>
                  <a:srgbClr val="DDE5F7"/>
                </a:solidFill>
              </a:rPr>
              <a:t>reports the angle back</a:t>
            </a:r>
          </a:p>
        </p:txBody>
      </p:sp>
      <p:cxnSp>
        <p:nvCxnSpPr>
          <p:cNvPr id="11" name="Connector 10"/>
          <p:cNvCxnSpPr/>
          <p:nvPr/>
        </p:nvCxnSpPr>
        <p:spPr>
          <a:xfrm>
            <a:off x="3017520" y="207568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207568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78240" y="207568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2633472"/>
            <a:ext cx="2423160" cy="320040"/>
          </a:xfrm>
          <a:prstGeom prst="rect">
            <a:avLst/>
          </a:prstGeom>
          <a:noFill/>
        </p:spPr>
        <p:txBody>
          <a:bodyPr wrap="square" lIns="0" rIns="0" tIns="0" bIns="0" anchor="t">
            <a:spAutoFit/>
          </a:bodyPr>
          <a:lstStyle/>
          <a:p>
            <a:pPr algn="ctr"/>
            <a:r>
              <a:rPr sz="1200" b="1" i="0">
                <a:solidFill>
                  <a:srgbClr val="164194"/>
                </a:solidFill>
              </a:rPr>
              <a:t>we control this</a:t>
            </a:r>
          </a:p>
        </p:txBody>
      </p:sp>
      <p:sp>
        <p:nvSpPr>
          <p:cNvPr id="15" name="TextBox 14"/>
          <p:cNvSpPr txBox="1"/>
          <p:nvPr/>
        </p:nvSpPr>
        <p:spPr>
          <a:xfrm>
            <a:off x="3429000" y="2633472"/>
            <a:ext cx="8183879" cy="320040"/>
          </a:xfrm>
          <a:prstGeom prst="rect">
            <a:avLst/>
          </a:prstGeom>
          <a:noFill/>
        </p:spPr>
        <p:txBody>
          <a:bodyPr wrap="square" lIns="0" rIns="0" tIns="0" bIns="0" anchor="t">
            <a:spAutoFit/>
          </a:bodyPr>
          <a:lstStyle/>
          <a:p>
            <a:pPr algn="ctr"/>
            <a:r>
              <a:rPr sz="1200" b="1" i="0">
                <a:solidFill>
                  <a:srgbClr val="0F6E6A"/>
                </a:solidFill>
              </a:rPr>
              <a:t>the servo controls all of this</a:t>
            </a:r>
          </a:p>
        </p:txBody>
      </p:sp>
      <p:sp>
        <p:nvSpPr>
          <p:cNvPr id="16" name="Rounded Rectangle 15"/>
          <p:cNvSpPr/>
          <p:nvPr/>
        </p:nvSpPr>
        <p:spPr>
          <a:xfrm>
            <a:off x="548640" y="3108960"/>
            <a:ext cx="2651760" cy="20116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E30613"/>
                </a:solidFill>
              </a:rPr>
              <a:t>Backlash</a:t>
            </a:r>
          </a:p>
          <a:p>
            <a:pPr algn="l"/>
            <a:r>
              <a:rPr sz="1400" b="0" i="0">
                <a:solidFill>
                  <a:srgbClr val="1F2433"/>
                </a:solidFill>
              </a:rPr>
              <a:t>The gears have slack. Reverse direction and the motor turns a little before the shaft moves.</a:t>
            </a:r>
          </a:p>
        </p:txBody>
      </p:sp>
      <p:sp>
        <p:nvSpPr>
          <p:cNvPr id="17" name="Rounded Rectangle 16"/>
          <p:cNvSpPr/>
          <p:nvPr/>
        </p:nvSpPr>
        <p:spPr>
          <a:xfrm>
            <a:off x="3337560" y="3108960"/>
            <a:ext cx="2651760" cy="20116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E30613"/>
                </a:solidFill>
              </a:rPr>
              <a:t>Friction</a:t>
            </a:r>
          </a:p>
          <a:p>
            <a:pPr algn="l"/>
            <a:r>
              <a:rPr sz="1400" b="0" i="0">
                <a:solidFill>
                  <a:srgbClr val="1F2433"/>
                </a:solidFill>
              </a:rPr>
              <a:t>Very small commands may not move the joint at all. Then it suddenly unsticks.</a:t>
            </a:r>
          </a:p>
        </p:txBody>
      </p:sp>
      <p:sp>
        <p:nvSpPr>
          <p:cNvPr id="18" name="Rounded Rectangle 17"/>
          <p:cNvSpPr/>
          <p:nvPr/>
        </p:nvSpPr>
        <p:spPr>
          <a:xfrm>
            <a:off x="6126479" y="3108960"/>
            <a:ext cx="2651760" cy="20116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E30613"/>
                </a:solidFill>
              </a:rPr>
              <a:t>Load</a:t>
            </a:r>
          </a:p>
          <a:p>
            <a:pPr algn="l"/>
            <a:r>
              <a:rPr sz="1400" b="0" i="0">
                <a:solidFill>
                  <a:srgbClr val="1F2433"/>
                </a:solidFill>
              </a:rPr>
              <a:t>The same command moves faster folded up than stretched out, where gravity pulls harder.</a:t>
            </a:r>
          </a:p>
        </p:txBody>
      </p:sp>
      <p:sp>
        <p:nvSpPr>
          <p:cNvPr id="19" name="Rounded Rectangle 18"/>
          <p:cNvSpPr/>
          <p:nvPr/>
        </p:nvSpPr>
        <p:spPr>
          <a:xfrm>
            <a:off x="8915399" y="3108960"/>
            <a:ext cx="2651760" cy="20116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E30613"/>
                </a:solidFill>
              </a:rPr>
              <a:t>Position only</a:t>
            </a:r>
          </a:p>
          <a:p>
            <a:pPr algn="l"/>
            <a:r>
              <a:rPr sz="1400" b="0" i="0">
                <a:solidFill>
                  <a:srgbClr val="1F2433"/>
                </a:solidFill>
              </a:rPr>
              <a:t>You send an angle, never a force. The servo decides how hard to push to get there.</a:t>
            </a:r>
          </a:p>
        </p:txBody>
      </p:sp>
      <p:sp>
        <p:nvSpPr>
          <p:cNvPr id="20" name="Rounded Rectangle 19"/>
          <p:cNvSpPr/>
          <p:nvPr/>
        </p:nvSpPr>
        <p:spPr>
          <a:xfrm>
            <a:off x="548640" y="5349240"/>
            <a:ext cx="1106424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Simulation models each servo as a clean spring and damper. Close, but not the same machine: that difference is the dynamics gap.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how big is a “small” error at the gripper?</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9</a:t>
            </a:fld>
            <a:endParaRPr lang="en-SG"/>
          </a:p>
        </p:txBody>
      </p:sp>
      <p:sp>
        <p:nvSpPr>
          <p:cNvPr id="7" name="Rectangle 6"/>
          <p:cNvSpPr/>
          <p:nvPr/>
        </p:nvSpPr>
        <p:spPr>
          <a:xfrm>
            <a:off x="548640" y="1463040"/>
            <a:ext cx="110642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600" b="1" i="0">
                <a:solidFill>
                  <a:srgbClr val="164194"/>
                </a:solidFill>
              </a:rPr>
              <a:t>Error at the gripper ≈ distance from the joint × angle error (in radians)</a:t>
            </a:r>
          </a:p>
        </p:txBody>
      </p:sp>
      <p:sp>
        <p:nvSpPr>
          <p:cNvPr id="8" name="Rounded Rectangle 7"/>
          <p:cNvSpPr/>
          <p:nvPr/>
        </p:nvSpPr>
        <p:spPr>
          <a:xfrm>
            <a:off x="548640" y="2103120"/>
            <a:ext cx="5394960" cy="2880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ctr">
              <a:spcAft>
                <a:spcPts val="800"/>
              </a:spcAft>
            </a:pPr>
            <a:r>
              <a:rPr sz="1700" b="1" i="0">
                <a:solidFill>
                  <a:srgbClr val="164194"/>
                </a:solidFill>
              </a:rPr>
              <a:t>A 1° calibration offset at the shoulder</a:t>
            </a:r>
          </a:p>
          <a:p>
            <a:pPr algn="ctr">
              <a:spcAft>
                <a:spcPts val="200"/>
              </a:spcAft>
            </a:pPr>
            <a:r>
              <a:rPr sz="1500" b="0" i="0">
                <a:solidFill>
                  <a:srgbClr val="1F2433"/>
                </a:solidFill>
              </a:rPr>
              <a:t>1° = 0.0175 rad</a:t>
            </a:r>
          </a:p>
          <a:p>
            <a:pPr algn="ctr">
              <a:spcAft>
                <a:spcPts val="600"/>
              </a:spcAft>
            </a:pPr>
            <a:r>
              <a:rPr sz="1500" b="0" i="0">
                <a:solidFill>
                  <a:srgbClr val="1F2433"/>
                </a:solidFill>
              </a:rPr>
              <a:t>× 0.30 m from shoulder to gripper</a:t>
            </a:r>
          </a:p>
          <a:p>
            <a:pPr algn="ctr"/>
            <a:r>
              <a:rPr sz="4400" b="1" i="0">
                <a:solidFill>
                  <a:srgbClr val="164194"/>
                </a:solidFill>
              </a:rPr>
              <a:t>≈ 5 mm</a:t>
            </a:r>
          </a:p>
          <a:p>
            <a:pPr algn="ctr"/>
            <a:r>
              <a:rPr sz="1400" b="0" i="0">
                <a:solidFill>
                  <a:srgbClr val="5B6275"/>
                </a:solidFill>
              </a:rPr>
              <a:t>at the gripper, from one degree</a:t>
            </a:r>
          </a:p>
        </p:txBody>
      </p:sp>
      <p:sp>
        <p:nvSpPr>
          <p:cNvPr id="9" name="Rounded Rectangle 8"/>
          <p:cNvSpPr/>
          <p:nvPr/>
        </p:nvSpPr>
        <p:spPr>
          <a:xfrm>
            <a:off x="6217920" y="2103120"/>
            <a:ext cx="5394960" cy="28803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ctr">
              <a:spcAft>
                <a:spcPts val="800"/>
              </a:spcAft>
            </a:pPr>
            <a:r>
              <a:rPr sz="1700" b="1" i="0">
                <a:solidFill>
                  <a:srgbClr val="E30613"/>
                </a:solidFill>
              </a:rPr>
              <a:t>One step of delay, joint moving at 1 rad/s</a:t>
            </a:r>
          </a:p>
          <a:p>
            <a:pPr algn="ctr">
              <a:spcAft>
                <a:spcPts val="200"/>
              </a:spcAft>
            </a:pPr>
            <a:r>
              <a:rPr sz="1500" b="0" i="0">
                <a:solidFill>
                  <a:srgbClr val="1F2433"/>
                </a:solidFill>
              </a:rPr>
              <a:t>0.033 s × 1 rad/s = 0.033 rad (about 1.9°)</a:t>
            </a:r>
          </a:p>
          <a:p>
            <a:pPr algn="ctr">
              <a:spcAft>
                <a:spcPts val="600"/>
              </a:spcAft>
            </a:pPr>
            <a:r>
              <a:rPr sz="1500" b="0" i="0">
                <a:solidFill>
                  <a:srgbClr val="1F2433"/>
                </a:solidFill>
              </a:rPr>
              <a:t>× 0.30 m from shoulder to gripper</a:t>
            </a:r>
          </a:p>
          <a:p>
            <a:pPr algn="ctr"/>
            <a:r>
              <a:rPr sz="4400" b="1" i="0">
                <a:solidFill>
                  <a:srgbClr val="E30613"/>
                </a:solidFill>
              </a:rPr>
              <a:t>≈ 10 mm</a:t>
            </a:r>
          </a:p>
          <a:p>
            <a:pPr algn="ctr"/>
            <a:r>
              <a:rPr sz="1400" b="0" i="0">
                <a:solidFill>
                  <a:srgbClr val="5B6275"/>
                </a:solidFill>
              </a:rPr>
              <a:t>of stale information, every step</a:t>
            </a:r>
          </a:p>
        </p:txBody>
      </p:sp>
      <p:sp>
        <p:nvSpPr>
          <p:cNvPr id="10" name="Rounded Rectangle 9"/>
          <p:cNvSpPr/>
          <p:nvPr/>
        </p:nvSpPr>
        <p:spPr>
          <a:xfrm>
            <a:off x="548640" y="5166360"/>
            <a:ext cx="11064240" cy="6858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Our success tolerance is 20 mm. Two small errors like these use up most of it before the policy makes a mistake of its own.</a:t>
            </a:r>
          </a:p>
        </p:txBody>
      </p:sp>
      <p:sp>
        <p:nvSpPr>
          <p:cNvPr id="11" name="TextBox 10"/>
          <p:cNvSpPr txBox="1"/>
          <p:nvPr/>
        </p:nvSpPr>
        <p:spPr>
          <a:xfrm>
            <a:off x="548640" y="5943600"/>
            <a:ext cx="11064240" cy="274320"/>
          </a:xfrm>
          <a:prstGeom prst="rect">
            <a:avLst/>
          </a:prstGeom>
          <a:noFill/>
        </p:spPr>
        <p:txBody>
          <a:bodyPr wrap="square" lIns="0" rIns="0" tIns="0" bIns="0" anchor="t">
            <a:spAutoFit/>
          </a:bodyPr>
          <a:lstStyle/>
          <a:p>
            <a:pPr algn="l"/>
            <a:r>
              <a:rPr sz="1100" b="0" i="0">
                <a:solidFill>
                  <a:srgbClr val="5B6275"/>
                </a:solidFill>
              </a:rPr>
              <a:t>0.30 m is a round figure for the SO-101's reach, used for illustration.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Sensing, delay and control rate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10</a:t>
            </a:fld>
            <a:endParaRPr lang="en-SG"/>
          </a:p>
        </p:txBody>
      </p:sp>
      <p:sp>
        <p:nvSpPr>
          <p:cNvPr id="7" name="TextBox 6"/>
          <p:cNvSpPr txBox="1"/>
          <p:nvPr/>
        </p:nvSpPr>
        <p:spPr>
          <a:xfrm>
            <a:off x="2377440" y="1463040"/>
            <a:ext cx="1828800" cy="274320"/>
          </a:xfrm>
          <a:prstGeom prst="rect">
            <a:avLst/>
          </a:prstGeom>
          <a:noFill/>
        </p:spPr>
        <p:txBody>
          <a:bodyPr wrap="square" lIns="0" rIns="0" tIns="0" bIns="0" anchor="t">
            <a:spAutoFit/>
          </a:bodyPr>
          <a:lstStyle/>
          <a:p>
            <a:pPr algn="l"/>
            <a:r>
              <a:rPr sz="1200" b="0" i="0">
                <a:solidFill>
                  <a:srgbClr val="5B6275"/>
                </a:solidFill>
              </a:rPr>
              <a:t>0 ms</a:t>
            </a:r>
          </a:p>
        </p:txBody>
      </p:sp>
      <p:sp>
        <p:nvSpPr>
          <p:cNvPr id="8" name="TextBox 7"/>
          <p:cNvSpPr txBox="1"/>
          <p:nvPr/>
        </p:nvSpPr>
        <p:spPr>
          <a:xfrm>
            <a:off x="9784080" y="1463040"/>
            <a:ext cx="1828800" cy="274320"/>
          </a:xfrm>
          <a:prstGeom prst="rect">
            <a:avLst/>
          </a:prstGeom>
          <a:noFill/>
        </p:spPr>
        <p:txBody>
          <a:bodyPr wrap="square" lIns="0" rIns="0" tIns="0" bIns="0" anchor="t">
            <a:spAutoFit/>
          </a:bodyPr>
          <a:lstStyle/>
          <a:p>
            <a:pPr algn="r"/>
            <a:r>
              <a:rPr sz="1200" b="0" i="0">
                <a:solidFill>
                  <a:srgbClr val="5B6275"/>
                </a:solidFill>
              </a:rPr>
              <a:t>33 ms (one step at 30 Hz)</a:t>
            </a:r>
          </a:p>
        </p:txBody>
      </p:sp>
      <p:sp>
        <p:nvSpPr>
          <p:cNvPr id="9" name="Rectangle 8"/>
          <p:cNvSpPr/>
          <p:nvPr/>
        </p:nvSpPr>
        <p:spPr>
          <a:xfrm>
            <a:off x="548640" y="1783080"/>
            <a:ext cx="169164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i="0">
                <a:solidFill>
                  <a:srgbClr val="0F6E6A"/>
                </a:solidFill>
              </a:rPr>
              <a:t>Isaac Lab</a:t>
            </a:r>
          </a:p>
        </p:txBody>
      </p:sp>
      <p:sp>
        <p:nvSpPr>
          <p:cNvPr id="10" name="Rectangle 9"/>
          <p:cNvSpPr/>
          <p:nvPr/>
        </p:nvSpPr>
        <p:spPr>
          <a:xfrm>
            <a:off x="2377440" y="1783080"/>
            <a:ext cx="1554480" cy="59436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1300" b="1" i="0">
                <a:solidFill>
                  <a:srgbClr val="FFFFFF"/>
                </a:solidFill>
              </a:rPr>
              <a:t>observe + act</a:t>
            </a:r>
          </a:p>
        </p:txBody>
      </p:sp>
      <p:sp>
        <p:nvSpPr>
          <p:cNvPr id="11" name="Rectangle 10"/>
          <p:cNvSpPr/>
          <p:nvPr/>
        </p:nvSpPr>
        <p:spPr>
          <a:xfrm>
            <a:off x="3931920" y="1783080"/>
            <a:ext cx="7680960" cy="594360"/>
          </a:xfrm>
          <a:prstGeom prst="rect">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0" i="0">
                <a:solidFill>
                  <a:srgbClr val="0F6E6A"/>
                </a:solidFill>
              </a:rPr>
              <a:t>physics steps forward with the action already applied</a:t>
            </a:r>
          </a:p>
        </p:txBody>
      </p:sp>
      <p:sp>
        <p:nvSpPr>
          <p:cNvPr id="12" name="Rectangle 11"/>
          <p:cNvSpPr/>
          <p:nvPr/>
        </p:nvSpPr>
        <p:spPr>
          <a:xfrm>
            <a:off x="548640" y="2560320"/>
            <a:ext cx="169164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i="0">
                <a:solidFill>
                  <a:srgbClr val="E30613"/>
                </a:solidFill>
              </a:rPr>
              <a:t>Real arm</a:t>
            </a:r>
          </a:p>
        </p:txBody>
      </p:sp>
      <p:sp>
        <p:nvSpPr>
          <p:cNvPr id="13" name="Rectangle 12"/>
          <p:cNvSpPr/>
          <p:nvPr/>
        </p:nvSpPr>
        <p:spPr>
          <a:xfrm>
            <a:off x="2377440" y="2560320"/>
            <a:ext cx="2011680" cy="59436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1300" b="1" i="0">
                <a:solidFill>
                  <a:srgbClr val="FFFFFF"/>
                </a:solidFill>
              </a:rPr>
              <a:t>read 6 joints</a:t>
            </a:r>
          </a:p>
        </p:txBody>
      </p:sp>
      <p:sp>
        <p:nvSpPr>
          <p:cNvPr id="14" name="Rectangle 13"/>
          <p:cNvSpPr/>
          <p:nvPr/>
        </p:nvSpPr>
        <p:spPr>
          <a:xfrm>
            <a:off x="4389120" y="2560320"/>
            <a:ext cx="822960" cy="594360"/>
          </a:xfrm>
          <a:prstGeom prst="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1300" b="1" i="0">
                <a:solidFill>
                  <a:srgbClr val="FFFFFF"/>
                </a:solidFill>
              </a:rPr>
              <a:t>policy</a:t>
            </a:r>
          </a:p>
        </p:txBody>
      </p:sp>
      <p:sp>
        <p:nvSpPr>
          <p:cNvPr id="15" name="Rectangle 14"/>
          <p:cNvSpPr/>
          <p:nvPr/>
        </p:nvSpPr>
        <p:spPr>
          <a:xfrm>
            <a:off x="5212080" y="2560320"/>
            <a:ext cx="2011680" cy="594360"/>
          </a:xfrm>
          <a:prstGeom prst="rect">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1300" b="1" i="0">
                <a:solidFill>
                  <a:srgbClr val="FFFFFF"/>
                </a:solidFill>
              </a:rPr>
              <a:t>write 6 targets</a:t>
            </a:r>
          </a:p>
        </p:txBody>
      </p:sp>
      <p:sp>
        <p:nvSpPr>
          <p:cNvPr id="16" name="Rectangle 15"/>
          <p:cNvSpPr/>
          <p:nvPr/>
        </p:nvSpPr>
        <p:spPr>
          <a:xfrm>
            <a:off x="7223760" y="2560320"/>
            <a:ext cx="4389120" cy="594360"/>
          </a:xfrm>
          <a:prstGeom prst="rect">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1300" b="1" i="0">
                <a:solidFill>
                  <a:srgbClr val="164194"/>
                </a:solidFill>
              </a:rPr>
              <a:t>servos start to move</a:t>
            </a:r>
          </a:p>
        </p:txBody>
      </p:sp>
      <p:sp>
        <p:nvSpPr>
          <p:cNvPr id="17" name="TextBox 16"/>
          <p:cNvSpPr txBox="1"/>
          <p:nvPr/>
        </p:nvSpPr>
        <p:spPr>
          <a:xfrm>
            <a:off x="2377440" y="3246120"/>
            <a:ext cx="9235440" cy="274320"/>
          </a:xfrm>
          <a:prstGeom prst="rect">
            <a:avLst/>
          </a:prstGeom>
          <a:noFill/>
        </p:spPr>
        <p:txBody>
          <a:bodyPr wrap="square" lIns="0" rIns="0" tIns="0" bIns="0" anchor="t">
            <a:spAutoFit/>
          </a:bodyPr>
          <a:lstStyle/>
          <a:p>
            <a:pPr algn="l"/>
            <a:r>
              <a:rPr sz="1100" b="0" i="0">
                <a:solidFill>
                  <a:srgbClr val="5B6275"/>
                </a:solidFill>
              </a:rPr>
              <a:t>Segment lengths are illustrative. You measured your arm's real loop rate at the Lab 6 arm station.</a:t>
            </a:r>
          </a:p>
        </p:txBody>
      </p:sp>
      <p:sp>
        <p:nvSpPr>
          <p:cNvPr id="18" name="Rounded Rectangle 17"/>
          <p:cNvSpPr/>
          <p:nvPr/>
        </p:nvSpPr>
        <p:spPr>
          <a:xfrm>
            <a:off x="548640" y="3794760"/>
            <a:ext cx="26517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164194"/>
                </a:solidFill>
              </a:rPr>
              <a:t>Noise</a:t>
            </a:r>
          </a:p>
          <a:p>
            <a:pPr algn="l"/>
            <a:r>
              <a:rPr sz="1400" b="0" i="0">
                <a:solidFill>
                  <a:srgbClr val="1F2433"/>
                </a:solidFill>
              </a:rPr>
              <a:t>Readings jitter by an encoder step or two, even when the arm is still.</a:t>
            </a:r>
          </a:p>
        </p:txBody>
      </p:sp>
      <p:sp>
        <p:nvSpPr>
          <p:cNvPr id="19" name="Rounded Rectangle 18"/>
          <p:cNvSpPr/>
          <p:nvPr/>
        </p:nvSpPr>
        <p:spPr>
          <a:xfrm>
            <a:off x="3337560" y="3794760"/>
            <a:ext cx="26517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164194"/>
                </a:solidFill>
              </a:rPr>
              <a:t>Offset</a:t>
            </a:r>
          </a:p>
          <a:p>
            <a:pPr algn="l"/>
            <a:r>
              <a:rPr sz="1400" b="0" i="0">
                <a:solidFill>
                  <a:srgbClr val="1F2433"/>
                </a:solidFill>
              </a:rPr>
              <a:t>The calibration zero is slightly off: a constant bias on every reading.</a:t>
            </a:r>
          </a:p>
        </p:txBody>
      </p:sp>
      <p:sp>
        <p:nvSpPr>
          <p:cNvPr id="20" name="Rounded Rectangle 19"/>
          <p:cNvSpPr/>
          <p:nvPr/>
        </p:nvSpPr>
        <p:spPr>
          <a:xfrm>
            <a:off x="6126479" y="3794760"/>
            <a:ext cx="26517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164194"/>
                </a:solidFill>
              </a:rPr>
              <a:t>Delay</a:t>
            </a:r>
          </a:p>
          <a:p>
            <a:pPr algn="l"/>
            <a:r>
              <a:rPr sz="1400" b="0" i="0">
                <a:solidFill>
                  <a:srgbClr val="1F2433"/>
                </a:solidFill>
              </a:rPr>
              <a:t>The policy acts on where the arm was, not where it is now.</a:t>
            </a:r>
          </a:p>
        </p:txBody>
      </p:sp>
      <p:sp>
        <p:nvSpPr>
          <p:cNvPr id="21" name="Rounded Rectangle 20"/>
          <p:cNvSpPr/>
          <p:nvPr/>
        </p:nvSpPr>
        <p:spPr>
          <a:xfrm>
            <a:off x="8915399" y="3794760"/>
            <a:ext cx="265176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l">
              <a:spcAft>
                <a:spcPts val="600"/>
              </a:spcAft>
            </a:pPr>
            <a:r>
              <a:rPr sz="1700" b="1" i="0">
                <a:solidFill>
                  <a:srgbClr val="164194"/>
                </a:solidFill>
              </a:rPr>
              <a:t>Rate</a:t>
            </a:r>
          </a:p>
          <a:p>
            <a:pPr algn="l"/>
            <a:r>
              <a:rPr sz="1400" b="0" i="0">
                <a:solidFill>
                  <a:srgbClr val="1F2433"/>
                </a:solidFill>
              </a:rPr>
              <a:t>If the loop slips from 30 Hz to 20 Hz, each action lasts 50 ms instead of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helps: train on a world that is a little bit wrong</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11</a:t>
            </a:fld>
            <a:endParaRPr lang="en-SG"/>
          </a:p>
        </p:txBody>
      </p:sp>
      <p:sp>
        <p:nvSpPr>
          <p:cNvPr id="7" name="Rounded Rectangle 6"/>
          <p:cNvSpPr/>
          <p:nvPr/>
        </p:nvSpPr>
        <p:spPr>
          <a:xfrm>
            <a:off x="548640" y="1508760"/>
            <a:ext cx="237744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Gap</a:t>
            </a:r>
          </a:p>
        </p:txBody>
      </p:sp>
      <p:sp>
        <p:nvSpPr>
          <p:cNvPr id="8" name="Rounded Rectangle 7"/>
          <p:cNvSpPr/>
          <p:nvPr/>
        </p:nvSpPr>
        <p:spPr>
          <a:xfrm>
            <a:off x="3063240" y="1508760"/>
            <a:ext cx="45720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What we randomise or change in training</a:t>
            </a:r>
          </a:p>
        </p:txBody>
      </p:sp>
      <p:sp>
        <p:nvSpPr>
          <p:cNvPr id="9" name="Rounded Rectangle 8"/>
          <p:cNvSpPr/>
          <p:nvPr/>
        </p:nvSpPr>
        <p:spPr>
          <a:xfrm>
            <a:off x="7772400" y="1508760"/>
            <a:ext cx="3840480" cy="5029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What the policy learns</a:t>
            </a:r>
          </a:p>
        </p:txBody>
      </p:sp>
      <p:sp>
        <p:nvSpPr>
          <p:cNvPr id="10" name="Rounded Rectangle 9"/>
          <p:cNvSpPr/>
          <p:nvPr/>
        </p:nvSpPr>
        <p:spPr>
          <a:xfrm>
            <a:off x="548640" y="2103120"/>
            <a:ext cx="237744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Servo strength</a:t>
            </a:r>
            <a:r>
              <a:rPr sz="1200" b="0" i="0">
                <a:solidFill>
                  <a:srgbClr val="5B6275"/>
                </a:solidFill>
              </a:rPr>
              <a:t>  dynamics</a:t>
            </a:r>
          </a:p>
        </p:txBody>
      </p:sp>
      <p:sp>
        <p:nvSpPr>
          <p:cNvPr id="11" name="Rounded Rectangle 10"/>
          <p:cNvSpPr/>
          <p:nvPr/>
        </p:nvSpPr>
        <p:spPr>
          <a:xfrm>
            <a:off x="3063240" y="2103120"/>
            <a:ext cx="4572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Actuator stiffness and damping drawn from a range each episode</a:t>
            </a:r>
          </a:p>
        </p:txBody>
      </p:sp>
      <p:sp>
        <p:nvSpPr>
          <p:cNvPr id="12" name="Rounded Rectangle 11"/>
          <p:cNvSpPr/>
          <p:nvPr/>
        </p:nvSpPr>
        <p:spPr>
          <a:xfrm>
            <a:off x="7772400" y="2103120"/>
            <a:ext cx="3840480" cy="640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0F6E6A"/>
                </a:solidFill>
              </a:rPr>
              <a:t>Don't rely on one exact response</a:t>
            </a:r>
          </a:p>
        </p:txBody>
      </p:sp>
      <p:sp>
        <p:nvSpPr>
          <p:cNvPr id="13" name="Rounded Rectangle 12"/>
          <p:cNvSpPr/>
          <p:nvPr/>
        </p:nvSpPr>
        <p:spPr>
          <a:xfrm>
            <a:off x="548640" y="2834639"/>
            <a:ext cx="237744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Mass and friction</a:t>
            </a:r>
            <a:r>
              <a:rPr sz="1200" b="0" i="0">
                <a:solidFill>
                  <a:srgbClr val="5B6275"/>
                </a:solidFill>
              </a:rPr>
              <a:t>  dynamics</a:t>
            </a:r>
          </a:p>
        </p:txBody>
      </p:sp>
      <p:sp>
        <p:nvSpPr>
          <p:cNvPr id="14" name="Rounded Rectangle 13"/>
          <p:cNvSpPr/>
          <p:nvPr/>
        </p:nvSpPr>
        <p:spPr>
          <a:xfrm>
            <a:off x="3063240" y="2834639"/>
            <a:ext cx="4572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Link mass and joint friction varied at every reset</a:t>
            </a:r>
          </a:p>
        </p:txBody>
      </p:sp>
      <p:sp>
        <p:nvSpPr>
          <p:cNvPr id="15" name="Rounded Rectangle 14"/>
          <p:cNvSpPr/>
          <p:nvPr/>
        </p:nvSpPr>
        <p:spPr>
          <a:xfrm>
            <a:off x="7772400" y="2834639"/>
            <a:ext cx="3840480" cy="640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0F6E6A"/>
                </a:solidFill>
              </a:rPr>
              <a:t>Push through sticky or heavy joints</a:t>
            </a:r>
          </a:p>
        </p:txBody>
      </p:sp>
      <p:sp>
        <p:nvSpPr>
          <p:cNvPr id="16" name="Rounded Rectangle 15"/>
          <p:cNvSpPr/>
          <p:nvPr/>
        </p:nvSpPr>
        <p:spPr>
          <a:xfrm>
            <a:off x="548640" y="3566160"/>
            <a:ext cx="237744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Noise and offsets</a:t>
            </a:r>
            <a:r>
              <a:rPr sz="1200" b="0" i="0">
                <a:solidFill>
                  <a:srgbClr val="5B6275"/>
                </a:solidFill>
              </a:rPr>
              <a:t>  sensing</a:t>
            </a:r>
          </a:p>
        </p:txBody>
      </p:sp>
      <p:sp>
        <p:nvSpPr>
          <p:cNvPr id="17" name="Rounded Rectangle 16"/>
          <p:cNvSpPr/>
          <p:nvPr/>
        </p:nvSpPr>
        <p:spPr>
          <a:xfrm>
            <a:off x="3063240" y="3566160"/>
            <a:ext cx="4572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Noise on joint readings (already on in Reach), plus a small random bias</a:t>
            </a:r>
          </a:p>
        </p:txBody>
      </p:sp>
      <p:sp>
        <p:nvSpPr>
          <p:cNvPr id="18" name="Rounded Rectangle 17"/>
          <p:cNvSpPr/>
          <p:nvPr/>
        </p:nvSpPr>
        <p:spPr>
          <a:xfrm>
            <a:off x="7772400" y="3566160"/>
            <a:ext cx="3840480" cy="640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0F6E6A"/>
                </a:solidFill>
              </a:rPr>
              <a:t>Trust the trend, not the last decimal</a:t>
            </a:r>
          </a:p>
        </p:txBody>
      </p:sp>
      <p:sp>
        <p:nvSpPr>
          <p:cNvPr id="19" name="Rounded Rectangle 18"/>
          <p:cNvSpPr/>
          <p:nvPr/>
        </p:nvSpPr>
        <p:spPr>
          <a:xfrm>
            <a:off x="548640" y="4297680"/>
            <a:ext cx="237744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Delay</a:t>
            </a:r>
            <a:r>
              <a:rPr sz="1200" b="0" i="0">
                <a:solidFill>
                  <a:srgbClr val="5B6275"/>
                </a:solidFill>
              </a:rPr>
              <a:t>  timing</a:t>
            </a:r>
          </a:p>
        </p:txBody>
      </p:sp>
      <p:sp>
        <p:nvSpPr>
          <p:cNvPr id="20" name="Rounded Rectangle 19"/>
          <p:cNvSpPr/>
          <p:nvPr/>
        </p:nvSpPr>
        <p:spPr>
          <a:xfrm>
            <a:off x="3063240" y="4297680"/>
            <a:ext cx="4572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Hold each action or observation back by 0–2 steps at random</a:t>
            </a:r>
          </a:p>
        </p:txBody>
      </p:sp>
      <p:sp>
        <p:nvSpPr>
          <p:cNvPr id="21" name="Rounded Rectangle 20"/>
          <p:cNvSpPr/>
          <p:nvPr/>
        </p:nvSpPr>
        <p:spPr>
          <a:xfrm>
            <a:off x="7772400" y="4297680"/>
            <a:ext cx="3840480" cy="640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0F6E6A"/>
                </a:solidFill>
              </a:rPr>
              <a:t>Don't expect an instant response</a:t>
            </a:r>
          </a:p>
        </p:txBody>
      </p:sp>
      <p:sp>
        <p:nvSpPr>
          <p:cNvPr id="22" name="Rounded Rectangle 21"/>
          <p:cNvSpPr/>
          <p:nvPr/>
        </p:nvSpPr>
        <p:spPr>
          <a:xfrm>
            <a:off x="548640" y="5029200"/>
            <a:ext cx="237744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F2433"/>
                </a:solidFill>
              </a:rPr>
              <a:t>Aggressive moves</a:t>
            </a:r>
            <a:r>
              <a:rPr sz="1200" b="0" i="0">
                <a:solidFill>
                  <a:srgbClr val="5B6275"/>
                </a:solidFill>
              </a:rPr>
              <a:t>  all</a:t>
            </a:r>
          </a:p>
        </p:txBody>
      </p:sp>
      <p:sp>
        <p:nvSpPr>
          <p:cNvPr id="23" name="Rounded Rectangle 22"/>
          <p:cNvSpPr/>
          <p:nvPr/>
        </p:nvSpPr>
        <p:spPr>
          <a:xfrm>
            <a:off x="3063240" y="5029200"/>
            <a:ext cx="4572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A conservative action scale; keep the action-rate penalty</a:t>
            </a:r>
          </a:p>
        </p:txBody>
      </p:sp>
      <p:sp>
        <p:nvSpPr>
          <p:cNvPr id="24" name="Rounded Rectangle 23"/>
          <p:cNvSpPr/>
          <p:nvPr/>
        </p:nvSpPr>
        <p:spPr>
          <a:xfrm>
            <a:off x="7772400" y="5029200"/>
            <a:ext cx="3840480" cy="64008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0F6E6A"/>
                </a:solidFill>
              </a:rPr>
              <a:t>Take steps the servo can follow</a:t>
            </a:r>
          </a:p>
        </p:txBody>
      </p:sp>
      <p:sp>
        <p:nvSpPr>
          <p:cNvPr id="25" name="TextBox 24"/>
          <p:cNvSpPr txBox="1"/>
          <p:nvPr/>
        </p:nvSpPr>
        <p:spPr>
          <a:xfrm>
            <a:off x="548640" y="5852160"/>
            <a:ext cx="11064240" cy="320040"/>
          </a:xfrm>
          <a:prstGeom prst="rect">
            <a:avLst/>
          </a:prstGeom>
          <a:noFill/>
        </p:spPr>
        <p:txBody>
          <a:bodyPr wrap="square" lIns="0" rIns="0" tIns="0" bIns="0" anchor="t">
            <a:spAutoFit/>
          </a:bodyPr>
          <a:lstStyle/>
          <a:p>
            <a:pPr algn="l"/>
            <a:r>
              <a:rPr sz="1300" b="0" i="0">
                <a:solidFill>
                  <a:srgbClr val="5B6275"/>
                </a:solidFill>
              </a:rPr>
              <a:t>All of these live in the task config: the same events and noise settings you switched on in Labs 4 and 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price and the payoff of randomisation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12</a:t>
            </a:fld>
            <a:endParaRPr lang="en-SG"/>
          </a:p>
        </p:txBody>
      </p:sp>
      <p:graphicFrame>
        <p:nvGraphicFramePr>
          <p:cNvPr id="7" name="Chart 6"/>
          <p:cNvGraphicFramePr>
            <a:graphicFrameLocks noGrp="1"/>
          </p:cNvGraphicFramePr>
          <p:nvPr/>
        </p:nvGraphicFramePr>
        <p:xfrm>
          <a:off x="457200" y="1463040"/>
          <a:ext cx="6949440" cy="4297680"/>
        </p:xfrm>
        <a:graphic>
          <a:graphicData uri="http://schemas.openxmlformats.org/drawingml/2006/chart">
            <c:chart xmlns:c="http://schemas.openxmlformats.org/drawingml/2006/chart" r:id="rId3"/>
          </a:graphicData>
        </a:graphic>
      </p:graphicFrame>
      <p:sp>
        <p:nvSpPr>
          <p:cNvPr id="8" name="TextBox 7"/>
          <p:cNvSpPr txBox="1"/>
          <p:nvPr/>
        </p:nvSpPr>
        <p:spPr>
          <a:xfrm>
            <a:off x="548640" y="5852160"/>
            <a:ext cx="6766560" cy="320040"/>
          </a:xfrm>
          <a:prstGeom prst="rect">
            <a:avLst/>
          </a:prstGeom>
          <a:noFill/>
        </p:spPr>
        <p:txBody>
          <a:bodyPr wrap="square" lIns="0" rIns="0" tIns="0" bIns="0" anchor="t">
            <a:spAutoFit/>
          </a:bodyPr>
          <a:lstStyle/>
          <a:p>
            <a:pPr algn="l"/>
            <a:r>
              <a:rPr sz="1100" b="0" i="0">
                <a:solidFill>
                  <a:srgbClr val="5B6275"/>
                </a:solidFill>
              </a:rPr>
              <a:t>Illustrative numbers. You measure your pod's own in Lab 8.</a:t>
            </a:r>
          </a:p>
        </p:txBody>
      </p:sp>
      <p:sp>
        <p:nvSpPr>
          <p:cNvPr id="9" name="Rounded Rectangle 8"/>
          <p:cNvSpPr/>
          <p:nvPr/>
        </p:nvSpPr>
        <p:spPr>
          <a:xfrm>
            <a:off x="7680960" y="1554480"/>
            <a:ext cx="393192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164194"/>
                </a:solidFill>
              </a:rPr>
              <a:t>Slightly worse in simulation</a:t>
            </a:r>
          </a:p>
          <a:p>
            <a:pPr algn="l"/>
            <a:r>
              <a:rPr sz="1400" b="0" i="0">
                <a:solidFill>
                  <a:srgbClr val="1F2433"/>
                </a:solidFill>
              </a:rPr>
              <a:t>A generalist gives up a little precision on the one perfect world.</a:t>
            </a:r>
          </a:p>
        </p:txBody>
      </p:sp>
      <p:sp>
        <p:nvSpPr>
          <p:cNvPr id="10" name="Rounded Rectangle 9"/>
          <p:cNvSpPr/>
          <p:nvPr/>
        </p:nvSpPr>
        <p:spPr>
          <a:xfrm>
            <a:off x="7680960" y="2971800"/>
            <a:ext cx="3931920" cy="12801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0F6E6A"/>
                </a:solidFill>
              </a:rPr>
              <a:t>Much better on the real arm</a:t>
            </a:r>
          </a:p>
          <a:p>
            <a:pPr algn="l"/>
            <a:r>
              <a:rPr sz="1400" b="0" i="0">
                <a:solidFill>
                  <a:srgbClr val="1F2433"/>
                </a:solidFill>
              </a:rPr>
              <a:t>The real arm looks like one more variation it has already practised on.</a:t>
            </a:r>
          </a:p>
        </p:txBody>
      </p:sp>
      <p:sp>
        <p:nvSpPr>
          <p:cNvPr id="11" name="Rounded Rectangle 10"/>
          <p:cNvSpPr/>
          <p:nvPr/>
        </p:nvSpPr>
        <p:spPr>
          <a:xfrm>
            <a:off x="7680960" y="4389120"/>
            <a:ext cx="3931920" cy="12801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E30613"/>
                </a:solidFill>
              </a:rPr>
              <a:t>Too wide hurts</a:t>
            </a:r>
          </a:p>
          <a:p>
            <a:pPr algn="l"/>
            <a:r>
              <a:rPr sz="1400" b="0" i="0">
                <a:solidFill>
                  <a:srgbClr val="1F2433"/>
                </a:solidFill>
              </a:rPr>
              <a:t>Huge ranges and the policy struggles to learn at all: the Lesson 3 trade-off.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Fail cheap: test in a changed simulator first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13</a:t>
            </a:fld>
            <a:endParaRPr lang="en-SG"/>
          </a:p>
        </p:txBody>
      </p:sp>
      <p:sp>
        <p:nvSpPr>
          <p:cNvPr id="7" name="Rounded Rectangle 6"/>
          <p:cNvSpPr/>
          <p:nvPr/>
        </p:nvSpPr>
        <p:spPr>
          <a:xfrm>
            <a:off x="548640" y="1554480"/>
            <a:ext cx="2514600" cy="25146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Oval 7"/>
          <p:cNvSpPr/>
          <p:nvPr/>
        </p:nvSpPr>
        <p:spPr>
          <a:xfrm>
            <a:off x="731520" y="1719072"/>
            <a:ext cx="502920" cy="502920"/>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rPr>
              <a:t>1</a:t>
            </a:r>
          </a:p>
        </p:txBody>
      </p:sp>
      <p:sp>
        <p:nvSpPr>
          <p:cNvPr id="9" name="TextBox 8"/>
          <p:cNvSpPr txBox="1"/>
          <p:nvPr/>
        </p:nvSpPr>
        <p:spPr>
          <a:xfrm>
            <a:off x="731520" y="2331720"/>
            <a:ext cx="2194560" cy="1234440"/>
          </a:xfrm>
          <a:prstGeom prst="rect">
            <a:avLst/>
          </a:prstGeom>
          <a:noFill/>
        </p:spPr>
        <p:txBody>
          <a:bodyPr wrap="square" lIns="0" rIns="0" tIns="0" bIns="0" anchor="t">
            <a:spAutoFit/>
          </a:bodyPr>
          <a:lstStyle/>
          <a:p>
            <a:pPr algn="l">
              <a:spcAft>
                <a:spcPts val="400"/>
              </a:spcAft>
            </a:pPr>
            <a:r>
              <a:rPr sz="1600" b="1" i="0">
                <a:solidFill>
                  <a:srgbClr val="0F6E6A"/>
                </a:solidFill>
              </a:rPr>
              <a:t>Train</a:t>
            </a:r>
          </a:p>
          <a:p>
            <a:pPr algn="l"/>
            <a:r>
              <a:rPr sz="1300" b="0" i="0">
                <a:solidFill>
                  <a:srgbClr val="1F2433"/>
                </a:solidFill>
              </a:rPr>
              <a:t>Isaac Lab, randomisation on</a:t>
            </a:r>
          </a:p>
        </p:txBody>
      </p:sp>
      <p:sp>
        <p:nvSpPr>
          <p:cNvPr id="10" name="TextBox 9"/>
          <p:cNvSpPr txBox="1"/>
          <p:nvPr/>
        </p:nvSpPr>
        <p:spPr>
          <a:xfrm>
            <a:off x="731520" y="3566160"/>
            <a:ext cx="2194560" cy="457200"/>
          </a:xfrm>
          <a:prstGeom prst="rect">
            <a:avLst/>
          </a:prstGeom>
          <a:noFill/>
        </p:spPr>
        <p:txBody>
          <a:bodyPr wrap="square" lIns="0" rIns="0" tIns="0" bIns="0" anchor="t">
            <a:spAutoFit/>
          </a:bodyPr>
          <a:lstStyle/>
          <a:p>
            <a:pPr algn="l"/>
            <a:r>
              <a:rPr sz="1200" b="1" i="0">
                <a:solidFill>
                  <a:srgbClr val="5B6275"/>
                </a:solidFill>
              </a:rPr>
              <a:t>Cost of failure: </a:t>
            </a:r>
            <a:r>
              <a:rPr sz="1200" b="0" i="0">
                <a:solidFill>
                  <a:srgbClr val="5B6275"/>
                </a:solidFill>
              </a:rPr>
              <a:t>nothing</a:t>
            </a:r>
          </a:p>
        </p:txBody>
      </p:sp>
      <p:cxnSp>
        <p:nvCxnSpPr>
          <p:cNvPr id="11" name="Connector 10"/>
          <p:cNvCxnSpPr/>
          <p:nvPr/>
        </p:nvCxnSpPr>
        <p:spPr>
          <a:xfrm>
            <a:off x="3108960" y="2807208"/>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83280" y="1554480"/>
            <a:ext cx="2514600" cy="25146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Oval 12"/>
          <p:cNvSpPr/>
          <p:nvPr/>
        </p:nvSpPr>
        <p:spPr>
          <a:xfrm>
            <a:off x="3566160" y="1719072"/>
            <a:ext cx="502920" cy="502920"/>
          </a:xfrm>
          <a:prstGeom prst="ellipse">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rPr>
              <a:t>2</a:t>
            </a:r>
          </a:p>
        </p:txBody>
      </p:sp>
      <p:sp>
        <p:nvSpPr>
          <p:cNvPr id="14" name="TextBox 13"/>
          <p:cNvSpPr txBox="1"/>
          <p:nvPr/>
        </p:nvSpPr>
        <p:spPr>
          <a:xfrm>
            <a:off x="3566160" y="2331720"/>
            <a:ext cx="2194560" cy="1234440"/>
          </a:xfrm>
          <a:prstGeom prst="rect">
            <a:avLst/>
          </a:prstGeom>
          <a:noFill/>
        </p:spPr>
        <p:txBody>
          <a:bodyPr wrap="square" lIns="0" rIns="0" tIns="0" bIns="0" anchor="t">
            <a:spAutoFit/>
          </a:bodyPr>
          <a:lstStyle/>
          <a:p>
            <a:pPr algn="l">
              <a:spcAft>
                <a:spcPts val="400"/>
              </a:spcAft>
            </a:pPr>
            <a:r>
              <a:rPr sz="1600" b="1" i="0">
                <a:solidFill>
                  <a:srgbClr val="0F6E6A"/>
                </a:solidFill>
              </a:rPr>
              <a:t>Changed simulator</a:t>
            </a:r>
          </a:p>
          <a:p>
            <a:pPr algn="l"/>
            <a:r>
              <a:rPr sz="1300" b="0" i="0">
                <a:solidFill>
                  <a:srgbClr val="1F2433"/>
                </a:solidFill>
              </a:rPr>
              <a:t>Heavier joint noise, different actuator gains, extra delay: a world it never trained on</a:t>
            </a:r>
          </a:p>
        </p:txBody>
      </p:sp>
      <p:sp>
        <p:nvSpPr>
          <p:cNvPr id="15" name="TextBox 14"/>
          <p:cNvSpPr txBox="1"/>
          <p:nvPr/>
        </p:nvSpPr>
        <p:spPr>
          <a:xfrm>
            <a:off x="3566160" y="3566160"/>
            <a:ext cx="2194560" cy="457200"/>
          </a:xfrm>
          <a:prstGeom prst="rect">
            <a:avLst/>
          </a:prstGeom>
          <a:noFill/>
        </p:spPr>
        <p:txBody>
          <a:bodyPr wrap="square" lIns="0" rIns="0" tIns="0" bIns="0" anchor="t">
            <a:spAutoFit/>
          </a:bodyPr>
          <a:lstStyle/>
          <a:p>
            <a:pPr algn="l"/>
            <a:r>
              <a:rPr sz="1200" b="1" i="0">
                <a:solidFill>
                  <a:srgbClr val="5B6275"/>
                </a:solidFill>
              </a:rPr>
              <a:t>Cost of failure: </a:t>
            </a:r>
            <a:r>
              <a:rPr sz="1200" b="0" i="0">
                <a:solidFill>
                  <a:srgbClr val="5B6275"/>
                </a:solidFill>
              </a:rPr>
              <a:t>nothing</a:t>
            </a:r>
          </a:p>
        </p:txBody>
      </p:sp>
      <p:cxnSp>
        <p:nvCxnSpPr>
          <p:cNvPr id="16" name="Connector 15"/>
          <p:cNvCxnSpPr/>
          <p:nvPr/>
        </p:nvCxnSpPr>
        <p:spPr>
          <a:xfrm>
            <a:off x="5943600" y="2807208"/>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0" y="1554480"/>
            <a:ext cx="2514600" cy="2514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Oval 17"/>
          <p:cNvSpPr/>
          <p:nvPr/>
        </p:nvSpPr>
        <p:spPr>
          <a:xfrm>
            <a:off x="6400800" y="1719072"/>
            <a:ext cx="502920" cy="502920"/>
          </a:xfrm>
          <a:prstGeom prst="ellipse">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rPr>
              <a:t>3</a:t>
            </a:r>
          </a:p>
        </p:txBody>
      </p:sp>
      <p:sp>
        <p:nvSpPr>
          <p:cNvPr id="19" name="TextBox 18"/>
          <p:cNvSpPr txBox="1"/>
          <p:nvPr/>
        </p:nvSpPr>
        <p:spPr>
          <a:xfrm>
            <a:off x="6400800" y="2331720"/>
            <a:ext cx="2194560" cy="1234440"/>
          </a:xfrm>
          <a:prstGeom prst="rect">
            <a:avLst/>
          </a:prstGeom>
          <a:noFill/>
        </p:spPr>
        <p:txBody>
          <a:bodyPr wrap="square" lIns="0" rIns="0" tIns="0" bIns="0" anchor="t">
            <a:spAutoFit/>
          </a:bodyPr>
          <a:lstStyle/>
          <a:p>
            <a:pPr algn="l">
              <a:spcAft>
                <a:spcPts val="400"/>
              </a:spcAft>
            </a:pPr>
            <a:r>
              <a:rPr sz="1600" b="1" i="0">
                <a:solidFill>
                  <a:srgbClr val="164194"/>
                </a:solidFill>
              </a:rPr>
              <a:t>Real arm, slowly</a:t>
            </a:r>
          </a:p>
          <a:p>
            <a:pPr algn="l"/>
            <a:r>
              <a:rPr sz="1300" b="0" i="0">
                <a:solidFill>
                  <a:srgbClr val="1F2433"/>
                </a:solidFill>
              </a:rPr>
              <a:t>Reduced step size, instructor present, a hand near the power switch</a:t>
            </a:r>
          </a:p>
        </p:txBody>
      </p:sp>
      <p:sp>
        <p:nvSpPr>
          <p:cNvPr id="20" name="TextBox 19"/>
          <p:cNvSpPr txBox="1"/>
          <p:nvPr/>
        </p:nvSpPr>
        <p:spPr>
          <a:xfrm>
            <a:off x="6400800" y="3566160"/>
            <a:ext cx="2194560" cy="457200"/>
          </a:xfrm>
          <a:prstGeom prst="rect">
            <a:avLst/>
          </a:prstGeom>
          <a:noFill/>
        </p:spPr>
        <p:txBody>
          <a:bodyPr wrap="square" lIns="0" rIns="0" tIns="0" bIns="0" anchor="t">
            <a:spAutoFit/>
          </a:bodyPr>
          <a:lstStyle/>
          <a:p>
            <a:pPr algn="l"/>
            <a:r>
              <a:rPr sz="1200" b="1" i="0">
                <a:solidFill>
                  <a:srgbClr val="5B6275"/>
                </a:solidFill>
              </a:rPr>
              <a:t>Cost of failure: </a:t>
            </a:r>
            <a:r>
              <a:rPr sz="1200" b="0" i="0">
                <a:solidFill>
                  <a:srgbClr val="5B6275"/>
                </a:solidFill>
              </a:rPr>
              <a:t>a stopped run</a:t>
            </a:r>
          </a:p>
        </p:txBody>
      </p:sp>
      <p:cxnSp>
        <p:nvCxnSpPr>
          <p:cNvPr id="21" name="Connector 20"/>
          <p:cNvCxnSpPr/>
          <p:nvPr/>
        </p:nvCxnSpPr>
        <p:spPr>
          <a:xfrm>
            <a:off x="8778240" y="2807208"/>
            <a:ext cx="2286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052560" y="1554480"/>
            <a:ext cx="2514600" cy="25146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23" name="Oval 22"/>
          <p:cNvSpPr/>
          <p:nvPr/>
        </p:nvSpPr>
        <p:spPr>
          <a:xfrm>
            <a:off x="9235440" y="1719072"/>
            <a:ext cx="502920" cy="50292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rPr>
              <a:t>4</a:t>
            </a:r>
          </a:p>
        </p:txBody>
      </p:sp>
      <p:sp>
        <p:nvSpPr>
          <p:cNvPr id="24" name="TextBox 23"/>
          <p:cNvSpPr txBox="1"/>
          <p:nvPr/>
        </p:nvSpPr>
        <p:spPr>
          <a:xfrm>
            <a:off x="9235440" y="2331720"/>
            <a:ext cx="2194560" cy="1234440"/>
          </a:xfrm>
          <a:prstGeom prst="rect">
            <a:avLst/>
          </a:prstGeom>
          <a:noFill/>
        </p:spPr>
        <p:txBody>
          <a:bodyPr wrap="square" lIns="0" rIns="0" tIns="0" bIns="0" anchor="t">
            <a:spAutoFit/>
          </a:bodyPr>
          <a:lstStyle/>
          <a:p>
            <a:pPr algn="l">
              <a:spcAft>
                <a:spcPts val="400"/>
              </a:spcAft>
            </a:pPr>
            <a:r>
              <a:rPr sz="1600" b="1" i="0">
                <a:solidFill>
                  <a:srgbClr val="E30613"/>
                </a:solidFill>
              </a:rPr>
              <a:t>Real arm, normal limits</a:t>
            </a:r>
          </a:p>
          <a:p>
            <a:pPr algn="l"/>
            <a:r>
              <a:rPr sz="1300" b="0" i="0">
                <a:solidFill>
                  <a:srgbClr val="1F2433"/>
                </a:solidFill>
              </a:rPr>
              <a:t>Five targets per policy, every result logged</a:t>
            </a:r>
          </a:p>
        </p:txBody>
      </p:sp>
      <p:sp>
        <p:nvSpPr>
          <p:cNvPr id="25" name="TextBox 24"/>
          <p:cNvSpPr txBox="1"/>
          <p:nvPr/>
        </p:nvSpPr>
        <p:spPr>
          <a:xfrm>
            <a:off x="9235440" y="3566160"/>
            <a:ext cx="2194560" cy="457200"/>
          </a:xfrm>
          <a:prstGeom prst="rect">
            <a:avLst/>
          </a:prstGeom>
          <a:noFill/>
        </p:spPr>
        <p:txBody>
          <a:bodyPr wrap="square" lIns="0" rIns="0" tIns="0" bIns="0" anchor="t">
            <a:spAutoFit/>
          </a:bodyPr>
          <a:lstStyle/>
          <a:p>
            <a:pPr algn="l"/>
            <a:r>
              <a:rPr sz="1200" b="1" i="0">
                <a:solidFill>
                  <a:srgbClr val="5B6275"/>
                </a:solidFill>
              </a:rPr>
              <a:t>Cost of failure: </a:t>
            </a:r>
            <a:r>
              <a:rPr sz="1200" b="0" i="0">
                <a:solidFill>
                  <a:srgbClr val="5B6275"/>
                </a:solidFill>
              </a:rPr>
              <a:t>a logged failure to learn from</a:t>
            </a:r>
          </a:p>
        </p:txBody>
      </p:sp>
      <p:sp>
        <p:nvSpPr>
          <p:cNvPr id="26" name="Rounded Rectangle 25"/>
          <p:cNvSpPr/>
          <p:nvPr/>
        </p:nvSpPr>
        <p:spPr>
          <a:xfrm>
            <a:off x="548640" y="4343400"/>
            <a:ext cx="5440680" cy="1600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400"/>
              </a:spcAft>
            </a:pPr>
            <a:r>
              <a:rPr sz="1700" b="1" i="0">
                <a:solidFill>
                  <a:srgbClr val="E30613"/>
                </a:solidFill>
              </a:rPr>
              <a:t>Fails in the changed simulator?</a:t>
            </a:r>
          </a:p>
          <a:p>
            <a:pPr algn="l"/>
            <a:r>
              <a:rPr sz="1500" b="0" i="0">
                <a:solidFill>
                  <a:srgbClr val="1F2433"/>
                </a:solidFill>
              </a:rPr>
              <a:t>It will almost certainly fail on the arm too. Fix it here, where it costs nothing.</a:t>
            </a:r>
          </a:p>
        </p:txBody>
      </p:sp>
      <p:sp>
        <p:nvSpPr>
          <p:cNvPr id="27" name="Rounded Rectangle 26"/>
          <p:cNvSpPr/>
          <p:nvPr/>
        </p:nvSpPr>
        <p:spPr>
          <a:xfrm>
            <a:off x="6172200" y="4343400"/>
            <a:ext cx="5440680" cy="1600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400"/>
              </a:spcAft>
            </a:pPr>
            <a:r>
              <a:rPr sz="1700" b="1" i="0">
                <a:solidFill>
                  <a:srgbClr val="0F6E6A"/>
                </a:solidFill>
              </a:rPr>
              <a:t>Passes?</a:t>
            </a:r>
          </a:p>
          <a:p>
            <a:pPr algn="l"/>
            <a:r>
              <a:rPr sz="1500" b="0" i="0">
                <a:solidFill>
                  <a:srgbClr val="1F2433"/>
                </a:solidFill>
              </a:rPr>
              <a:t>It can still fail on the arm, but for fewer reasons, and you know which ones are left.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14</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Getting the policy out</a:t>
            </a:r>
          </a:p>
          <a:p>
            <a:pPr algn="l"/>
            <a:r>
              <a:rPr sz="1800" b="0" i="0">
                <a:solidFill>
                  <a:srgbClr val="DDE5F7"/>
                </a:solidFill>
              </a:rPr>
              <a:t>Export, the deployment contract and the bridge 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 what leaves the simulator</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15</a:t>
            </a:fld>
            <a:endParaRPr lang="en-SG"/>
          </a:p>
        </p:txBody>
      </p:sp>
      <p:sp>
        <p:nvSpPr>
          <p:cNvPr id="7" name="Rounded Rectangle 6"/>
          <p:cNvSpPr/>
          <p:nvPr/>
        </p:nvSpPr>
        <p:spPr>
          <a:xfrm>
            <a:off x="548640" y="1600200"/>
            <a:ext cx="4297680" cy="33832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l">
              <a:spcAft>
                <a:spcPts val="200"/>
              </a:spcAft>
            </a:pPr>
            <a:r>
              <a:rPr sz="1800" b="1" i="0">
                <a:solidFill>
                  <a:srgbClr val="164194"/>
                </a:solidFill>
              </a:rPr>
              <a:t>Training checkpoint</a:t>
            </a:r>
          </a:p>
          <a:p>
            <a:pPr algn="l">
              <a:spcAft>
                <a:spcPts val="1200"/>
              </a:spcAft>
            </a:pPr>
            <a:r>
              <a:rPr sz="1400" b="0" i="0">
                <a:solidFill>
                  <a:srgbClr val="5B6275"/>
                </a:solidFill>
                <a:latin typeface="Courier New"/>
              </a:rPr>
              <a:t>model_1000.pt</a:t>
            </a:r>
          </a:p>
          <a:p>
            <a:pPr algn="l">
              <a:spcAft>
                <a:spcPts val="400"/>
              </a:spcAft>
            </a:pPr>
            <a:r>
              <a:rPr sz="1500" b="1" i="0">
                <a:solidFill>
                  <a:srgbClr val="1F2433"/>
                </a:solidFill>
              </a:rPr>
              <a:t>actor (the policy)</a:t>
            </a:r>
          </a:p>
          <a:p>
            <a:pPr algn="l">
              <a:spcAft>
                <a:spcPts val="400"/>
              </a:spcAft>
            </a:pPr>
            <a:r>
              <a:rPr sz="1500" b="0" i="0">
                <a:solidFill>
                  <a:srgbClr val="1F2433"/>
                </a:solidFill>
              </a:rPr>
              <a:t>critic (the coach)</a:t>
            </a:r>
          </a:p>
          <a:p>
            <a:pPr algn="l">
              <a:spcAft>
                <a:spcPts val="400"/>
              </a:spcAft>
            </a:pPr>
            <a:r>
              <a:rPr sz="1500" b="0" i="0">
                <a:solidFill>
                  <a:srgbClr val="1F2433"/>
                </a:solidFill>
              </a:rPr>
              <a:t>optimiser state</a:t>
            </a:r>
          </a:p>
          <a:p>
            <a:pPr algn="l"/>
            <a:r>
              <a:rPr sz="1500" b="0" i="0">
                <a:solidFill>
                  <a:srgbClr val="1F2433"/>
                </a:solidFill>
              </a:rPr>
              <a:t>observation normaliser, if used</a:t>
            </a:r>
          </a:p>
        </p:txBody>
      </p:sp>
      <p:cxnSp>
        <p:nvCxnSpPr>
          <p:cNvPr id="8" name="Connector 7"/>
          <p:cNvCxnSpPr/>
          <p:nvPr/>
        </p:nvCxnSpPr>
        <p:spPr>
          <a:xfrm>
            <a:off x="4937760" y="3291840"/>
            <a:ext cx="960120" cy="0"/>
          </a:xfrm>
          <a:prstGeom prst="line">
            <a:avLst/>
          </a:prstGeom>
          <a:ln w="3810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892040" y="2834640"/>
            <a:ext cx="1051560" cy="365760"/>
          </a:xfrm>
          <a:prstGeom prst="rect">
            <a:avLst/>
          </a:prstGeom>
          <a:noFill/>
        </p:spPr>
        <p:txBody>
          <a:bodyPr wrap="square" lIns="0" rIns="0" tIns="0" bIns="0" anchor="t">
            <a:spAutoFit/>
          </a:bodyPr>
          <a:lstStyle/>
          <a:p>
            <a:pPr algn="ctr"/>
            <a:r>
              <a:rPr sz="1400" b="1" i="0">
                <a:solidFill>
                  <a:srgbClr val="164194"/>
                </a:solidFill>
              </a:rPr>
              <a:t>export</a:t>
            </a:r>
          </a:p>
        </p:txBody>
      </p:sp>
      <p:sp>
        <p:nvSpPr>
          <p:cNvPr id="10" name="Rounded Rectangle 9"/>
          <p:cNvSpPr/>
          <p:nvPr/>
        </p:nvSpPr>
        <p:spPr>
          <a:xfrm>
            <a:off x="6035040" y="1600200"/>
            <a:ext cx="5577840" cy="1600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spcAft>
                <a:spcPts val="400"/>
              </a:spcAft>
            </a:pPr>
            <a:r>
              <a:rPr sz="1700" b="1" i="0">
                <a:solidFill>
                  <a:srgbClr val="FFFFFF"/>
                </a:solidFill>
                <a:latin typeface="Courier New"/>
              </a:rPr>
              <a:t>policy.pt</a:t>
            </a:r>
            <a:r>
              <a:rPr sz="1700" b="1" i="0">
                <a:solidFill>
                  <a:srgbClr val="FFFFFF"/>
                </a:solidFill>
              </a:rPr>
              <a:t>   TorchScript</a:t>
            </a:r>
          </a:p>
          <a:p>
            <a:pPr algn="l"/>
            <a:r>
              <a:rPr sz="1400" b="0" i="0">
                <a:solidFill>
                  <a:srgbClr val="FFFFFF"/>
                </a:solidFill>
              </a:rPr>
              <a:t>Actor + normaliser in one file. Load with torch.jit.load and run it in Python with PyTorch.</a:t>
            </a:r>
          </a:p>
        </p:txBody>
      </p:sp>
      <p:sp>
        <p:nvSpPr>
          <p:cNvPr id="11" name="Rounded Rectangle 10"/>
          <p:cNvSpPr/>
          <p:nvPr/>
        </p:nvSpPr>
        <p:spPr>
          <a:xfrm>
            <a:off x="6035040" y="3383280"/>
            <a:ext cx="5577840" cy="160020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spcAft>
                <a:spcPts val="400"/>
              </a:spcAft>
            </a:pPr>
            <a:r>
              <a:rPr sz="1700" b="1" i="0">
                <a:solidFill>
                  <a:srgbClr val="FFFFFF"/>
                </a:solidFill>
                <a:latin typeface="Courier New"/>
              </a:rPr>
              <a:t>policy.onnx</a:t>
            </a:r>
            <a:r>
              <a:rPr sz="1700" b="1" i="0">
                <a:solidFill>
                  <a:srgbClr val="FFFFFF"/>
                </a:solidFill>
              </a:rPr>
              <a:t>   ONNX</a:t>
            </a:r>
          </a:p>
          <a:p>
            <a:pPr algn="l"/>
            <a:r>
              <a:rPr sz="1400" b="0" i="0">
                <a:solidFill>
                  <a:srgbClr val="FFFFFF"/>
                </a:solidFill>
              </a:rPr>
              <a:t>The same network in a framework-neutral format. Runs with ONNX Runtime, even without PyTorch.</a:t>
            </a:r>
          </a:p>
        </p:txBody>
      </p:sp>
      <p:sp>
        <p:nvSpPr>
          <p:cNvPr id="12" name="Rounded Rectangle 11"/>
          <p:cNvSpPr/>
          <p:nvPr/>
        </p:nvSpPr>
        <p:spPr>
          <a:xfrm>
            <a:off x="548640" y="5212080"/>
            <a:ext cx="1106424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The critic stays behind: it only coached training. On the arm, only the actor runs.</a:t>
            </a:r>
          </a:p>
        </p:txBody>
      </p:sp>
      <p:sp>
        <p:nvSpPr>
          <p:cNvPr id="13" name="TextBox 12"/>
          <p:cNvSpPr txBox="1"/>
          <p:nvPr/>
        </p:nvSpPr>
        <p:spPr>
          <a:xfrm>
            <a:off x="548640" y="5989320"/>
            <a:ext cx="11064240" cy="274320"/>
          </a:xfrm>
          <a:prstGeom prst="rect">
            <a:avLst/>
          </a:prstGeom>
          <a:noFill/>
        </p:spPr>
        <p:txBody>
          <a:bodyPr wrap="square" lIns="0" rIns="0" tIns="0" bIns="0" anchor="t">
            <a:spAutoFit/>
          </a:bodyPr>
          <a:lstStyle/>
          <a:p>
            <a:pPr algn="l"/>
            <a:r>
              <a:rPr sz="1100" b="0" i="0">
                <a:solidFill>
                  <a:srgbClr val="5B6275"/>
                </a:solidFill>
              </a:rPr>
              <a:t>Isaac Lab's play step writes both files to the run's exported/ folder. The normaliser is already inside: don't apply it twice.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deployment contract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16</a:t>
            </a:fld>
            <a:endParaRPr lang="en-SG"/>
          </a:p>
        </p:txBody>
      </p:sp>
      <p:sp>
        <p:nvSpPr>
          <p:cNvPr id="7" name="Rounded Rectangle 6"/>
          <p:cNvSpPr/>
          <p:nvPr/>
        </p:nvSpPr>
        <p:spPr>
          <a:xfrm>
            <a:off x="548640" y="1554480"/>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1 · Observation order</a:t>
            </a:r>
          </a:p>
          <a:p>
            <a:pPr algn="l"/>
            <a:r>
              <a:rPr sz="1400" b="0" i="0">
                <a:solidFill>
                  <a:srgbClr val="1F2433"/>
                </a:solidFill>
              </a:rPr>
              <a:t>joint positions (6) → joint velocities (6) → target pose (7) → last action (6) = 25 numbers</a:t>
            </a:r>
          </a:p>
        </p:txBody>
      </p:sp>
      <p:sp>
        <p:nvSpPr>
          <p:cNvPr id="8" name="Rounded Rectangle 7"/>
          <p:cNvSpPr/>
          <p:nvPr/>
        </p:nvSpPr>
        <p:spPr>
          <a:xfrm>
            <a:off x="4297679" y="1554480"/>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2 · Units</a:t>
            </a:r>
          </a:p>
          <a:p>
            <a:pPr algn="l"/>
            <a:r>
              <a:rPr sz="1400" b="0" i="0">
                <a:solidFill>
                  <a:srgbClr val="1F2433"/>
                </a:solidFill>
              </a:rPr>
              <a:t>radians, rad/s and metres; target orientation as a quaternion in (w, x, y, z) order</a:t>
            </a:r>
          </a:p>
        </p:txBody>
      </p:sp>
      <p:sp>
        <p:nvSpPr>
          <p:cNvPr id="9" name="Rounded Rectangle 8"/>
          <p:cNvSpPr/>
          <p:nvPr/>
        </p:nvSpPr>
        <p:spPr>
          <a:xfrm>
            <a:off x="8046719" y="1554480"/>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3 · Scaling and offsets</a:t>
            </a:r>
          </a:p>
          <a:p>
            <a:pPr algn="l"/>
            <a:r>
              <a:rPr sz="1400" b="0" i="0">
                <a:solidFill>
                  <a:srgbClr val="1F2433"/>
                </a:solidFill>
              </a:rPr>
              <a:t>joint positions relative to the default pose; normaliser already inside the exported file</a:t>
            </a:r>
          </a:p>
        </p:txBody>
      </p:sp>
      <p:sp>
        <p:nvSpPr>
          <p:cNvPr id="10" name="Rounded Rectangle 9"/>
          <p:cNvSpPr/>
          <p:nvPr/>
        </p:nvSpPr>
        <p:spPr>
          <a:xfrm>
            <a:off x="548640" y="3520439"/>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4 · Control rate</a:t>
            </a:r>
          </a:p>
          <a:p>
            <a:pPr algn="l"/>
            <a:r>
              <a:rPr sz="1400" b="0" i="0">
                <a:solidFill>
                  <a:srgbClr val="1F2433"/>
                </a:solidFill>
              </a:rPr>
              <a:t>30 Hz: one decision every 33 ms, the rate it was trained at</a:t>
            </a:r>
          </a:p>
        </p:txBody>
      </p:sp>
      <p:sp>
        <p:nvSpPr>
          <p:cNvPr id="11" name="Rounded Rectangle 10"/>
          <p:cNvSpPr/>
          <p:nvPr/>
        </p:nvSpPr>
        <p:spPr>
          <a:xfrm>
            <a:off x="4297679" y="3520439"/>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5 · Action scaling</a:t>
            </a:r>
          </a:p>
          <a:p>
            <a:pPr algn="l"/>
            <a:r>
              <a:rPr sz="1400" b="0" i="0">
                <a:solidFill>
                  <a:srgbClr val="1F2433"/>
                </a:solidFill>
              </a:rPr>
              <a:t>joint target = default pose + scale × action, with the scale from your config</a:t>
            </a:r>
          </a:p>
        </p:txBody>
      </p:sp>
      <p:sp>
        <p:nvSpPr>
          <p:cNvPr id="12" name="Rounded Rectangle 11"/>
          <p:cNvSpPr/>
          <p:nvPr/>
        </p:nvSpPr>
        <p:spPr>
          <a:xfrm>
            <a:off x="8046719" y="3520439"/>
            <a:ext cx="3566160" cy="1783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64592"/>
          <a:lstStyle/>
          <a:p>
            <a:pPr algn="l">
              <a:spcAft>
                <a:spcPts val="600"/>
              </a:spcAft>
            </a:pPr>
            <a:r>
              <a:rPr sz="1700" b="1" i="0">
                <a:solidFill>
                  <a:srgbClr val="164194"/>
                </a:solidFill>
              </a:rPr>
              <a:t>6 · Joint order</a:t>
            </a:r>
          </a:p>
          <a:p>
            <a:pPr algn="l"/>
            <a:r>
              <a:rPr sz="1400" b="0" i="0">
                <a:solidFill>
                  <a:srgbClr val="1F2433"/>
                </a:solidFill>
              </a:rPr>
              <a:t>shoulder_pan, shoulder_lift, elbow_flex, wrist_flex, wrist_roll, gripper</a:t>
            </a:r>
          </a:p>
        </p:txBody>
      </p:sp>
      <p:sp>
        <p:nvSpPr>
          <p:cNvPr id="13" name="Rounded Rectangle 12"/>
          <p:cNvSpPr/>
          <p:nvPr/>
        </p:nvSpPr>
        <p:spPr>
          <a:xfrm>
            <a:off x="548640" y="5532120"/>
            <a:ext cx="11064240" cy="5943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Every item must match training exactly. One mismatch is enough to make a good policy look broken.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one joint through the contract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17</a:t>
            </a:fld>
            <a:endParaRPr lang="en-SG"/>
          </a:p>
        </p:txBody>
      </p:sp>
      <p:sp>
        <p:nvSpPr>
          <p:cNvPr id="7" name="Rounded Rectangle 6"/>
          <p:cNvSpPr/>
          <p:nvPr/>
        </p:nvSpPr>
        <p:spPr>
          <a:xfrm>
            <a:off x="548640" y="1463040"/>
            <a:ext cx="1106424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64194"/>
                </a:solidFill>
              </a:rPr>
              <a:t>Unit-table row: elbow_flex  ·  real units: degrees  ·  zero offset: 10°  ·  sign: −1  ·  default pose: 0.0 rad</a:t>
            </a:r>
          </a:p>
        </p:txBody>
      </p:sp>
      <p:sp>
        <p:nvSpPr>
          <p:cNvPr id="8" name="Rounded Rectangle 7"/>
          <p:cNvSpPr/>
          <p:nvPr/>
        </p:nvSpPr>
        <p:spPr>
          <a:xfrm>
            <a:off x="548640" y="2103120"/>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1</a:t>
            </a:r>
          </a:p>
        </p:txBody>
      </p:sp>
      <p:sp>
        <p:nvSpPr>
          <p:cNvPr id="9" name="Rounded Rectangle 8"/>
          <p:cNvSpPr/>
          <p:nvPr/>
        </p:nvSpPr>
        <p:spPr>
          <a:xfrm>
            <a:off x="1097280" y="2103120"/>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Read</a:t>
            </a:r>
          </a:p>
        </p:txBody>
      </p:sp>
      <p:sp>
        <p:nvSpPr>
          <p:cNvPr id="10" name="Rounded Rectangle 9"/>
          <p:cNvSpPr/>
          <p:nvPr/>
        </p:nvSpPr>
        <p:spPr>
          <a:xfrm>
            <a:off x="3383280" y="2103120"/>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LeRobot reports the real joint angle</a:t>
            </a:r>
          </a:p>
        </p:txBody>
      </p:sp>
      <p:sp>
        <p:nvSpPr>
          <p:cNvPr id="11" name="Rounded Rectangle 10"/>
          <p:cNvSpPr/>
          <p:nvPr/>
        </p:nvSpPr>
        <p:spPr>
          <a:xfrm>
            <a:off x="9418320" y="2103120"/>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45.0°</a:t>
            </a:r>
          </a:p>
        </p:txBody>
      </p:sp>
      <p:sp>
        <p:nvSpPr>
          <p:cNvPr id="12" name="Rounded Rectangle 11"/>
          <p:cNvSpPr/>
          <p:nvPr/>
        </p:nvSpPr>
        <p:spPr>
          <a:xfrm>
            <a:off x="548640" y="2615184"/>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2</a:t>
            </a:r>
          </a:p>
        </p:txBody>
      </p:sp>
      <p:sp>
        <p:nvSpPr>
          <p:cNvPr id="13" name="Rounded Rectangle 12"/>
          <p:cNvSpPr/>
          <p:nvPr/>
        </p:nvSpPr>
        <p:spPr>
          <a:xfrm>
            <a:off x="1097280" y="2615184"/>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To radians</a:t>
            </a:r>
          </a:p>
        </p:txBody>
      </p:sp>
      <p:sp>
        <p:nvSpPr>
          <p:cNvPr id="14" name="Rounded Rectangle 13"/>
          <p:cNvSpPr/>
          <p:nvPr/>
        </p:nvSpPr>
        <p:spPr>
          <a:xfrm>
            <a:off x="3383280" y="2615184"/>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−1 × (45.0 − 10) × π/180</a:t>
            </a:r>
          </a:p>
        </p:txBody>
      </p:sp>
      <p:sp>
        <p:nvSpPr>
          <p:cNvPr id="15" name="Rounded Rectangle 14"/>
          <p:cNvSpPr/>
          <p:nvPr/>
        </p:nvSpPr>
        <p:spPr>
          <a:xfrm>
            <a:off x="9418320" y="2615184"/>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−0.611 rad</a:t>
            </a:r>
          </a:p>
        </p:txBody>
      </p:sp>
      <p:sp>
        <p:nvSpPr>
          <p:cNvPr id="16" name="Rounded Rectangle 15"/>
          <p:cNvSpPr/>
          <p:nvPr/>
        </p:nvSpPr>
        <p:spPr>
          <a:xfrm>
            <a:off x="548640" y="3127248"/>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3</a:t>
            </a:r>
          </a:p>
        </p:txBody>
      </p:sp>
      <p:sp>
        <p:nvSpPr>
          <p:cNvPr id="17" name="Rounded Rectangle 16"/>
          <p:cNvSpPr/>
          <p:nvPr/>
        </p:nvSpPr>
        <p:spPr>
          <a:xfrm>
            <a:off x="1097280" y="3127248"/>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Observation</a:t>
            </a:r>
          </a:p>
        </p:txBody>
      </p:sp>
      <p:sp>
        <p:nvSpPr>
          <p:cNvPr id="18" name="Rounded Rectangle 17"/>
          <p:cNvSpPr/>
          <p:nvPr/>
        </p:nvSpPr>
        <p:spPr>
          <a:xfrm>
            <a:off x="3383280" y="3127248"/>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position − default pose = −0.611 − 0.0</a:t>
            </a:r>
          </a:p>
        </p:txBody>
      </p:sp>
      <p:sp>
        <p:nvSpPr>
          <p:cNvPr id="19" name="Rounded Rectangle 18"/>
          <p:cNvSpPr/>
          <p:nvPr/>
        </p:nvSpPr>
        <p:spPr>
          <a:xfrm>
            <a:off x="9418320" y="3127248"/>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−0.611</a:t>
            </a:r>
          </a:p>
        </p:txBody>
      </p:sp>
      <p:sp>
        <p:nvSpPr>
          <p:cNvPr id="20" name="Rounded Rectangle 19"/>
          <p:cNvSpPr/>
          <p:nvPr/>
        </p:nvSpPr>
        <p:spPr>
          <a:xfrm>
            <a:off x="548640" y="3639312"/>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4</a:t>
            </a:r>
          </a:p>
        </p:txBody>
      </p:sp>
      <p:sp>
        <p:nvSpPr>
          <p:cNvPr id="21" name="Rounded Rectangle 20"/>
          <p:cNvSpPr/>
          <p:nvPr/>
        </p:nvSpPr>
        <p:spPr>
          <a:xfrm>
            <a:off x="1097280" y="3639312"/>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Policy</a:t>
            </a:r>
          </a:p>
        </p:txBody>
      </p:sp>
      <p:sp>
        <p:nvSpPr>
          <p:cNvPr id="22" name="Rounded Rectangle 21"/>
          <p:cNvSpPr/>
          <p:nvPr/>
        </p:nvSpPr>
        <p:spPr>
          <a:xfrm>
            <a:off x="3383280" y="3639312"/>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the network's output for this joint</a:t>
            </a:r>
          </a:p>
        </p:txBody>
      </p:sp>
      <p:sp>
        <p:nvSpPr>
          <p:cNvPr id="23" name="Rounded Rectangle 22"/>
          <p:cNvSpPr/>
          <p:nvPr/>
        </p:nvSpPr>
        <p:spPr>
          <a:xfrm>
            <a:off x="9418320" y="3639312"/>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a = −1.0</a:t>
            </a:r>
          </a:p>
        </p:txBody>
      </p:sp>
      <p:sp>
        <p:nvSpPr>
          <p:cNvPr id="24" name="Rounded Rectangle 23"/>
          <p:cNvSpPr/>
          <p:nvPr/>
        </p:nvSpPr>
        <p:spPr>
          <a:xfrm>
            <a:off x="548640" y="4151376"/>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5</a:t>
            </a:r>
          </a:p>
        </p:txBody>
      </p:sp>
      <p:sp>
        <p:nvSpPr>
          <p:cNvPr id="25" name="Rounded Rectangle 24"/>
          <p:cNvSpPr/>
          <p:nvPr/>
        </p:nvSpPr>
        <p:spPr>
          <a:xfrm>
            <a:off x="1097280" y="4151376"/>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Action → target</a:t>
            </a:r>
          </a:p>
        </p:txBody>
      </p:sp>
      <p:sp>
        <p:nvSpPr>
          <p:cNvPr id="26" name="Rounded Rectangle 25"/>
          <p:cNvSpPr/>
          <p:nvPr/>
        </p:nvSpPr>
        <p:spPr>
          <a:xfrm>
            <a:off x="3383280" y="4151376"/>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default + 0.5 × a = 0.0 + 0.5 × (−1.0)</a:t>
            </a:r>
          </a:p>
        </p:txBody>
      </p:sp>
      <p:sp>
        <p:nvSpPr>
          <p:cNvPr id="27" name="Rounded Rectangle 26"/>
          <p:cNvSpPr/>
          <p:nvPr/>
        </p:nvSpPr>
        <p:spPr>
          <a:xfrm>
            <a:off x="9418320" y="4151376"/>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−0.500 rad</a:t>
            </a:r>
          </a:p>
        </p:txBody>
      </p:sp>
      <p:sp>
        <p:nvSpPr>
          <p:cNvPr id="28" name="Rounded Rectangle 27"/>
          <p:cNvSpPr/>
          <p:nvPr/>
        </p:nvSpPr>
        <p:spPr>
          <a:xfrm>
            <a:off x="548640" y="4663440"/>
            <a:ext cx="457200" cy="457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6</a:t>
            </a:r>
          </a:p>
        </p:txBody>
      </p:sp>
      <p:sp>
        <p:nvSpPr>
          <p:cNvPr id="29" name="Rounded Rectangle 28"/>
          <p:cNvSpPr/>
          <p:nvPr/>
        </p:nvSpPr>
        <p:spPr>
          <a:xfrm>
            <a:off x="1097280" y="4663440"/>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Back to degrees</a:t>
            </a:r>
          </a:p>
        </p:txBody>
      </p:sp>
      <p:sp>
        <p:nvSpPr>
          <p:cNvPr id="30" name="Rounded Rectangle 29"/>
          <p:cNvSpPr/>
          <p:nvPr/>
        </p:nvSpPr>
        <p:spPr>
          <a:xfrm>
            <a:off x="3383280" y="4663440"/>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10 + (−1) × (−0.500) × 180/π</a:t>
            </a:r>
          </a:p>
        </p:txBody>
      </p:sp>
      <p:sp>
        <p:nvSpPr>
          <p:cNvPr id="31" name="Rounded Rectangle 30"/>
          <p:cNvSpPr/>
          <p:nvPr/>
        </p:nvSpPr>
        <p:spPr>
          <a:xfrm>
            <a:off x="9418320" y="4663440"/>
            <a:ext cx="2194560" cy="4572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38.6°</a:t>
            </a:r>
          </a:p>
        </p:txBody>
      </p:sp>
      <p:sp>
        <p:nvSpPr>
          <p:cNvPr id="32" name="Rounded Rectangle 31"/>
          <p:cNvSpPr/>
          <p:nvPr/>
        </p:nvSpPr>
        <p:spPr>
          <a:xfrm>
            <a:off x="548640" y="5175504"/>
            <a:ext cx="457200" cy="45720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rPr>
              <a:t>7</a:t>
            </a:r>
          </a:p>
        </p:txBody>
      </p:sp>
      <p:sp>
        <p:nvSpPr>
          <p:cNvPr id="33" name="Rounded Rectangle 32"/>
          <p:cNvSpPr/>
          <p:nvPr/>
        </p:nvSpPr>
        <p:spPr>
          <a:xfrm>
            <a:off x="1097280" y="5175504"/>
            <a:ext cx="219456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Clamp</a:t>
            </a:r>
          </a:p>
        </p:txBody>
      </p:sp>
      <p:sp>
        <p:nvSpPr>
          <p:cNvPr id="34" name="Rounded Rectangle 33"/>
          <p:cNvSpPr/>
          <p:nvPr/>
        </p:nvSpPr>
        <p:spPr>
          <a:xfrm>
            <a:off x="3383280" y="5175504"/>
            <a:ext cx="5943600" cy="457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change = 38.6 − 45.0 = −6.4°, limit ±5° per step</a:t>
            </a:r>
          </a:p>
        </p:txBody>
      </p:sp>
      <p:sp>
        <p:nvSpPr>
          <p:cNvPr id="35" name="Rounded Rectangle 34"/>
          <p:cNvSpPr/>
          <p:nvPr/>
        </p:nvSpPr>
        <p:spPr>
          <a:xfrm>
            <a:off x="9418320" y="5175504"/>
            <a:ext cx="2194560" cy="4572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E30613"/>
                </a:solidFill>
              </a:rPr>
              <a:t>send 40.0°</a:t>
            </a:r>
          </a:p>
        </p:txBody>
      </p:sp>
      <p:sp>
        <p:nvSpPr>
          <p:cNvPr id="36" name="TextBox 35"/>
          <p:cNvSpPr txBox="1"/>
          <p:nvPr/>
        </p:nvSpPr>
        <p:spPr>
          <a:xfrm>
            <a:off x="548640" y="5760720"/>
            <a:ext cx="11064240" cy="320040"/>
          </a:xfrm>
          <a:prstGeom prst="rect">
            <a:avLst/>
          </a:prstGeom>
          <a:noFill/>
        </p:spPr>
        <p:txBody>
          <a:bodyPr wrap="square" lIns="0" rIns="0" tIns="0" bIns="0" anchor="t">
            <a:spAutoFit/>
          </a:bodyPr>
          <a:lstStyle/>
          <a:p>
            <a:pPr algn="l"/>
            <a:r>
              <a:rPr sz="1200" b="0" i="0">
                <a:solidFill>
                  <a:srgbClr val="5B6275"/>
                </a:solidFill>
              </a:rPr>
              <a:t>Illustrative values, with an illustrative action scale of 0.5. Use your pod's unit table and the scale in your config.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bridge loop: one decision every 33 ms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18</a:t>
            </a:fld>
            <a:endParaRPr lang="en-SG"/>
          </a:p>
        </p:txBody>
      </p:sp>
      <p:sp>
        <p:nvSpPr>
          <p:cNvPr id="7" name="Rounded Rectangle 6"/>
          <p:cNvSpPr/>
          <p:nvPr/>
        </p:nvSpPr>
        <p:spPr>
          <a:xfrm>
            <a:off x="548640" y="1691640"/>
            <a:ext cx="2423160" cy="960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Read joints</a:t>
            </a:r>
          </a:p>
          <a:p>
            <a:pPr algn="ctr"/>
            <a:r>
              <a:rPr sz="1300" b="0" i="0">
                <a:solidFill>
                  <a:srgbClr val="FFFFFF"/>
                </a:solidFill>
              </a:rPr>
              <a:t>6 servo positions from LeRobot</a:t>
            </a:r>
          </a:p>
        </p:txBody>
      </p:sp>
      <p:sp>
        <p:nvSpPr>
          <p:cNvPr id="8" name="Rounded Rectangle 7"/>
          <p:cNvSpPr/>
          <p:nvPr/>
        </p:nvSpPr>
        <p:spPr>
          <a:xfrm>
            <a:off x="3429000" y="1691640"/>
            <a:ext cx="24231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Convert units</a:t>
            </a:r>
          </a:p>
          <a:p>
            <a:pPr algn="ctr"/>
            <a:r>
              <a:rPr sz="1300" b="0" i="0">
                <a:solidFill>
                  <a:srgbClr val="FFFFFF"/>
                </a:solidFill>
              </a:rPr>
              <a:t>offsets, signs, order → radians</a:t>
            </a:r>
          </a:p>
        </p:txBody>
      </p:sp>
      <p:sp>
        <p:nvSpPr>
          <p:cNvPr id="9" name="Rounded Rectangle 8"/>
          <p:cNvSpPr/>
          <p:nvPr/>
        </p:nvSpPr>
        <p:spPr>
          <a:xfrm>
            <a:off x="6309360" y="1691640"/>
            <a:ext cx="24231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Build observation</a:t>
            </a:r>
          </a:p>
          <a:p>
            <a:pPr algn="ctr"/>
            <a:r>
              <a:rPr sz="1300" b="0" i="0">
                <a:solidFill>
                  <a:srgbClr val="FFFFFF"/>
                </a:solidFill>
              </a:rPr>
              <a:t>25 numbers in training order</a:t>
            </a:r>
          </a:p>
        </p:txBody>
      </p:sp>
      <p:sp>
        <p:nvSpPr>
          <p:cNvPr id="10" name="Rounded Rectangle 9"/>
          <p:cNvSpPr/>
          <p:nvPr/>
        </p:nvSpPr>
        <p:spPr>
          <a:xfrm>
            <a:off x="9189720" y="1691640"/>
            <a:ext cx="2423160" cy="9601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Run policy</a:t>
            </a:r>
          </a:p>
          <a:p>
            <a:pPr algn="ctr"/>
            <a:r>
              <a:rPr sz="1300" b="0" i="0">
                <a:solidFill>
                  <a:srgbClr val="FFFFFF"/>
                </a:solidFill>
              </a:rPr>
              <a:t>exported actor → 6 actions</a:t>
            </a:r>
          </a:p>
        </p:txBody>
      </p:sp>
      <p:cxnSp>
        <p:nvCxnSpPr>
          <p:cNvPr id="11" name="Connector 10"/>
          <p:cNvCxnSpPr/>
          <p:nvPr/>
        </p:nvCxnSpPr>
        <p:spPr>
          <a:xfrm>
            <a:off x="3017520" y="216712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216712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78240" y="2167128"/>
            <a:ext cx="3657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429000"/>
            <a:ext cx="242316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164194"/>
                </a:solidFill>
              </a:rPr>
              <a:t>Wait for next tick</a:t>
            </a:r>
          </a:p>
          <a:p>
            <a:pPr algn="ctr"/>
            <a:r>
              <a:rPr sz="1300" b="0" i="0">
                <a:solidFill>
                  <a:srgbClr val="164194"/>
                </a:solidFill>
              </a:rPr>
              <a:t>every 33 ms, not as fast as possible</a:t>
            </a:r>
          </a:p>
        </p:txBody>
      </p:sp>
      <p:sp>
        <p:nvSpPr>
          <p:cNvPr id="15" name="Rounded Rectangle 14"/>
          <p:cNvSpPr/>
          <p:nvPr/>
        </p:nvSpPr>
        <p:spPr>
          <a:xfrm>
            <a:off x="3429000" y="3429000"/>
            <a:ext cx="2423160" cy="960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Send</a:t>
            </a:r>
          </a:p>
          <a:p>
            <a:pPr algn="ctr"/>
            <a:r>
              <a:rPr sz="1300" b="0" i="0">
                <a:solidFill>
                  <a:srgbClr val="FFFFFF"/>
                </a:solidFill>
              </a:rPr>
              <a:t>6 targets to the follower</a:t>
            </a:r>
          </a:p>
        </p:txBody>
      </p:sp>
      <p:sp>
        <p:nvSpPr>
          <p:cNvPr id="16" name="Rounded Rectangle 15"/>
          <p:cNvSpPr/>
          <p:nvPr/>
        </p:nvSpPr>
        <p:spPr>
          <a:xfrm>
            <a:off x="6309360" y="3429000"/>
            <a:ext cx="2423160" cy="960120"/>
          </a:xfrm>
          <a:prstGeom prst="roundRect">
            <a:avLst>
              <a:gd name="adj" fmla="val 12000"/>
            </a:avLst>
          </a:prstGeom>
          <a:solidFill>
            <a:srgbClr val="1F24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Clamp</a:t>
            </a:r>
          </a:p>
          <a:p>
            <a:pPr algn="ctr"/>
            <a:r>
              <a:rPr sz="1300" b="0" i="0">
                <a:solidFill>
                  <a:srgbClr val="FFFFFF"/>
                </a:solidFill>
              </a:rPr>
              <a:t>step, joint and workspace limits</a:t>
            </a:r>
          </a:p>
        </p:txBody>
      </p:sp>
      <p:sp>
        <p:nvSpPr>
          <p:cNvPr id="17" name="Rounded Rectangle 16"/>
          <p:cNvSpPr/>
          <p:nvPr/>
        </p:nvSpPr>
        <p:spPr>
          <a:xfrm>
            <a:off x="9189720" y="3429000"/>
            <a:ext cx="24231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Convert action</a:t>
            </a:r>
          </a:p>
          <a:p>
            <a:pPr algn="ctr"/>
            <a:r>
              <a:rPr sz="1300" b="0" i="0">
                <a:solidFill>
                  <a:srgbClr val="FFFFFF"/>
                </a:solidFill>
              </a:rPr>
              <a:t>scale, add default, back to real units</a:t>
            </a:r>
          </a:p>
        </p:txBody>
      </p:sp>
      <p:cxnSp>
        <p:nvCxnSpPr>
          <p:cNvPr id="18" name="Connector 17"/>
          <p:cNvCxnSpPr/>
          <p:nvPr/>
        </p:nvCxnSpPr>
        <p:spPr>
          <a:xfrm>
            <a:off x="10405872" y="2697480"/>
            <a:ext cx="0" cy="68580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063240" y="3904487"/>
            <a:ext cx="32004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943600" y="3904487"/>
            <a:ext cx="32004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823960" y="3904487"/>
            <a:ext cx="32004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764792" y="2697480"/>
            <a:ext cx="0" cy="68580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754880"/>
            <a:ext cx="544068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r>
              <a:rPr sz="1500" b="1" i="0">
                <a:solidFill>
                  <a:srgbClr val="0F6E6A"/>
                </a:solidFill>
              </a:rPr>
              <a:t>Teal </a:t>
            </a:r>
            <a:r>
              <a:rPr sz="1500" b="0" i="0">
                <a:solidFill>
                  <a:srgbClr val="1F2433"/>
                </a:solidFill>
              </a:rPr>
              <a:t>talks to hardware in real units. </a:t>
            </a:r>
            <a:r>
              <a:rPr sz="1500" b="1" i="0">
                <a:solidFill>
                  <a:srgbClr val="E30613"/>
                </a:solidFill>
              </a:rPr>
              <a:t>Red </a:t>
            </a:r>
            <a:r>
              <a:rPr sz="1500" b="0" i="0">
                <a:solidFill>
                  <a:srgbClr val="1F2433"/>
                </a:solidFill>
              </a:rPr>
              <a:t>is the policy, which only speaks radians. </a:t>
            </a:r>
            <a:r>
              <a:rPr sz="1500" b="1" i="0">
                <a:solidFill>
                  <a:srgbClr val="164194"/>
                </a:solidFill>
              </a:rPr>
              <a:t>Blue </a:t>
            </a:r>
            <a:r>
              <a:rPr sz="1500" b="0" i="0">
                <a:solidFill>
                  <a:srgbClr val="1F2433"/>
                </a:solidFill>
              </a:rPr>
              <a:t>translates between them.</a:t>
            </a:r>
          </a:p>
        </p:txBody>
      </p:sp>
      <p:sp>
        <p:nvSpPr>
          <p:cNvPr id="24" name="Rounded Rectangle 23"/>
          <p:cNvSpPr/>
          <p:nvPr/>
        </p:nvSpPr>
        <p:spPr>
          <a:xfrm>
            <a:off x="6172200" y="4754880"/>
            <a:ext cx="5440680" cy="12344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r>
              <a:rPr sz="1500" b="1" i="0">
                <a:solidFill>
                  <a:srgbClr val="E30613"/>
                </a:solidFill>
              </a:rPr>
              <a:t>Almost every contract bug lives in a blue box. Your Lab 6 unit table is the code behind the two “convert” boxes.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Symptom → suspect: contract bugs look like bad policies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19</a:t>
            </a:fld>
            <a:endParaRPr lang="en-SG"/>
          </a:p>
        </p:txBody>
      </p:sp>
      <p:sp>
        <p:nvSpPr>
          <p:cNvPr id="7" name="Rounded Rectangle 6"/>
          <p:cNvSpPr/>
          <p:nvPr/>
        </p:nvSpPr>
        <p:spPr>
          <a:xfrm>
            <a:off x="548640" y="1554480"/>
            <a:ext cx="544068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200"/>
              </a:spcAft>
            </a:pPr>
            <a:r>
              <a:rPr sz="1200" b="1" i="0">
                <a:solidFill>
                  <a:srgbClr val="5B6275"/>
                </a:solidFill>
              </a:rPr>
              <a:t>WHAT YOU SEE</a:t>
            </a:r>
          </a:p>
          <a:p>
            <a:pPr algn="l">
              <a:spcAft>
                <a:spcPts val="1000"/>
              </a:spcAft>
            </a:pPr>
            <a:r>
              <a:rPr sz="1700" b="1" i="0">
                <a:solidFill>
                  <a:srgbClr val="1F2433"/>
                </a:solidFill>
              </a:rPr>
              <a:t>Moves away from the target, then pins one joint at its limit</a:t>
            </a:r>
          </a:p>
          <a:p>
            <a:pPr algn="l"/>
            <a:r>
              <a:rPr sz="1500" b="1" i="0">
                <a:solidFill>
                  <a:srgbClr val="E30613"/>
                </a:solidFill>
              </a:rPr>
              <a:t>Suspect: </a:t>
            </a:r>
            <a:r>
              <a:rPr sz="1500" b="0" i="0">
                <a:solidFill>
                  <a:srgbClr val="1F2433"/>
                </a:solidFill>
              </a:rPr>
              <a:t>the sign of that joint is flipped in the unit table</a:t>
            </a:r>
          </a:p>
        </p:txBody>
      </p:sp>
      <p:sp>
        <p:nvSpPr>
          <p:cNvPr id="8" name="Rounded Rectangle 7"/>
          <p:cNvSpPr/>
          <p:nvPr/>
        </p:nvSpPr>
        <p:spPr>
          <a:xfrm>
            <a:off x="6172200" y="1554480"/>
            <a:ext cx="544068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200"/>
              </a:spcAft>
            </a:pPr>
            <a:r>
              <a:rPr sz="1200" b="1" i="0">
                <a:solidFill>
                  <a:srgbClr val="5B6275"/>
                </a:solidFill>
              </a:rPr>
              <a:t>WHAT YOU SEE</a:t>
            </a:r>
          </a:p>
          <a:p>
            <a:pPr algn="l">
              <a:spcAft>
                <a:spcPts val="1000"/>
              </a:spcAft>
            </a:pPr>
            <a:r>
              <a:rPr sz="1700" b="1" i="0">
                <a:solidFill>
                  <a:srgbClr val="1F2433"/>
                </a:solidFill>
              </a:rPr>
              <a:t>Heads to a strange pose first, then roughly reaches</a:t>
            </a:r>
          </a:p>
          <a:p>
            <a:pPr algn="l"/>
            <a:r>
              <a:rPr sz="1500" b="1" i="0">
                <a:solidFill>
                  <a:srgbClr val="E30613"/>
                </a:solidFill>
              </a:rPr>
              <a:t>Suspect: </a:t>
            </a:r>
            <a:r>
              <a:rPr sz="1500" b="0" i="0">
                <a:solidFill>
                  <a:srgbClr val="1F2433"/>
                </a:solidFill>
              </a:rPr>
              <a:t>absolute angles sent instead of positions relative to the default pose</a:t>
            </a:r>
          </a:p>
        </p:txBody>
      </p:sp>
      <p:sp>
        <p:nvSpPr>
          <p:cNvPr id="9" name="Rounded Rectangle 8"/>
          <p:cNvSpPr/>
          <p:nvPr/>
        </p:nvSpPr>
        <p:spPr>
          <a:xfrm>
            <a:off x="548640" y="3566160"/>
            <a:ext cx="544068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200"/>
              </a:spcAft>
            </a:pPr>
            <a:r>
              <a:rPr sz="1200" b="1" i="0">
                <a:solidFill>
                  <a:srgbClr val="5B6275"/>
                </a:solidFill>
              </a:rPr>
              <a:t>WHAT YOU SEE</a:t>
            </a:r>
          </a:p>
          <a:p>
            <a:pPr algn="l">
              <a:spcAft>
                <a:spcPts val="1000"/>
              </a:spcAft>
            </a:pPr>
            <a:r>
              <a:rPr sz="1700" b="1" i="0">
                <a:solidFill>
                  <a:srgbClr val="1F2433"/>
                </a:solidFill>
              </a:rPr>
              <a:t>Reaches, but jerky, with overshoot</a:t>
            </a:r>
          </a:p>
          <a:p>
            <a:pPr algn="l"/>
            <a:r>
              <a:rPr sz="1500" b="1" i="0">
                <a:solidFill>
                  <a:srgbClr val="E30613"/>
                </a:solidFill>
              </a:rPr>
              <a:t>Suspect: </a:t>
            </a:r>
            <a:r>
              <a:rPr sz="1500" b="0" i="0">
                <a:solidFill>
                  <a:srgbClr val="1F2433"/>
                </a:solidFill>
              </a:rPr>
              <a:t>the loop runs faster or slower than the 30 Hz it trained at</a:t>
            </a:r>
          </a:p>
        </p:txBody>
      </p:sp>
      <p:sp>
        <p:nvSpPr>
          <p:cNvPr id="10" name="Rounded Rectangle 9"/>
          <p:cNvSpPr/>
          <p:nvPr/>
        </p:nvSpPr>
        <p:spPr>
          <a:xfrm>
            <a:off x="6172200" y="3566160"/>
            <a:ext cx="5440680" cy="1828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200"/>
              </a:spcAft>
            </a:pPr>
            <a:r>
              <a:rPr sz="1200" b="1" i="0">
                <a:solidFill>
                  <a:srgbClr val="5B6275"/>
                </a:solidFill>
              </a:rPr>
              <a:t>WHAT YOU SEE</a:t>
            </a:r>
          </a:p>
          <a:p>
            <a:pPr algn="l">
              <a:spcAft>
                <a:spcPts val="1000"/>
              </a:spcAft>
            </a:pPr>
            <a:r>
              <a:rPr sz="1700" b="1" i="0">
                <a:solidFill>
                  <a:srgbClr val="1F2433"/>
                </a:solidFill>
              </a:rPr>
              <a:t>Barely moves at all</a:t>
            </a:r>
          </a:p>
          <a:p>
            <a:pPr algn="l"/>
            <a:r>
              <a:rPr sz="1500" b="1" i="0">
                <a:solidFill>
                  <a:srgbClr val="E30613"/>
                </a:solidFill>
              </a:rPr>
              <a:t>Suspect: </a:t>
            </a:r>
            <a:r>
              <a:rPr sz="1500" b="0" i="0">
                <a:solidFill>
                  <a:srgbClr val="1F2433"/>
                </a:solidFill>
              </a:rPr>
              <a:t>action scale applied twice, or a clamp so tight that every step is cut off</a:t>
            </a:r>
          </a:p>
        </p:txBody>
      </p:sp>
      <p:sp>
        <p:nvSpPr>
          <p:cNvPr id="11" name="Rounded Rectangle 10"/>
          <p:cNvSpPr/>
          <p:nvPr/>
        </p:nvSpPr>
        <p:spPr>
          <a:xfrm>
            <a:off x="548640" y="5623560"/>
            <a:ext cx="1106424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Check the contract before you blame the policy.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Reach transfers and Lift does not (yet)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20</a:t>
            </a:fld>
            <a:endParaRPr lang="en-SG"/>
          </a:p>
        </p:txBody>
      </p:sp>
      <p:sp>
        <p:nvSpPr>
          <p:cNvPr id="7" name="Rounded Rectangle 6"/>
          <p:cNvSpPr/>
          <p:nvPr/>
        </p:nvSpPr>
        <p:spPr>
          <a:xfrm>
            <a:off x="548640" y="1508760"/>
            <a:ext cx="36576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Observation term</a:t>
            </a:r>
          </a:p>
        </p:txBody>
      </p:sp>
      <p:sp>
        <p:nvSpPr>
          <p:cNvPr id="8" name="Rounded Rectangle 7"/>
          <p:cNvSpPr/>
          <p:nvPr/>
        </p:nvSpPr>
        <p:spPr>
          <a:xfrm>
            <a:off x="4343400" y="1508760"/>
            <a:ext cx="146304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Reach</a:t>
            </a:r>
          </a:p>
        </p:txBody>
      </p:sp>
      <p:sp>
        <p:nvSpPr>
          <p:cNvPr id="9" name="Rounded Rectangle 8"/>
          <p:cNvSpPr/>
          <p:nvPr/>
        </p:nvSpPr>
        <p:spPr>
          <a:xfrm>
            <a:off x="5943600" y="1508760"/>
            <a:ext cx="146304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Lift</a:t>
            </a:r>
          </a:p>
        </p:txBody>
      </p:sp>
      <p:sp>
        <p:nvSpPr>
          <p:cNvPr id="10" name="Rounded Rectangle 9"/>
          <p:cNvSpPr/>
          <p:nvPr/>
        </p:nvSpPr>
        <p:spPr>
          <a:xfrm>
            <a:off x="7543800" y="1508760"/>
            <a:ext cx="406908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FFFFFF"/>
                </a:solidFill>
              </a:rPr>
              <a:t>On the real arm, it comes from…</a:t>
            </a:r>
          </a:p>
        </p:txBody>
      </p:sp>
      <p:sp>
        <p:nvSpPr>
          <p:cNvPr id="11" name="Rounded Rectangle 10"/>
          <p:cNvSpPr/>
          <p:nvPr/>
        </p:nvSpPr>
        <p:spPr>
          <a:xfrm>
            <a:off x="548640" y="2103120"/>
            <a:ext cx="365760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Joint positions</a:t>
            </a:r>
          </a:p>
        </p:txBody>
      </p:sp>
      <p:sp>
        <p:nvSpPr>
          <p:cNvPr id="12" name="Rounded Rectangle 11"/>
          <p:cNvSpPr/>
          <p:nvPr/>
        </p:nvSpPr>
        <p:spPr>
          <a:xfrm>
            <a:off x="4343400" y="2103120"/>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13" name="Rounded Rectangle 12"/>
          <p:cNvSpPr/>
          <p:nvPr/>
        </p:nvSpPr>
        <p:spPr>
          <a:xfrm>
            <a:off x="5943600" y="2103120"/>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14" name="Rounded Rectangle 13"/>
          <p:cNvSpPr/>
          <p:nvPr/>
        </p:nvSpPr>
        <p:spPr>
          <a:xfrm>
            <a:off x="7543800" y="2103120"/>
            <a:ext cx="406908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the servo encoders</a:t>
            </a:r>
          </a:p>
        </p:txBody>
      </p:sp>
      <p:sp>
        <p:nvSpPr>
          <p:cNvPr id="15" name="Rounded Rectangle 14"/>
          <p:cNvSpPr/>
          <p:nvPr/>
        </p:nvSpPr>
        <p:spPr>
          <a:xfrm>
            <a:off x="548640" y="2761487"/>
            <a:ext cx="365760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Joint velocities</a:t>
            </a:r>
          </a:p>
        </p:txBody>
      </p:sp>
      <p:sp>
        <p:nvSpPr>
          <p:cNvPr id="16" name="Rounded Rectangle 15"/>
          <p:cNvSpPr/>
          <p:nvPr/>
        </p:nvSpPr>
        <p:spPr>
          <a:xfrm>
            <a:off x="4343400" y="2761487"/>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17" name="Rounded Rectangle 16"/>
          <p:cNvSpPr/>
          <p:nvPr/>
        </p:nvSpPr>
        <p:spPr>
          <a:xfrm>
            <a:off x="5943600" y="2761487"/>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18" name="Rounded Rectangle 17"/>
          <p:cNvSpPr/>
          <p:nvPr/>
        </p:nvSpPr>
        <p:spPr>
          <a:xfrm>
            <a:off x="7543800" y="2761487"/>
            <a:ext cx="406908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change in position ÷ time</a:t>
            </a:r>
          </a:p>
        </p:txBody>
      </p:sp>
      <p:sp>
        <p:nvSpPr>
          <p:cNvPr id="19" name="Rounded Rectangle 18"/>
          <p:cNvSpPr/>
          <p:nvPr/>
        </p:nvSpPr>
        <p:spPr>
          <a:xfrm>
            <a:off x="548640" y="3419856"/>
            <a:ext cx="365760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Last action</a:t>
            </a:r>
          </a:p>
        </p:txBody>
      </p:sp>
      <p:sp>
        <p:nvSpPr>
          <p:cNvPr id="20" name="Rounded Rectangle 19"/>
          <p:cNvSpPr/>
          <p:nvPr/>
        </p:nvSpPr>
        <p:spPr>
          <a:xfrm>
            <a:off x="4343400" y="3419856"/>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21" name="Rounded Rectangle 20"/>
          <p:cNvSpPr/>
          <p:nvPr/>
        </p:nvSpPr>
        <p:spPr>
          <a:xfrm>
            <a:off x="5943600" y="3419856"/>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22" name="Rounded Rectangle 21"/>
          <p:cNvSpPr/>
          <p:nvPr/>
        </p:nvSpPr>
        <p:spPr>
          <a:xfrm>
            <a:off x="7543800" y="3419856"/>
            <a:ext cx="406908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the bridge remembers it</a:t>
            </a:r>
          </a:p>
        </p:txBody>
      </p:sp>
      <p:sp>
        <p:nvSpPr>
          <p:cNvPr id="23" name="Rounded Rectangle 22"/>
          <p:cNvSpPr/>
          <p:nvPr/>
        </p:nvSpPr>
        <p:spPr>
          <a:xfrm>
            <a:off x="548640" y="4078224"/>
            <a:ext cx="365760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Target to reach</a:t>
            </a:r>
          </a:p>
        </p:txBody>
      </p:sp>
      <p:sp>
        <p:nvSpPr>
          <p:cNvPr id="24" name="Rounded Rectangle 23"/>
          <p:cNvSpPr/>
          <p:nvPr/>
        </p:nvSpPr>
        <p:spPr>
          <a:xfrm>
            <a:off x="4343400" y="4078224"/>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25" name="Rounded Rectangle 24"/>
          <p:cNvSpPr/>
          <p:nvPr/>
        </p:nvSpPr>
        <p:spPr>
          <a:xfrm>
            <a:off x="5943600" y="4078224"/>
            <a:ext cx="146304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26" name="Rounded Rectangle 25"/>
          <p:cNvSpPr/>
          <p:nvPr/>
        </p:nvSpPr>
        <p:spPr>
          <a:xfrm>
            <a:off x="7543800" y="4078224"/>
            <a:ext cx="4069080" cy="56692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we choose it, in the robot's frame</a:t>
            </a:r>
          </a:p>
        </p:txBody>
      </p:sp>
      <p:sp>
        <p:nvSpPr>
          <p:cNvPr id="27" name="Rounded Rectangle 26"/>
          <p:cNvSpPr/>
          <p:nvPr/>
        </p:nvSpPr>
        <p:spPr>
          <a:xfrm>
            <a:off x="548640" y="4736592"/>
            <a:ext cx="3657600" cy="56692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Cube position and orientation</a:t>
            </a:r>
          </a:p>
        </p:txBody>
      </p:sp>
      <p:sp>
        <p:nvSpPr>
          <p:cNvPr id="28" name="Rounded Rectangle 27"/>
          <p:cNvSpPr/>
          <p:nvPr/>
        </p:nvSpPr>
        <p:spPr>
          <a:xfrm>
            <a:off x="4343400" y="4736592"/>
            <a:ext cx="1463040" cy="56692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5B6275"/>
                </a:solidFill>
              </a:rPr>
              <a:t>No</a:t>
            </a:r>
          </a:p>
        </p:txBody>
      </p:sp>
      <p:sp>
        <p:nvSpPr>
          <p:cNvPr id="29" name="Rounded Rectangle 28"/>
          <p:cNvSpPr/>
          <p:nvPr/>
        </p:nvSpPr>
        <p:spPr>
          <a:xfrm>
            <a:off x="5943600" y="4736592"/>
            <a:ext cx="1463040" cy="56692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0F6E6A"/>
                </a:solidFill>
              </a:rPr>
              <a:t>Yes</a:t>
            </a:r>
          </a:p>
        </p:txBody>
      </p:sp>
      <p:sp>
        <p:nvSpPr>
          <p:cNvPr id="30" name="Rounded Rectangle 29"/>
          <p:cNvSpPr/>
          <p:nvPr/>
        </p:nvSpPr>
        <p:spPr>
          <a:xfrm>
            <a:off x="7543800" y="4736592"/>
            <a:ext cx="4069080" cy="56692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E30613"/>
                </a:solidFill>
              </a:rPr>
              <a:t>a camera + pose estimator, with its own error and delay</a:t>
            </a:r>
          </a:p>
        </p:txBody>
      </p:sp>
      <p:sp>
        <p:nvSpPr>
          <p:cNvPr id="31" name="Rounded Rectangle 30"/>
          <p:cNvSpPr/>
          <p:nvPr/>
        </p:nvSpPr>
        <p:spPr>
          <a:xfrm>
            <a:off x="548640" y="5486400"/>
            <a:ext cx="1106424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Rule: a policy can only transfer if everything it observes can be measured on the real robot.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safety envelope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21</a:t>
            </a:fld>
            <a:endParaRPr lang="en-SG"/>
          </a:p>
        </p:txBody>
      </p:sp>
      <p:sp>
        <p:nvSpPr>
          <p:cNvPr id="7" name="Rounded Rectangle 6"/>
          <p:cNvSpPr/>
          <p:nvPr/>
        </p:nvSpPr>
        <p:spPr>
          <a:xfrm>
            <a:off x="548640" y="1508760"/>
            <a:ext cx="5669280" cy="4526280"/>
          </a:xfrm>
          <a:prstGeom prst="roundRect">
            <a:avLst>
              <a:gd name="adj" fmla="val 8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b="1" i="0">
                <a:solidFill>
                  <a:srgbClr val="E30613"/>
                </a:solidFill>
              </a:rPr>
              <a:t>Power cut-off within reach: one person, one hand, the whole time</a:t>
            </a:r>
          </a:p>
        </p:txBody>
      </p:sp>
      <p:sp>
        <p:nvSpPr>
          <p:cNvPr id="8" name="Rounded Rectangle 7"/>
          <p:cNvSpPr/>
          <p:nvPr/>
        </p:nvSpPr>
        <p:spPr>
          <a:xfrm>
            <a:off x="868680" y="2103120"/>
            <a:ext cx="5029200" cy="3703320"/>
          </a:xfrm>
          <a:prstGeom prst="roundRect">
            <a:avLst>
              <a:gd name="adj" fmla="val 8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b="1" i="0">
                <a:solidFill>
                  <a:srgbClr val="164194"/>
                </a:solidFill>
              </a:rPr>
              <a:t>Workspace limits: gripper above the table, inside a box</a:t>
            </a:r>
          </a:p>
        </p:txBody>
      </p:sp>
      <p:sp>
        <p:nvSpPr>
          <p:cNvPr id="9" name="Rounded Rectangle 8"/>
          <p:cNvSpPr/>
          <p:nvPr/>
        </p:nvSpPr>
        <p:spPr>
          <a:xfrm>
            <a:off x="1188720" y="2697480"/>
            <a:ext cx="4389120" cy="2880360"/>
          </a:xfrm>
          <a:prstGeom prst="roundRect">
            <a:avLst>
              <a:gd name="adj" fmla="val 8000"/>
            </a:avLst>
          </a:prstGeom>
          <a:solidFill>
            <a:srgbClr val="DDE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b="1" i="0">
                <a:solidFill>
                  <a:srgbClr val="164194"/>
                </a:solidFill>
              </a:rPr>
              <a:t>Joint limits: soft limits inside the hard stops</a:t>
            </a:r>
          </a:p>
        </p:txBody>
      </p:sp>
      <p:sp>
        <p:nvSpPr>
          <p:cNvPr id="10" name="Rounded Rectangle 9"/>
          <p:cNvSpPr/>
          <p:nvPr/>
        </p:nvSpPr>
        <p:spPr>
          <a:xfrm>
            <a:off x="1508760" y="3291840"/>
            <a:ext cx="3749039" cy="2057400"/>
          </a:xfrm>
          <a:prstGeom prst="roundRect">
            <a:avLst>
              <a:gd name="adj" fmla="val 8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r>
              <a:rPr sz="1300" b="1" i="0">
                <a:solidFill>
                  <a:srgbClr val="1F2433"/>
                </a:solidFill>
              </a:rPr>
              <a:t>Max step per command, e.g. 5° per joint</a:t>
            </a:r>
          </a:p>
        </p:txBody>
      </p:sp>
      <p:sp>
        <p:nvSpPr>
          <p:cNvPr id="11" name="Rounded Rectangle 10"/>
          <p:cNvSpPr/>
          <p:nvPr/>
        </p:nvSpPr>
        <p:spPr>
          <a:xfrm>
            <a:off x="1920240" y="3931920"/>
            <a:ext cx="2926080" cy="11887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Policy action</a:t>
            </a:r>
          </a:p>
          <a:p>
            <a:pPr algn="ctr"/>
            <a:r>
              <a:rPr sz="1300" b="0" i="0">
                <a:solidFill>
                  <a:srgbClr val="DDE5F7"/>
                </a:solidFill>
              </a:rPr>
              <a:t>what the network wants</a:t>
            </a:r>
          </a:p>
        </p:txBody>
      </p:sp>
      <p:sp>
        <p:nvSpPr>
          <p:cNvPr id="12" name="Rounded Rectangle 11"/>
          <p:cNvSpPr/>
          <p:nvPr/>
        </p:nvSpPr>
        <p:spPr>
          <a:xfrm>
            <a:off x="6583680" y="1508760"/>
            <a:ext cx="5029200" cy="2697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l">
              <a:spcAft>
                <a:spcPts val="800"/>
              </a:spcAft>
            </a:pPr>
            <a:r>
              <a:rPr sz="1800" b="1" i="0">
                <a:solidFill>
                  <a:srgbClr val="164194"/>
                </a:solidFill>
              </a:rPr>
              <a:t>First runs</a:t>
            </a:r>
          </a:p>
          <a:p>
            <a:pPr algn="l">
              <a:spcAft>
                <a:spcPts val="600"/>
              </a:spcAft>
            </a:pPr>
            <a:r>
              <a:rPr sz="1500" b="0" i="0">
                <a:solidFill>
                  <a:srgbClr val="1F2433"/>
                </a:solidFill>
              </a:rPr>
              <a:t>Half the usual step limit</a:t>
            </a:r>
          </a:p>
          <a:p>
            <a:pPr algn="l">
              <a:spcAft>
                <a:spcPts val="600"/>
              </a:spcAft>
            </a:pPr>
            <a:r>
              <a:rPr sz="1500" b="0" i="0">
                <a:solidFill>
                  <a:srgbClr val="1F2433"/>
                </a:solidFill>
              </a:rPr>
              <a:t>Instructor present for the first command</a:t>
            </a:r>
          </a:p>
          <a:p>
            <a:pPr algn="l">
              <a:spcAft>
                <a:spcPts val="600"/>
              </a:spcAft>
            </a:pPr>
            <a:r>
              <a:rPr sz="1500" b="0" i="0">
                <a:solidFill>
                  <a:srgbClr val="1F2433"/>
                </a:solidFill>
              </a:rPr>
              <a:t>Hands out of the follower's path, always</a:t>
            </a:r>
          </a:p>
          <a:p>
            <a:pPr algn="l"/>
            <a:r>
              <a:rPr sz="1500" b="0" i="0">
                <a:solidFill>
                  <a:srgbClr val="1F2433"/>
                </a:solidFill>
              </a:rPr>
              <a:t>One person whose only job is the power switch</a:t>
            </a:r>
          </a:p>
        </p:txBody>
      </p:sp>
      <p:sp>
        <p:nvSpPr>
          <p:cNvPr id="13" name="Rounded Rectangle 12"/>
          <p:cNvSpPr/>
          <p:nvPr/>
        </p:nvSpPr>
        <p:spPr>
          <a:xfrm>
            <a:off x="6583680" y="4389120"/>
            <a:ext cx="5029200" cy="164592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82880" bIns="182880"/>
          <a:lstStyle/>
          <a:p>
            <a:pPr algn="l">
              <a:spcAft>
                <a:spcPts val="400"/>
              </a:spcAft>
            </a:pPr>
            <a:r>
              <a:rPr sz="1700" b="1" i="0">
                <a:solidFill>
                  <a:srgbClr val="0F6E6A"/>
                </a:solidFill>
              </a:rPr>
              <a:t>In LeRobot</a:t>
            </a:r>
          </a:p>
          <a:p>
            <a:pPr algn="l"/>
            <a:r>
              <a:rPr sz="1400" b="1" i="0">
                <a:solidFill>
                  <a:srgbClr val="1F2433"/>
                </a:solidFill>
                <a:latin typeface="Courier New"/>
              </a:rPr>
              <a:t>max_relative_target</a:t>
            </a:r>
            <a:r>
              <a:rPr sz="1400" b="0" i="0">
                <a:solidFill>
                  <a:srgbClr val="1F2433"/>
                </a:solidFill>
              </a:rPr>
              <a:t> caps how far each motor may move in one action. Same job as our clamp.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RL on real hardware and how to evaluate RL</a:t>
            </a:r>
          </a:p>
          <a:p>
            <a:pPr algn="l"/>
            <a:r>
              <a:rPr sz="1800" b="0" i="0">
                <a:solidFill>
                  <a:srgbClr val="DDE5F7"/>
                </a:solidFill>
              </a:rPr>
              <a:t>Human-in-the-loop RL, metrics and failure categories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Human-in-the-loop RL on the real arm (HIL-SERL)</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23</a:t>
            </a:fld>
            <a:endParaRPr lang="en-SG"/>
          </a:p>
        </p:txBody>
      </p:sp>
      <p:sp>
        <p:nvSpPr>
          <p:cNvPr id="7" name="Rounded Rectangle 6"/>
          <p:cNvSpPr/>
          <p:nvPr/>
        </p:nvSpPr>
        <p:spPr>
          <a:xfrm>
            <a:off x="548640" y="1645920"/>
            <a:ext cx="2743200" cy="11887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Actor</a:t>
            </a:r>
          </a:p>
          <a:p>
            <a:pPr algn="ctr"/>
            <a:r>
              <a:rPr sz="1300" b="0" i="0">
                <a:solidFill>
                  <a:srgbClr val="FFFFFF"/>
                </a:solidFill>
              </a:rPr>
              <a:t>runs the policy on the real arm</a:t>
            </a:r>
          </a:p>
        </p:txBody>
      </p:sp>
      <p:sp>
        <p:nvSpPr>
          <p:cNvPr id="8" name="Rounded Rectangle 7"/>
          <p:cNvSpPr/>
          <p:nvPr/>
        </p:nvSpPr>
        <p:spPr>
          <a:xfrm>
            <a:off x="3840480" y="1645920"/>
            <a:ext cx="2743200" cy="11887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Human</a:t>
            </a:r>
          </a:p>
          <a:p>
            <a:pPr algn="ctr"/>
            <a:r>
              <a:rPr sz="1300" b="0" i="0">
                <a:solidFill>
                  <a:srgbClr val="FFFFFF"/>
                </a:solidFill>
              </a:rPr>
              <a:t>takes over with the leader arm or a gamepad when it goes wrong</a:t>
            </a:r>
          </a:p>
        </p:txBody>
      </p:sp>
      <p:sp>
        <p:nvSpPr>
          <p:cNvPr id="9" name="Rounded Rectangle 8"/>
          <p:cNvSpPr/>
          <p:nvPr/>
        </p:nvSpPr>
        <p:spPr>
          <a:xfrm>
            <a:off x="3840480" y="3657600"/>
            <a:ext cx="2743200" cy="11887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Reward</a:t>
            </a:r>
          </a:p>
          <a:p>
            <a:pPr algn="ctr"/>
            <a:r>
              <a:rPr sz="1300" b="0" i="0">
                <a:solidFill>
                  <a:srgbClr val="FFFFFF"/>
                </a:solidFill>
              </a:rPr>
              <a:t>camera success classifier, or a key press: 1 success, 0 fail</a:t>
            </a:r>
          </a:p>
        </p:txBody>
      </p:sp>
      <p:sp>
        <p:nvSpPr>
          <p:cNvPr id="10" name="Rounded Rectangle 9"/>
          <p:cNvSpPr/>
          <p:nvPr/>
        </p:nvSpPr>
        <p:spPr>
          <a:xfrm>
            <a:off x="548640" y="3657600"/>
            <a:ext cx="2743200" cy="11887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Learner</a:t>
            </a:r>
          </a:p>
          <a:p>
            <a:pPr algn="ctr"/>
            <a:r>
              <a:rPr sz="1300" b="0" i="0">
                <a:solidFill>
                  <a:srgbClr val="FFFFFF"/>
                </a:solidFill>
              </a:rPr>
              <a:t>SAC updates the policy and sends new weights back</a:t>
            </a:r>
          </a:p>
        </p:txBody>
      </p:sp>
      <p:cxnSp>
        <p:nvCxnSpPr>
          <p:cNvPr id="11" name="Connector 10"/>
          <p:cNvCxnSpPr/>
          <p:nvPr/>
        </p:nvCxnSpPr>
        <p:spPr>
          <a:xfrm>
            <a:off x="3337560" y="2240280"/>
            <a:ext cx="4572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12080" y="2880360"/>
            <a:ext cx="0" cy="73152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337560" y="4251960"/>
            <a:ext cx="45720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920240" y="2880360"/>
            <a:ext cx="0" cy="73152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514600" y="2926080"/>
            <a:ext cx="2103120" cy="640080"/>
          </a:xfrm>
          <a:prstGeom prst="rect">
            <a:avLst/>
          </a:prstGeom>
          <a:noFill/>
        </p:spPr>
        <p:txBody>
          <a:bodyPr wrap="square" lIns="0" rIns="0" tIns="0" bIns="0" anchor="t">
            <a:spAutoFit/>
          </a:bodyPr>
          <a:lstStyle/>
          <a:p>
            <a:pPr algn="ctr"/>
            <a:r>
              <a:rPr sz="1500" b="1" i="0">
                <a:solidFill>
                  <a:srgbClr val="5B6275"/>
                </a:solidFill>
              </a:rPr>
              <a:t>HIL-SERL</a:t>
            </a:r>
          </a:p>
          <a:p>
            <a:pPr algn="ctr"/>
            <a:r>
              <a:rPr sz="1300" b="0" i="0">
                <a:solidFill>
                  <a:srgbClr val="5B6275"/>
                </a:solidFill>
              </a:rPr>
              <a:t>loop</a:t>
            </a:r>
          </a:p>
        </p:txBody>
      </p:sp>
      <p:sp>
        <p:nvSpPr>
          <p:cNvPr id="16" name="Rounded Rectangle 15"/>
          <p:cNvSpPr/>
          <p:nvPr/>
        </p:nvSpPr>
        <p:spPr>
          <a:xfrm>
            <a:off x="548640" y="5074920"/>
            <a:ext cx="6035040" cy="914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i="0">
                <a:solidFill>
                  <a:srgbClr val="164194"/>
                </a:solidFill>
              </a:rPr>
              <a:t>Luo et al. (2024): near-perfect success on real manipulation tasks after 1–2.5 hours of training.</a:t>
            </a:r>
          </a:p>
        </p:txBody>
      </p:sp>
      <p:sp>
        <p:nvSpPr>
          <p:cNvPr id="17" name="Rounded Rectangle 16"/>
          <p:cNvSpPr/>
          <p:nvPr/>
        </p:nvSpPr>
        <p:spPr>
          <a:xfrm>
            <a:off x="6949440" y="1645920"/>
            <a:ext cx="4663440" cy="4343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228600"/>
          <a:lstStyle/>
          <a:p>
            <a:pPr algn="l">
              <a:spcAft>
                <a:spcPts val="1000"/>
              </a:spcAft>
            </a:pPr>
            <a:r>
              <a:rPr sz="1800" b="1" i="0">
                <a:solidFill>
                  <a:srgbClr val="E30613"/>
                </a:solidFill>
              </a:rPr>
              <a:t>Explained, not practised</a:t>
            </a:r>
          </a:p>
          <a:p>
            <a:pPr algn="l">
              <a:spcAft>
                <a:spcPts val="800"/>
              </a:spcAft>
            </a:pPr>
            <a:r>
              <a:rPr sz="1500" b="0" i="0">
                <a:solidFill>
                  <a:srgbClr val="1F2433"/>
                </a:solidFill>
              </a:rPr>
              <a:t>An exploring policy on a real arm needs one person watching one arm, the whole time.</a:t>
            </a:r>
          </a:p>
          <a:p>
            <a:pPr algn="l">
              <a:spcAft>
                <a:spcPts val="800"/>
              </a:spcAft>
            </a:pPr>
            <a:r>
              <a:rPr sz="1500" b="0" i="0">
                <a:solidFill>
                  <a:srgbClr val="1F2433"/>
                </a:solidFill>
              </a:rPr>
              <a:t>With pods of 3–4 learners and a full class, we cannot supervise that safely.</a:t>
            </a:r>
          </a:p>
          <a:p>
            <a:pPr algn="l">
              <a:spcAft>
                <a:spcPts val="800"/>
              </a:spcAft>
            </a:pPr>
            <a:r>
              <a:rPr sz="1500" b="0" i="0">
                <a:solidFill>
                  <a:srgbClr val="1F2433"/>
                </a:solidFill>
              </a:rPr>
              <a:t>Workspace bounds have to be recorded first, so exploration stays inside a box.</a:t>
            </a:r>
          </a:p>
          <a:p>
            <a:pPr algn="l"/>
            <a:r>
              <a:rPr sz="1500" b="1" i="0">
                <a:solidFill>
                  <a:srgbClr val="1F2433"/>
                </a:solidFill>
              </a:rPr>
              <a:t>So in this unit, RL learns in simulation and only the finished policy touches the arm.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for Reach on the real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24</a:t>
            </a:fld>
            <a:endParaRPr lang="en-SG"/>
          </a:p>
        </p:txBody>
      </p:sp>
      <p:sp>
        <p:nvSpPr>
          <p:cNvPr id="7" name="Rounded Rectangle 6"/>
          <p:cNvSpPr/>
          <p:nvPr/>
        </p:nvSpPr>
        <p:spPr>
          <a:xfrm>
            <a:off x="548640" y="1554480"/>
            <a:ext cx="2651760" cy="2514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164194"/>
                </a:solidFill>
              </a:rPr>
              <a:t>12 mm</a:t>
            </a:r>
          </a:p>
          <a:p>
            <a:pPr algn="ctr">
              <a:spcAft>
                <a:spcPts val="400"/>
              </a:spcAft>
            </a:pPr>
            <a:r>
              <a:rPr sz="1600" b="1" i="0">
                <a:solidFill>
                  <a:srgbClr val="1F2433"/>
                </a:solidFill>
              </a:rPr>
              <a:t>Final position error</a:t>
            </a:r>
          </a:p>
          <a:p>
            <a:pPr algn="ctr"/>
            <a:r>
              <a:rPr sz="1300" b="0" i="0">
                <a:solidFill>
                  <a:srgbClr val="5B6275"/>
                </a:solidFill>
              </a:rPr>
              <a:t>distance from gripper to target when the episode ends</a:t>
            </a:r>
          </a:p>
        </p:txBody>
      </p:sp>
      <p:sp>
        <p:nvSpPr>
          <p:cNvPr id="8" name="Rounded Rectangle 7"/>
          <p:cNvSpPr/>
          <p:nvPr/>
        </p:nvSpPr>
        <p:spPr>
          <a:xfrm>
            <a:off x="3337560" y="1554480"/>
            <a:ext cx="2651760" cy="2514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0F6E6A"/>
                </a:solidFill>
              </a:rPr>
              <a:t>4 / 5</a:t>
            </a:r>
          </a:p>
          <a:p>
            <a:pPr algn="ctr">
              <a:spcAft>
                <a:spcPts val="400"/>
              </a:spcAft>
            </a:pPr>
            <a:r>
              <a:rPr sz="1600" b="1" i="0">
                <a:solidFill>
                  <a:srgbClr val="1F2433"/>
                </a:solidFill>
              </a:rPr>
              <a:t>Success</a:t>
            </a:r>
          </a:p>
          <a:p>
            <a:pPr algn="ctr"/>
            <a:r>
              <a:rPr sz="1300" b="0" i="0">
                <a:solidFill>
                  <a:srgbClr val="5B6275"/>
                </a:solidFill>
              </a:rPr>
              <a:t>final error inside the 20 mm tolerance, reported as a rate</a:t>
            </a:r>
          </a:p>
        </p:txBody>
      </p:sp>
      <p:sp>
        <p:nvSpPr>
          <p:cNvPr id="9" name="Rounded Rectangle 8"/>
          <p:cNvSpPr/>
          <p:nvPr/>
        </p:nvSpPr>
        <p:spPr>
          <a:xfrm>
            <a:off x="6126479" y="1554480"/>
            <a:ext cx="2651760" cy="2514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164194"/>
                </a:solidFill>
              </a:rPr>
              <a:t>1.4 s</a:t>
            </a:r>
          </a:p>
          <a:p>
            <a:pPr algn="ctr">
              <a:spcAft>
                <a:spcPts val="400"/>
              </a:spcAft>
            </a:pPr>
            <a:r>
              <a:rPr sz="1600" b="1" i="0">
                <a:solidFill>
                  <a:srgbClr val="1F2433"/>
                </a:solidFill>
              </a:rPr>
              <a:t>Time to target</a:t>
            </a:r>
          </a:p>
          <a:p>
            <a:pPr algn="ctr"/>
            <a:r>
              <a:rPr sz="1300" b="0" i="0">
                <a:solidFill>
                  <a:srgbClr val="5B6275"/>
                </a:solidFill>
              </a:rPr>
              <a:t>first moment the gripper is inside the tolerance</a:t>
            </a:r>
          </a:p>
        </p:txBody>
      </p:sp>
      <p:sp>
        <p:nvSpPr>
          <p:cNvPr id="10" name="Rounded Rectangle 9"/>
          <p:cNvSpPr/>
          <p:nvPr/>
        </p:nvSpPr>
        <p:spPr>
          <a:xfrm>
            <a:off x="8915399" y="1554480"/>
            <a:ext cx="2651760" cy="25146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28600" bIns="228600"/>
          <a:lstStyle/>
          <a:p>
            <a:pPr algn="ctr">
              <a:spcAft>
                <a:spcPts val="400"/>
              </a:spcAft>
            </a:pPr>
            <a:r>
              <a:rPr sz="3400" b="1" i="0">
                <a:solidFill>
                  <a:srgbClr val="E30613"/>
                </a:solidFill>
              </a:rPr>
              <a:t>3</a:t>
            </a:r>
          </a:p>
          <a:p>
            <a:pPr algn="ctr">
              <a:spcAft>
                <a:spcPts val="400"/>
              </a:spcAft>
            </a:pPr>
            <a:r>
              <a:rPr sz="1600" b="1" i="0">
                <a:solidFill>
                  <a:srgbClr val="1F2433"/>
                </a:solidFill>
              </a:rPr>
              <a:t>Smoothness</a:t>
            </a:r>
          </a:p>
          <a:p>
            <a:pPr algn="ctr"/>
            <a:r>
              <a:rPr sz="1300" b="0" i="0">
                <a:solidFill>
                  <a:srgbClr val="5B6275"/>
                </a:solidFill>
              </a:rPr>
              <a:t>e.g. direction reversals per joint; fewer is smoother</a:t>
            </a:r>
          </a:p>
        </p:txBody>
      </p:sp>
      <p:sp>
        <p:nvSpPr>
          <p:cNvPr id="11" name="TextBox 10"/>
          <p:cNvSpPr txBox="1"/>
          <p:nvPr/>
        </p:nvSpPr>
        <p:spPr>
          <a:xfrm>
            <a:off x="548640" y="4114800"/>
            <a:ext cx="11064240" cy="274320"/>
          </a:xfrm>
          <a:prstGeom prst="rect">
            <a:avLst/>
          </a:prstGeom>
          <a:noFill/>
        </p:spPr>
        <p:txBody>
          <a:bodyPr wrap="square" lIns="0" rIns="0" tIns="0" bIns="0" anchor="t">
            <a:spAutoFit/>
          </a:bodyPr>
          <a:lstStyle/>
          <a:p>
            <a:pPr algn="l"/>
            <a:r>
              <a:rPr sz="1100" b="0" i="0">
                <a:solidFill>
                  <a:srgbClr val="5B6275"/>
                </a:solidFill>
              </a:rPr>
              <a:t>Example values only.</a:t>
            </a:r>
          </a:p>
        </p:txBody>
      </p:sp>
      <p:sp>
        <p:nvSpPr>
          <p:cNvPr id="12" name="Rounded Rectangle 11"/>
          <p:cNvSpPr/>
          <p:nvPr/>
        </p:nvSpPr>
        <p:spPr>
          <a:xfrm>
            <a:off x="548640" y="4480560"/>
            <a:ext cx="5440680" cy="15087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400"/>
              </a:spcAft>
            </a:pPr>
            <a:r>
              <a:rPr sz="1700" b="1" i="0">
                <a:solidFill>
                  <a:srgbClr val="164194"/>
                </a:solidFill>
              </a:rPr>
              <a:t>From the joints</a:t>
            </a:r>
          </a:p>
          <a:p>
            <a:pPr algn="l"/>
            <a:r>
              <a:rPr sz="1400" b="0" i="0">
                <a:solidFill>
                  <a:srgbClr val="1F2433"/>
                </a:solidFill>
              </a:rPr>
              <a:t>The bridge runs forward kinematics on the joint readings. Exact and automatic, but it trusts the calibration.</a:t>
            </a:r>
          </a:p>
        </p:txBody>
      </p:sp>
      <p:sp>
        <p:nvSpPr>
          <p:cNvPr id="13" name="Rounded Rectangle 12"/>
          <p:cNvSpPr/>
          <p:nvPr/>
        </p:nvSpPr>
        <p:spPr>
          <a:xfrm>
            <a:off x="6172200" y="4480560"/>
            <a:ext cx="5440680" cy="15087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400"/>
              </a:spcAft>
            </a:pPr>
            <a:r>
              <a:rPr sz="1700" b="1" i="0">
                <a:solidFill>
                  <a:srgbClr val="0F6E6A"/>
                </a:solidFill>
              </a:rPr>
              <a:t>From the grid mat</a:t>
            </a:r>
          </a:p>
          <a:p>
            <a:pPr algn="l"/>
            <a:r>
              <a:rPr sz="1400" b="0" i="0">
                <a:solidFill>
                  <a:srgbClr val="1F2433"/>
                </a:solidFill>
              </a:rPr>
              <a:t>Check the gripper against the marked target with a ruler. Slower, but it catches calibration errors.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scoring five targets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25</a:t>
            </a:fld>
            <a:endParaRPr lang="en-SG"/>
          </a:p>
        </p:txBody>
      </p:sp>
      <p:sp>
        <p:nvSpPr>
          <p:cNvPr id="7" name="Rounded Rectangle 6"/>
          <p:cNvSpPr/>
          <p:nvPr/>
        </p:nvSpPr>
        <p:spPr>
          <a:xfrm>
            <a:off x="548640" y="1508760"/>
            <a:ext cx="109728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500" b="1" i="0">
                <a:solidFill>
                  <a:srgbClr val="FFFFFF"/>
                </a:solidFill>
              </a:rPr>
              <a:t>Target</a:t>
            </a:r>
          </a:p>
        </p:txBody>
      </p:sp>
      <p:sp>
        <p:nvSpPr>
          <p:cNvPr id="8" name="Rounded Rectangle 7"/>
          <p:cNvSpPr/>
          <p:nvPr/>
        </p:nvSpPr>
        <p:spPr>
          <a:xfrm>
            <a:off x="1783080" y="1508760"/>
            <a:ext cx="173736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500" b="1" i="0">
                <a:solidFill>
                  <a:srgbClr val="FFFFFF"/>
                </a:solidFill>
              </a:rPr>
              <a:t>Final error</a:t>
            </a:r>
          </a:p>
        </p:txBody>
      </p:sp>
      <p:sp>
        <p:nvSpPr>
          <p:cNvPr id="9" name="Rounded Rectangle 8"/>
          <p:cNvSpPr/>
          <p:nvPr/>
        </p:nvSpPr>
        <p:spPr>
          <a:xfrm>
            <a:off x="3657600" y="1508760"/>
            <a:ext cx="18288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500" b="1" i="0">
                <a:solidFill>
                  <a:srgbClr val="FFFFFF"/>
                </a:solidFill>
              </a:rPr>
              <a:t>Within 20 mm?</a:t>
            </a:r>
          </a:p>
        </p:txBody>
      </p:sp>
      <p:sp>
        <p:nvSpPr>
          <p:cNvPr id="10" name="Rounded Rectangle 9"/>
          <p:cNvSpPr/>
          <p:nvPr/>
        </p:nvSpPr>
        <p:spPr>
          <a:xfrm>
            <a:off x="5623560" y="1508760"/>
            <a:ext cx="178308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500" b="1" i="0">
                <a:solidFill>
                  <a:srgbClr val="FFFFFF"/>
                </a:solidFill>
              </a:rPr>
              <a:t>Time to target</a:t>
            </a:r>
          </a:p>
        </p:txBody>
      </p:sp>
      <p:sp>
        <p:nvSpPr>
          <p:cNvPr id="11" name="Rounded Rectangle 10"/>
          <p:cNvSpPr/>
          <p:nvPr/>
        </p:nvSpPr>
        <p:spPr>
          <a:xfrm>
            <a:off x="548640" y="2103120"/>
            <a:ext cx="10972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a:t>
            </a:r>
          </a:p>
        </p:txBody>
      </p:sp>
      <p:sp>
        <p:nvSpPr>
          <p:cNvPr id="12" name="Rounded Rectangle 11"/>
          <p:cNvSpPr/>
          <p:nvPr/>
        </p:nvSpPr>
        <p:spPr>
          <a:xfrm>
            <a:off x="1783080" y="210312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8 mm</a:t>
            </a:r>
          </a:p>
        </p:txBody>
      </p:sp>
      <p:sp>
        <p:nvSpPr>
          <p:cNvPr id="13" name="Rounded Rectangle 12"/>
          <p:cNvSpPr/>
          <p:nvPr/>
        </p:nvSpPr>
        <p:spPr>
          <a:xfrm>
            <a:off x="3657600" y="2103120"/>
            <a:ext cx="182880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0F6E6A"/>
                </a:solidFill>
              </a:rPr>
              <a:t>Yes</a:t>
            </a:r>
          </a:p>
        </p:txBody>
      </p:sp>
      <p:sp>
        <p:nvSpPr>
          <p:cNvPr id="14" name="Rounded Rectangle 13"/>
          <p:cNvSpPr/>
          <p:nvPr/>
        </p:nvSpPr>
        <p:spPr>
          <a:xfrm>
            <a:off x="5623560" y="2103120"/>
            <a:ext cx="17830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1.2 s</a:t>
            </a:r>
          </a:p>
        </p:txBody>
      </p:sp>
      <p:sp>
        <p:nvSpPr>
          <p:cNvPr id="15" name="Rounded Rectangle 14"/>
          <p:cNvSpPr/>
          <p:nvPr/>
        </p:nvSpPr>
        <p:spPr>
          <a:xfrm>
            <a:off x="548640" y="2651760"/>
            <a:ext cx="10972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2</a:t>
            </a:r>
          </a:p>
        </p:txBody>
      </p:sp>
      <p:sp>
        <p:nvSpPr>
          <p:cNvPr id="16" name="Rounded Rectangle 15"/>
          <p:cNvSpPr/>
          <p:nvPr/>
        </p:nvSpPr>
        <p:spPr>
          <a:xfrm>
            <a:off x="1783080" y="265176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14 mm</a:t>
            </a:r>
          </a:p>
        </p:txBody>
      </p:sp>
      <p:sp>
        <p:nvSpPr>
          <p:cNvPr id="17" name="Rounded Rectangle 16"/>
          <p:cNvSpPr/>
          <p:nvPr/>
        </p:nvSpPr>
        <p:spPr>
          <a:xfrm>
            <a:off x="3657600" y="2651760"/>
            <a:ext cx="182880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0F6E6A"/>
                </a:solidFill>
              </a:rPr>
              <a:t>Yes</a:t>
            </a:r>
          </a:p>
        </p:txBody>
      </p:sp>
      <p:sp>
        <p:nvSpPr>
          <p:cNvPr id="18" name="Rounded Rectangle 17"/>
          <p:cNvSpPr/>
          <p:nvPr/>
        </p:nvSpPr>
        <p:spPr>
          <a:xfrm>
            <a:off x="5623560" y="2651760"/>
            <a:ext cx="17830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1.6 s</a:t>
            </a:r>
          </a:p>
        </p:txBody>
      </p:sp>
      <p:sp>
        <p:nvSpPr>
          <p:cNvPr id="19" name="Rounded Rectangle 18"/>
          <p:cNvSpPr/>
          <p:nvPr/>
        </p:nvSpPr>
        <p:spPr>
          <a:xfrm>
            <a:off x="548640" y="3200400"/>
            <a:ext cx="10972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3</a:t>
            </a:r>
          </a:p>
        </p:txBody>
      </p:sp>
      <p:sp>
        <p:nvSpPr>
          <p:cNvPr id="20" name="Rounded Rectangle 19"/>
          <p:cNvSpPr/>
          <p:nvPr/>
        </p:nvSpPr>
        <p:spPr>
          <a:xfrm>
            <a:off x="1783080" y="320040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23 mm</a:t>
            </a:r>
          </a:p>
        </p:txBody>
      </p:sp>
      <p:sp>
        <p:nvSpPr>
          <p:cNvPr id="21" name="Rounded Rectangle 20"/>
          <p:cNvSpPr/>
          <p:nvPr/>
        </p:nvSpPr>
        <p:spPr>
          <a:xfrm>
            <a:off x="3657600" y="3200400"/>
            <a:ext cx="1828800" cy="47548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E30613"/>
                </a:solidFill>
              </a:rPr>
              <a:t>No</a:t>
            </a:r>
          </a:p>
        </p:txBody>
      </p:sp>
      <p:sp>
        <p:nvSpPr>
          <p:cNvPr id="22" name="Rounded Rectangle 21"/>
          <p:cNvSpPr/>
          <p:nvPr/>
        </p:nvSpPr>
        <p:spPr>
          <a:xfrm>
            <a:off x="5623560" y="3200400"/>
            <a:ext cx="17830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a:t>
            </a:r>
          </a:p>
        </p:txBody>
      </p:sp>
      <p:sp>
        <p:nvSpPr>
          <p:cNvPr id="23" name="Rounded Rectangle 22"/>
          <p:cNvSpPr/>
          <p:nvPr/>
        </p:nvSpPr>
        <p:spPr>
          <a:xfrm>
            <a:off x="548640" y="3749039"/>
            <a:ext cx="10972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4</a:t>
            </a:r>
          </a:p>
        </p:txBody>
      </p:sp>
      <p:sp>
        <p:nvSpPr>
          <p:cNvPr id="24" name="Rounded Rectangle 23"/>
          <p:cNvSpPr/>
          <p:nvPr/>
        </p:nvSpPr>
        <p:spPr>
          <a:xfrm>
            <a:off x="1783080" y="3749039"/>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11 mm</a:t>
            </a:r>
          </a:p>
        </p:txBody>
      </p:sp>
      <p:sp>
        <p:nvSpPr>
          <p:cNvPr id="25" name="Rounded Rectangle 24"/>
          <p:cNvSpPr/>
          <p:nvPr/>
        </p:nvSpPr>
        <p:spPr>
          <a:xfrm>
            <a:off x="3657600" y="3749039"/>
            <a:ext cx="182880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0F6E6A"/>
                </a:solidFill>
              </a:rPr>
              <a:t>Yes</a:t>
            </a:r>
          </a:p>
        </p:txBody>
      </p:sp>
      <p:sp>
        <p:nvSpPr>
          <p:cNvPr id="26" name="Rounded Rectangle 25"/>
          <p:cNvSpPr/>
          <p:nvPr/>
        </p:nvSpPr>
        <p:spPr>
          <a:xfrm>
            <a:off x="5623560" y="3749039"/>
            <a:ext cx="17830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1.4 s</a:t>
            </a:r>
          </a:p>
        </p:txBody>
      </p:sp>
      <p:sp>
        <p:nvSpPr>
          <p:cNvPr id="27" name="Rounded Rectangle 26"/>
          <p:cNvSpPr/>
          <p:nvPr/>
        </p:nvSpPr>
        <p:spPr>
          <a:xfrm>
            <a:off x="548640" y="4297679"/>
            <a:ext cx="10972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5</a:t>
            </a:r>
          </a:p>
        </p:txBody>
      </p:sp>
      <p:sp>
        <p:nvSpPr>
          <p:cNvPr id="28" name="Rounded Rectangle 27"/>
          <p:cNvSpPr/>
          <p:nvPr/>
        </p:nvSpPr>
        <p:spPr>
          <a:xfrm>
            <a:off x="1783080" y="4297679"/>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31 mm</a:t>
            </a:r>
          </a:p>
        </p:txBody>
      </p:sp>
      <p:sp>
        <p:nvSpPr>
          <p:cNvPr id="29" name="Rounded Rectangle 28"/>
          <p:cNvSpPr/>
          <p:nvPr/>
        </p:nvSpPr>
        <p:spPr>
          <a:xfrm>
            <a:off x="3657600" y="4297679"/>
            <a:ext cx="1828800" cy="47548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1" i="0">
                <a:solidFill>
                  <a:srgbClr val="E30613"/>
                </a:solidFill>
              </a:rPr>
              <a:t>No</a:t>
            </a:r>
          </a:p>
        </p:txBody>
      </p:sp>
      <p:sp>
        <p:nvSpPr>
          <p:cNvPr id="30" name="Rounded Rectangle 29"/>
          <p:cNvSpPr/>
          <p:nvPr/>
        </p:nvSpPr>
        <p:spPr>
          <a:xfrm>
            <a:off x="5623560" y="4297679"/>
            <a:ext cx="178308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500" b="0" i="0">
                <a:solidFill>
                  <a:srgbClr val="1F2433"/>
                </a:solidFill>
              </a:rPr>
              <a:t>—</a:t>
            </a:r>
          </a:p>
        </p:txBody>
      </p:sp>
      <p:sp>
        <p:nvSpPr>
          <p:cNvPr id="31" name="Rounded Rectangle 30"/>
          <p:cNvSpPr/>
          <p:nvPr/>
        </p:nvSpPr>
        <p:spPr>
          <a:xfrm>
            <a:off x="7680960" y="1508760"/>
            <a:ext cx="3931920" cy="10058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600" b="1" i="0">
                <a:solidFill>
                  <a:srgbClr val="0F6E6A"/>
                </a:solidFill>
              </a:rPr>
              <a:t>3 / 5 = 60%</a:t>
            </a:r>
          </a:p>
          <a:p>
            <a:pPr algn="ctr"/>
            <a:r>
              <a:rPr sz="1300" b="0" i="0">
                <a:solidFill>
                  <a:srgbClr val="5B6275"/>
                </a:solidFill>
              </a:rPr>
              <a:t>success rate</a:t>
            </a:r>
          </a:p>
        </p:txBody>
      </p:sp>
      <p:sp>
        <p:nvSpPr>
          <p:cNvPr id="32" name="Rounded Rectangle 31"/>
          <p:cNvSpPr/>
          <p:nvPr/>
        </p:nvSpPr>
        <p:spPr>
          <a:xfrm>
            <a:off x="7680960" y="2651760"/>
            <a:ext cx="3931920" cy="10058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600" b="1" i="0">
                <a:solidFill>
                  <a:srgbClr val="164194"/>
                </a:solidFill>
              </a:rPr>
              <a:t>17.4 mm</a:t>
            </a:r>
          </a:p>
          <a:p>
            <a:pPr algn="ctr"/>
            <a:r>
              <a:rPr sz="1300" b="0" i="0">
                <a:solidFill>
                  <a:srgbClr val="5B6275"/>
                </a:solidFill>
              </a:rPr>
              <a:t>mean final error</a:t>
            </a:r>
          </a:p>
        </p:txBody>
      </p:sp>
      <p:sp>
        <p:nvSpPr>
          <p:cNvPr id="33" name="Rounded Rectangle 32"/>
          <p:cNvSpPr/>
          <p:nvPr/>
        </p:nvSpPr>
        <p:spPr>
          <a:xfrm>
            <a:off x="7680960" y="3794760"/>
            <a:ext cx="3931920" cy="10058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600" b="1" i="0">
                <a:solidFill>
                  <a:srgbClr val="164194"/>
                </a:solidFill>
              </a:rPr>
              <a:t>14 mm</a:t>
            </a:r>
          </a:p>
          <a:p>
            <a:pPr algn="ctr"/>
            <a:r>
              <a:rPr sz="1300" b="0" i="0">
                <a:solidFill>
                  <a:srgbClr val="5B6275"/>
                </a:solidFill>
              </a:rPr>
              <a:t>median final error</a:t>
            </a:r>
          </a:p>
        </p:txBody>
      </p:sp>
      <p:sp>
        <p:nvSpPr>
          <p:cNvPr id="34" name="Rounded Rectangle 33"/>
          <p:cNvSpPr/>
          <p:nvPr/>
        </p:nvSpPr>
        <p:spPr>
          <a:xfrm>
            <a:off x="548640" y="5029200"/>
            <a:ext cx="1106424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l"/>
            <a:r>
              <a:rPr sz="1600" b="1" i="0">
                <a:solidFill>
                  <a:srgbClr val="FFFFFF"/>
                </a:solidFill>
              </a:rPr>
              <a:t>Five trials is a tiny sample. A 95% confidence interval for 3 / 5 runs from about 23% to 88%. Lesson 11 shows you how to compute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ways a Reach policy fails on the arm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26</a:t>
            </a:fld>
            <a:endParaRPr lang="en-SG"/>
          </a:p>
        </p:txBody>
      </p:sp>
      <p:sp>
        <p:nvSpPr>
          <p:cNvPr id="7" name="Rounded Rectangle 6"/>
          <p:cNvSpPr/>
          <p:nvPr/>
        </p:nvSpPr>
        <p:spPr>
          <a:xfrm>
            <a:off x="548640" y="1554480"/>
            <a:ext cx="3566160" cy="2057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E30613"/>
                </a:solidFill>
              </a:rPr>
              <a:t>Overshoot</a:t>
            </a:r>
          </a:p>
          <a:p>
            <a:pPr algn="l">
              <a:spcAft>
                <a:spcPts val="600"/>
              </a:spcAft>
            </a:pPr>
            <a:r>
              <a:rPr sz="1400" b="1" i="0">
                <a:solidFill>
                  <a:srgbClr val="1F2433"/>
                </a:solidFill>
              </a:rPr>
              <a:t>You see: </a:t>
            </a:r>
            <a:r>
              <a:rPr sz="1400" b="0" i="0">
                <a:solidFill>
                  <a:srgbClr val="1F2433"/>
                </a:solidFill>
              </a:rPr>
              <a:t>goes past the target, then comes back</a:t>
            </a:r>
          </a:p>
          <a:p>
            <a:pPr algn="l"/>
            <a:r>
              <a:rPr sz="1400" b="1" i="0">
                <a:solidFill>
                  <a:srgbClr val="1F2433"/>
                </a:solidFill>
              </a:rPr>
              <a:t>Likely cause: </a:t>
            </a:r>
            <a:r>
              <a:rPr sz="1400" b="0" i="0">
                <a:solidFill>
                  <a:srgbClr val="1F2433"/>
                </a:solidFill>
              </a:rPr>
              <a:t>action scale too large, or less damping on the real servos</a:t>
            </a:r>
          </a:p>
        </p:txBody>
      </p:sp>
      <p:sp>
        <p:nvSpPr>
          <p:cNvPr id="8" name="Rounded Rectangle 7"/>
          <p:cNvSpPr/>
          <p:nvPr/>
        </p:nvSpPr>
        <p:spPr>
          <a:xfrm>
            <a:off x="4297679" y="1554480"/>
            <a:ext cx="3566160" cy="2057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E30613"/>
                </a:solidFill>
              </a:rPr>
              <a:t>Oscillation</a:t>
            </a:r>
          </a:p>
          <a:p>
            <a:pPr algn="l">
              <a:spcAft>
                <a:spcPts val="600"/>
              </a:spcAft>
            </a:pPr>
            <a:r>
              <a:rPr sz="1400" b="1" i="0">
                <a:solidFill>
                  <a:srgbClr val="1F2433"/>
                </a:solidFill>
              </a:rPr>
              <a:t>You see: </a:t>
            </a:r>
            <a:r>
              <a:rPr sz="1400" b="0" i="0">
                <a:solidFill>
                  <a:srgbClr val="1F2433"/>
                </a:solidFill>
              </a:rPr>
              <a:t>wobbles around the target and never settles</a:t>
            </a:r>
          </a:p>
          <a:p>
            <a:pPr algn="l"/>
            <a:r>
              <a:rPr sz="1400" b="1" i="0">
                <a:solidFill>
                  <a:srgbClr val="1F2433"/>
                </a:solidFill>
              </a:rPr>
              <a:t>Likely cause: </a:t>
            </a:r>
            <a:r>
              <a:rPr sz="1400" b="0" i="0">
                <a:solidFill>
                  <a:srgbClr val="1F2433"/>
                </a:solidFill>
              </a:rPr>
              <a:t>more delay than in training, or no smoothness penalties</a:t>
            </a:r>
          </a:p>
        </p:txBody>
      </p:sp>
      <p:sp>
        <p:nvSpPr>
          <p:cNvPr id="9" name="Rounded Rectangle 8"/>
          <p:cNvSpPr/>
          <p:nvPr/>
        </p:nvSpPr>
        <p:spPr>
          <a:xfrm>
            <a:off x="8046719" y="1554480"/>
            <a:ext cx="3566160" cy="2057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E30613"/>
                </a:solidFill>
              </a:rPr>
              <a:t>Joint limit hit</a:t>
            </a:r>
          </a:p>
          <a:p>
            <a:pPr algn="l">
              <a:spcAft>
                <a:spcPts val="600"/>
              </a:spcAft>
            </a:pPr>
            <a:r>
              <a:rPr sz="1400" b="1" i="0">
                <a:solidFill>
                  <a:srgbClr val="1F2433"/>
                </a:solidFill>
              </a:rPr>
              <a:t>You see: </a:t>
            </a:r>
            <a:r>
              <a:rPr sz="1400" b="0" i="0">
                <a:solidFill>
                  <a:srgbClr val="1F2433"/>
                </a:solidFill>
              </a:rPr>
              <a:t>a joint drives to its end stop and stays</a:t>
            </a:r>
          </a:p>
          <a:p>
            <a:pPr algn="l"/>
            <a:r>
              <a:rPr sz="1400" b="1" i="0">
                <a:solidFill>
                  <a:srgbClr val="1F2433"/>
                </a:solidFill>
              </a:rPr>
              <a:t>Likely cause: </a:t>
            </a:r>
            <a:r>
              <a:rPr sz="1400" b="0" i="0">
                <a:solidFill>
                  <a:srgbClr val="1F2433"/>
                </a:solidFill>
              </a:rPr>
              <a:t>sign flip, unreachable target, or sim limits wider than real</a:t>
            </a:r>
          </a:p>
        </p:txBody>
      </p:sp>
      <p:sp>
        <p:nvSpPr>
          <p:cNvPr id="10" name="Rounded Rectangle 9"/>
          <p:cNvSpPr/>
          <p:nvPr/>
        </p:nvSpPr>
        <p:spPr>
          <a:xfrm>
            <a:off x="548640" y="3794760"/>
            <a:ext cx="3566160" cy="20574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E30613"/>
                </a:solidFill>
              </a:rPr>
              <a:t>Drift</a:t>
            </a:r>
          </a:p>
          <a:p>
            <a:pPr algn="l">
              <a:spcAft>
                <a:spcPts val="600"/>
              </a:spcAft>
            </a:pPr>
            <a:r>
              <a:rPr sz="1400" b="1" i="0">
                <a:solidFill>
                  <a:srgbClr val="1F2433"/>
                </a:solidFill>
              </a:rPr>
              <a:t>You see: </a:t>
            </a:r>
            <a:r>
              <a:rPr sz="1400" b="0" i="0">
                <a:solidFill>
                  <a:srgbClr val="1F2433"/>
                </a:solidFill>
              </a:rPr>
              <a:t>results creep further off as the session goes on</a:t>
            </a:r>
          </a:p>
          <a:p>
            <a:pPr algn="l"/>
            <a:r>
              <a:rPr sz="1400" b="1" i="0">
                <a:solidFill>
                  <a:srgbClr val="1F2433"/>
                </a:solidFill>
              </a:rPr>
              <a:t>Likely cause: </a:t>
            </a:r>
            <a:r>
              <a:rPr sz="1400" b="0" i="0">
                <a:solidFill>
                  <a:srgbClr val="1F2433"/>
                </a:solidFill>
              </a:rPr>
              <a:t>servos warming, sagging under load, or calibration slipping</a:t>
            </a:r>
          </a:p>
        </p:txBody>
      </p:sp>
      <p:sp>
        <p:nvSpPr>
          <p:cNvPr id="11" name="Rounded Rectangle 10"/>
          <p:cNvSpPr/>
          <p:nvPr/>
        </p:nvSpPr>
        <p:spPr>
          <a:xfrm>
            <a:off x="4297679" y="3794760"/>
            <a:ext cx="3566160" cy="2057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E30613"/>
                </a:solidFill>
              </a:rPr>
              <a:t>Transfer failure</a:t>
            </a:r>
          </a:p>
          <a:p>
            <a:pPr algn="l">
              <a:spcAft>
                <a:spcPts val="600"/>
              </a:spcAft>
            </a:pPr>
            <a:r>
              <a:rPr sz="1400" b="1" i="0">
                <a:solidFill>
                  <a:srgbClr val="1F2433"/>
                </a:solidFill>
              </a:rPr>
              <a:t>You see: </a:t>
            </a:r>
            <a:r>
              <a:rPr sz="1400" b="0" i="0">
                <a:solidFill>
                  <a:srgbClr val="1F2433"/>
                </a:solidFill>
              </a:rPr>
              <a:t>looks nothing like the simulation video</a:t>
            </a:r>
          </a:p>
          <a:p>
            <a:pPr algn="l"/>
            <a:r>
              <a:rPr sz="1400" b="1" i="0">
                <a:solidFill>
                  <a:srgbClr val="1F2433"/>
                </a:solidFill>
              </a:rPr>
              <a:t>Likely cause: </a:t>
            </a:r>
            <a:r>
              <a:rPr sz="1400" b="0" i="0">
                <a:solidFill>
                  <a:srgbClr val="1F2433"/>
                </a:solidFill>
              </a:rPr>
              <a:t>a contract mismatch: units, order, scaling or rate</a:t>
            </a:r>
          </a:p>
        </p:txBody>
      </p:sp>
      <p:sp>
        <p:nvSpPr>
          <p:cNvPr id="12" name="Rounded Rectangle 11"/>
          <p:cNvSpPr/>
          <p:nvPr/>
        </p:nvSpPr>
        <p:spPr>
          <a:xfrm>
            <a:off x="8046720" y="3794760"/>
            <a:ext cx="3566160" cy="2057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bIns="164592"/>
          <a:lstStyle/>
          <a:p>
            <a:pPr algn="l">
              <a:spcAft>
                <a:spcPts val="600"/>
              </a:spcAft>
            </a:pPr>
            <a:r>
              <a:rPr sz="1700" b="1" i="0">
                <a:solidFill>
                  <a:srgbClr val="FFFFFF"/>
                </a:solidFill>
              </a:rPr>
              <a:t>Log every failure</a:t>
            </a:r>
          </a:p>
          <a:p>
            <a:pPr algn="l"/>
            <a:r>
              <a:rPr sz="1400" b="0" i="0">
                <a:solidFill>
                  <a:srgbClr val="FFFFFF"/>
                </a:solidFill>
              </a:rPr>
              <a:t>target  ·  category  ·  video timestamp  ·  likely cause  ·  what you will check next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Diagnose the clip</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27</a:t>
            </a:fld>
            <a:endParaRPr lang="en-SG"/>
          </a:p>
        </p:txBody>
      </p:sp>
      <p:sp>
        <p:nvSpPr>
          <p:cNvPr id="7" name="Rounded Rectangle 6"/>
          <p:cNvSpPr/>
          <p:nvPr/>
        </p:nvSpPr>
        <p:spPr>
          <a:xfrm>
            <a:off x="548640" y="1554480"/>
            <a:ext cx="3566160" cy="3840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ounded Rectangle 7"/>
          <p:cNvSpPr/>
          <p:nvPr/>
        </p:nvSpPr>
        <p:spPr>
          <a:xfrm>
            <a:off x="731520" y="1719072"/>
            <a:ext cx="1188720" cy="4114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i="0">
                <a:solidFill>
                  <a:srgbClr val="FFFFFF"/>
                </a:solidFill>
              </a:rPr>
              <a:t>Clip A</a:t>
            </a:r>
          </a:p>
        </p:txBody>
      </p:sp>
      <p:sp>
        <p:nvSpPr>
          <p:cNvPr id="9" name="Rounded Rectangle 8"/>
          <p:cNvSpPr/>
          <p:nvPr/>
        </p:nvSpPr>
        <p:spPr>
          <a:xfrm>
            <a:off x="731520" y="2286000"/>
            <a:ext cx="3200400" cy="114300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VIDEO (optional)</a:t>
            </a:r>
          </a:p>
          <a:p>
            <a:pPr algn="ctr"/>
            <a:r>
              <a:rPr sz="1200" b="0" i="0">
                <a:solidFill>
                  <a:srgbClr val="5B6275"/>
                </a:solidFill>
              </a:rPr>
              <a:t>record on the real arm beforehand</a:t>
            </a:r>
          </a:p>
        </p:txBody>
      </p:sp>
      <p:sp>
        <p:nvSpPr>
          <p:cNvPr id="10" name="TextBox 9"/>
          <p:cNvSpPr txBox="1"/>
          <p:nvPr/>
        </p:nvSpPr>
        <p:spPr>
          <a:xfrm>
            <a:off x="731520" y="3611880"/>
            <a:ext cx="3200400" cy="1097280"/>
          </a:xfrm>
          <a:prstGeom prst="rect">
            <a:avLst/>
          </a:prstGeom>
          <a:noFill/>
        </p:spPr>
        <p:txBody>
          <a:bodyPr wrap="square" lIns="0" rIns="0" tIns="0" bIns="0" anchor="t">
            <a:spAutoFit/>
          </a:bodyPr>
          <a:lstStyle/>
          <a:p>
            <a:pPr algn="l"/>
            <a:r>
              <a:rPr sz="1500" b="0" i="0">
                <a:solidFill>
                  <a:srgbClr val="1F2433"/>
                </a:solidFill>
              </a:rPr>
              <a:t>The arm gets within 1 cm, then wobbles back and forth around the target until the episode ends.</a:t>
            </a:r>
          </a:p>
        </p:txBody>
      </p:sp>
      <p:sp>
        <p:nvSpPr>
          <p:cNvPr id="11" name="TextBox 10"/>
          <p:cNvSpPr txBox="1"/>
          <p:nvPr/>
        </p:nvSpPr>
        <p:spPr>
          <a:xfrm>
            <a:off x="731520" y="4800600"/>
            <a:ext cx="3200400" cy="457200"/>
          </a:xfrm>
          <a:prstGeom prst="rect">
            <a:avLst/>
          </a:prstGeom>
          <a:noFill/>
        </p:spPr>
        <p:txBody>
          <a:bodyPr wrap="square" lIns="0" rIns="0" tIns="0" bIns="0" anchor="t">
            <a:spAutoFit/>
          </a:bodyPr>
          <a:lstStyle/>
          <a:p>
            <a:pPr algn="l"/>
            <a:r>
              <a:rPr sz="1500" b="1" i="0">
                <a:solidFill>
                  <a:srgbClr val="E30613"/>
                </a:solidFill>
              </a:rPr>
              <a:t>Category?  Likely cause?</a:t>
            </a:r>
          </a:p>
        </p:txBody>
      </p:sp>
      <p:sp>
        <p:nvSpPr>
          <p:cNvPr id="12" name="Rounded Rectangle 11"/>
          <p:cNvSpPr/>
          <p:nvPr/>
        </p:nvSpPr>
        <p:spPr>
          <a:xfrm>
            <a:off x="4297679" y="1554480"/>
            <a:ext cx="3566160" cy="3840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3" name="Rounded Rectangle 12"/>
          <p:cNvSpPr/>
          <p:nvPr/>
        </p:nvSpPr>
        <p:spPr>
          <a:xfrm>
            <a:off x="4480559" y="1719072"/>
            <a:ext cx="1188720" cy="4114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i="0">
                <a:solidFill>
                  <a:srgbClr val="FFFFFF"/>
                </a:solidFill>
              </a:rPr>
              <a:t>Clip B</a:t>
            </a:r>
          </a:p>
        </p:txBody>
      </p:sp>
      <p:sp>
        <p:nvSpPr>
          <p:cNvPr id="14" name="Rounded Rectangle 13"/>
          <p:cNvSpPr/>
          <p:nvPr/>
        </p:nvSpPr>
        <p:spPr>
          <a:xfrm>
            <a:off x="4480559" y="2286000"/>
            <a:ext cx="3200400" cy="114300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VIDEO (optional)</a:t>
            </a:r>
          </a:p>
          <a:p>
            <a:pPr algn="ctr"/>
            <a:r>
              <a:rPr sz="1200" b="0" i="0">
                <a:solidFill>
                  <a:srgbClr val="5B6275"/>
                </a:solidFill>
              </a:rPr>
              <a:t>record on the real arm beforehand</a:t>
            </a:r>
          </a:p>
        </p:txBody>
      </p:sp>
      <p:sp>
        <p:nvSpPr>
          <p:cNvPr id="15" name="TextBox 14"/>
          <p:cNvSpPr txBox="1"/>
          <p:nvPr/>
        </p:nvSpPr>
        <p:spPr>
          <a:xfrm>
            <a:off x="4480559" y="3611880"/>
            <a:ext cx="3200400" cy="1097280"/>
          </a:xfrm>
          <a:prstGeom prst="rect">
            <a:avLst/>
          </a:prstGeom>
          <a:noFill/>
        </p:spPr>
        <p:txBody>
          <a:bodyPr wrap="square" lIns="0" rIns="0" tIns="0" bIns="0" anchor="t">
            <a:spAutoFit/>
          </a:bodyPr>
          <a:lstStyle/>
          <a:p>
            <a:pPr algn="l"/>
            <a:r>
              <a:rPr sz="1500" b="0" i="0">
                <a:solidFill>
                  <a:srgbClr val="1F2433"/>
                </a:solidFill>
              </a:rPr>
              <a:t>Every target is reached, but over 40 minutes the gripper finishes a little lower on each run.</a:t>
            </a:r>
          </a:p>
        </p:txBody>
      </p:sp>
      <p:sp>
        <p:nvSpPr>
          <p:cNvPr id="16" name="TextBox 15"/>
          <p:cNvSpPr txBox="1"/>
          <p:nvPr/>
        </p:nvSpPr>
        <p:spPr>
          <a:xfrm>
            <a:off x="4480559" y="4800600"/>
            <a:ext cx="3200400" cy="457200"/>
          </a:xfrm>
          <a:prstGeom prst="rect">
            <a:avLst/>
          </a:prstGeom>
          <a:noFill/>
        </p:spPr>
        <p:txBody>
          <a:bodyPr wrap="square" lIns="0" rIns="0" tIns="0" bIns="0" anchor="t">
            <a:spAutoFit/>
          </a:bodyPr>
          <a:lstStyle/>
          <a:p>
            <a:pPr algn="l"/>
            <a:r>
              <a:rPr sz="1500" b="1" i="0">
                <a:solidFill>
                  <a:srgbClr val="E30613"/>
                </a:solidFill>
              </a:rPr>
              <a:t>Category?  Likely cause?</a:t>
            </a:r>
          </a:p>
        </p:txBody>
      </p:sp>
      <p:sp>
        <p:nvSpPr>
          <p:cNvPr id="17" name="Rounded Rectangle 16"/>
          <p:cNvSpPr/>
          <p:nvPr/>
        </p:nvSpPr>
        <p:spPr>
          <a:xfrm>
            <a:off x="8046719" y="1554480"/>
            <a:ext cx="3566160" cy="38404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8" name="Rounded Rectangle 17"/>
          <p:cNvSpPr/>
          <p:nvPr/>
        </p:nvSpPr>
        <p:spPr>
          <a:xfrm>
            <a:off x="8229599" y="1719072"/>
            <a:ext cx="1188720" cy="4114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i="0">
                <a:solidFill>
                  <a:srgbClr val="FFFFFF"/>
                </a:solidFill>
              </a:rPr>
              <a:t>Clip C</a:t>
            </a:r>
          </a:p>
        </p:txBody>
      </p:sp>
      <p:sp>
        <p:nvSpPr>
          <p:cNvPr id="19" name="Rounded Rectangle 18"/>
          <p:cNvSpPr/>
          <p:nvPr/>
        </p:nvSpPr>
        <p:spPr>
          <a:xfrm>
            <a:off x="8229599" y="2286000"/>
            <a:ext cx="3200400" cy="114300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VIDEO (optional)</a:t>
            </a:r>
          </a:p>
          <a:p>
            <a:pPr algn="ctr"/>
            <a:r>
              <a:rPr sz="1200" b="0" i="0">
                <a:solidFill>
                  <a:srgbClr val="5B6275"/>
                </a:solidFill>
              </a:rPr>
              <a:t>record on the real arm beforehand</a:t>
            </a:r>
          </a:p>
        </p:txBody>
      </p:sp>
      <p:sp>
        <p:nvSpPr>
          <p:cNvPr id="20" name="TextBox 19"/>
          <p:cNvSpPr txBox="1"/>
          <p:nvPr/>
        </p:nvSpPr>
        <p:spPr>
          <a:xfrm>
            <a:off x="8229599" y="3611880"/>
            <a:ext cx="3200400" cy="1097280"/>
          </a:xfrm>
          <a:prstGeom prst="rect">
            <a:avLst/>
          </a:prstGeom>
          <a:noFill/>
        </p:spPr>
        <p:txBody>
          <a:bodyPr wrap="square" lIns="0" rIns="0" tIns="0" bIns="0" anchor="t">
            <a:spAutoFit/>
          </a:bodyPr>
          <a:lstStyle/>
          <a:p>
            <a:pPr algn="l"/>
            <a:r>
              <a:rPr sz="1500" b="0" i="0">
                <a:solidFill>
                  <a:srgbClr val="1F2433"/>
                </a:solidFill>
              </a:rPr>
              <a:t>On the very first command, the base swings the wrong way and stops hard against its limit.</a:t>
            </a:r>
          </a:p>
        </p:txBody>
      </p:sp>
      <p:sp>
        <p:nvSpPr>
          <p:cNvPr id="21" name="TextBox 20"/>
          <p:cNvSpPr txBox="1"/>
          <p:nvPr/>
        </p:nvSpPr>
        <p:spPr>
          <a:xfrm>
            <a:off x="8229599" y="4800600"/>
            <a:ext cx="3200400" cy="457200"/>
          </a:xfrm>
          <a:prstGeom prst="rect">
            <a:avLst/>
          </a:prstGeom>
          <a:noFill/>
        </p:spPr>
        <p:txBody>
          <a:bodyPr wrap="square" lIns="0" rIns="0" tIns="0" bIns="0" anchor="t">
            <a:spAutoFit/>
          </a:bodyPr>
          <a:lstStyle/>
          <a:p>
            <a:pPr algn="l"/>
            <a:r>
              <a:rPr sz="1500" b="1" i="0">
                <a:solidFill>
                  <a:srgbClr val="E30613"/>
                </a:solidFill>
              </a:rPr>
              <a:t>Category?  Likely cause?</a:t>
            </a:r>
          </a:p>
        </p:txBody>
      </p:sp>
      <p:sp>
        <p:nvSpPr>
          <p:cNvPr id="22" name="TextBox 21"/>
          <p:cNvSpPr txBox="1"/>
          <p:nvPr/>
        </p:nvSpPr>
        <p:spPr>
          <a:xfrm>
            <a:off x="548640" y="5623560"/>
            <a:ext cx="11064240" cy="365760"/>
          </a:xfrm>
          <a:prstGeom prst="rect">
            <a:avLst/>
          </a:prstGeom>
          <a:noFill/>
        </p:spPr>
        <p:txBody>
          <a:bodyPr wrap="square" lIns="0" rIns="0" tIns="0" bIns="0" anchor="t">
            <a:spAutoFit/>
          </a:bodyPr>
          <a:lstStyle/>
          <a:p>
            <a:pPr algn="l"/>
            <a:r>
              <a:rPr sz="1400" b="0" i="1">
                <a:solidFill>
                  <a:srgbClr val="5B6275"/>
                </a:solidFill>
              </a:rPr>
              <a:t>Pairs, 4 minutes. Vote on the category, then argue for the cause.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contract check</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28</a:t>
            </a:fld>
            <a:endParaRPr lang="en-SG"/>
          </a:p>
        </p:txBody>
      </p:sp>
      <p:sp>
        <p:nvSpPr>
          <p:cNvPr id="7" name="Rounded Rectangle 6"/>
          <p:cNvSpPr/>
          <p:nvPr/>
        </p:nvSpPr>
        <p:spPr>
          <a:xfrm>
            <a:off x="548640" y="1508760"/>
            <a:ext cx="5440680" cy="5029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Trained with (env config)</a:t>
            </a:r>
          </a:p>
        </p:txBody>
      </p:sp>
      <p:sp>
        <p:nvSpPr>
          <p:cNvPr id="8" name="Rounded Rectangle 7"/>
          <p:cNvSpPr/>
          <p:nvPr/>
        </p:nvSpPr>
        <p:spPr>
          <a:xfrm>
            <a:off x="6172200" y="1508760"/>
            <a:ext cx="5440680" cy="50292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What the bridge does: find 3 bugs</a:t>
            </a:r>
          </a:p>
        </p:txBody>
      </p:sp>
      <p:sp>
        <p:nvSpPr>
          <p:cNvPr id="9" name="Rounded Rectangle 8"/>
          <p:cNvSpPr/>
          <p:nvPr/>
        </p:nvSpPr>
        <p:spPr>
          <a:xfrm>
            <a:off x="548640" y="2057400"/>
            <a:ext cx="5440680" cy="33375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700"/>
              </a:spcAft>
            </a:pPr>
            <a:r>
              <a:rPr sz="1400" b="1" i="0">
                <a:solidFill>
                  <a:srgbClr val="164194"/>
                </a:solidFill>
              </a:rPr>
              <a:t>Rate  </a:t>
            </a:r>
            <a:r>
              <a:rPr sz="1400" b="0" i="0">
                <a:solidFill>
                  <a:srgbClr val="1F2433"/>
                </a:solidFill>
              </a:rPr>
              <a:t>30 Hz</a:t>
            </a:r>
          </a:p>
          <a:p>
            <a:pPr algn="l">
              <a:spcAft>
                <a:spcPts val="700"/>
              </a:spcAft>
            </a:pPr>
            <a:r>
              <a:rPr sz="1400" b="1" i="0">
                <a:solidFill>
                  <a:srgbClr val="164194"/>
                </a:solidFill>
              </a:rPr>
              <a:t>Joint order  </a:t>
            </a:r>
            <a:r>
              <a:rPr sz="1400" b="0" i="0">
                <a:solidFill>
                  <a:srgbClr val="1F2433"/>
                </a:solidFill>
              </a:rPr>
              <a:t>shoulder_pan, shoulder_lift, elbow_flex, wrist_flex, wrist_roll, gripper</a:t>
            </a:r>
          </a:p>
          <a:p>
            <a:pPr algn="l">
              <a:spcAft>
                <a:spcPts val="700"/>
              </a:spcAft>
            </a:pPr>
            <a:r>
              <a:rPr sz="1400" b="1" i="0">
                <a:solidFill>
                  <a:srgbClr val="164194"/>
                </a:solidFill>
              </a:rPr>
              <a:t>Observation  </a:t>
            </a:r>
            <a:r>
              <a:rPr sz="1400" b="0" i="0">
                <a:solidFill>
                  <a:srgbClr val="1F2433"/>
                </a:solidFill>
              </a:rPr>
              <a:t>joint positions relative to default, rad (6) · joint velocities, rad/s (6) · target pose, m + quaternion (7) · last action (6)</a:t>
            </a:r>
          </a:p>
          <a:p>
            <a:pPr algn="l">
              <a:spcAft>
                <a:spcPts val="700"/>
              </a:spcAft>
            </a:pPr>
            <a:r>
              <a:rPr sz="1400" b="1" i="0">
                <a:solidFill>
                  <a:srgbClr val="164194"/>
                </a:solidFill>
              </a:rPr>
              <a:t>Total  </a:t>
            </a:r>
            <a:r>
              <a:rPr sz="1400" b="0" i="0">
                <a:solidFill>
                  <a:srgbClr val="1F2433"/>
                </a:solidFill>
              </a:rPr>
              <a:t>25 numbers</a:t>
            </a:r>
          </a:p>
          <a:p>
            <a:pPr algn="l">
              <a:spcAft>
                <a:spcPts val="700"/>
              </a:spcAft>
            </a:pPr>
            <a:r>
              <a:rPr sz="1400" b="1" i="0">
                <a:solidFill>
                  <a:srgbClr val="164194"/>
                </a:solidFill>
              </a:rPr>
              <a:t>Action  </a:t>
            </a:r>
            <a:r>
              <a:rPr sz="1400" b="0" i="0">
                <a:solidFill>
                  <a:srgbClr val="1F2433"/>
                </a:solidFill>
              </a:rPr>
              <a:t>target = default + 0.5 × action, in rad</a:t>
            </a:r>
          </a:p>
        </p:txBody>
      </p:sp>
      <p:sp>
        <p:nvSpPr>
          <p:cNvPr id="10" name="Rounded Rectangle 9"/>
          <p:cNvSpPr/>
          <p:nvPr/>
        </p:nvSpPr>
        <p:spPr>
          <a:xfrm>
            <a:off x="6172200" y="2057400"/>
            <a:ext cx="5440680" cy="33375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l">
              <a:spcAft>
                <a:spcPts val="700"/>
              </a:spcAft>
            </a:pPr>
            <a:r>
              <a:rPr sz="1400" b="1" i="0">
                <a:solidFill>
                  <a:srgbClr val="164194"/>
                </a:solidFill>
              </a:rPr>
              <a:t>Rate  </a:t>
            </a:r>
            <a:r>
              <a:rPr sz="1400" b="0" i="0">
                <a:solidFill>
                  <a:srgbClr val="1F2433"/>
                </a:solidFill>
              </a:rPr>
              <a:t>30 Hz</a:t>
            </a:r>
          </a:p>
          <a:p>
            <a:pPr algn="l">
              <a:spcAft>
                <a:spcPts val="700"/>
              </a:spcAft>
            </a:pPr>
            <a:r>
              <a:rPr sz="1400" b="1" i="0">
                <a:solidFill>
                  <a:srgbClr val="164194"/>
                </a:solidFill>
              </a:rPr>
              <a:t>Joint order  </a:t>
            </a:r>
            <a:r>
              <a:rPr sz="1400" b="0" i="0">
                <a:solidFill>
                  <a:srgbClr val="1F2433"/>
                </a:solidFill>
              </a:rPr>
              <a:t>shoulder_pan, shoulder_lift, elbow_flex, wrist_roll, wrist_flex, gripper</a:t>
            </a:r>
          </a:p>
          <a:p>
            <a:pPr algn="l">
              <a:spcAft>
                <a:spcPts val="700"/>
              </a:spcAft>
            </a:pPr>
            <a:r>
              <a:rPr sz="1400" b="1" i="0">
                <a:solidFill>
                  <a:srgbClr val="164194"/>
                </a:solidFill>
              </a:rPr>
              <a:t>Observation  </a:t>
            </a:r>
            <a:r>
              <a:rPr sz="1400" b="0" i="0">
                <a:solidFill>
                  <a:srgbClr val="1F2433"/>
                </a:solidFill>
              </a:rPr>
              <a:t>joint positions relative to default, deg (6) · joint velocities, rad/s (6) · target pose, m + quaternion (7)</a:t>
            </a:r>
          </a:p>
          <a:p>
            <a:pPr algn="l">
              <a:spcAft>
                <a:spcPts val="700"/>
              </a:spcAft>
            </a:pPr>
            <a:r>
              <a:rPr sz="1400" b="1" i="0">
                <a:solidFill>
                  <a:srgbClr val="164194"/>
                </a:solidFill>
              </a:rPr>
              <a:t>Total  </a:t>
            </a:r>
            <a:r>
              <a:rPr sz="1400" b="0" i="0">
                <a:solidFill>
                  <a:srgbClr val="1F2433"/>
                </a:solidFill>
              </a:rPr>
              <a:t>19 numbers</a:t>
            </a:r>
          </a:p>
          <a:p>
            <a:pPr algn="l">
              <a:spcAft>
                <a:spcPts val="700"/>
              </a:spcAft>
            </a:pPr>
            <a:r>
              <a:rPr sz="1400" b="1" i="0">
                <a:solidFill>
                  <a:srgbClr val="164194"/>
                </a:solidFill>
              </a:rPr>
              <a:t>Action  </a:t>
            </a:r>
            <a:r>
              <a:rPr sz="1400" b="0" i="0">
                <a:solidFill>
                  <a:srgbClr val="1F2433"/>
                </a:solidFill>
              </a:rPr>
              <a:t>target = default + 0.5 × action, in rad → degrees → clamp ±5° per step</a:t>
            </a:r>
          </a:p>
        </p:txBody>
      </p:sp>
      <p:sp>
        <p:nvSpPr>
          <p:cNvPr id="11" name="Rounded Rectangle 10"/>
          <p:cNvSpPr/>
          <p:nvPr/>
        </p:nvSpPr>
        <p:spPr>
          <a:xfrm>
            <a:off x="548640" y="5577840"/>
            <a:ext cx="1106424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Pairs, 8 minutes: circle each bug, then predict what the arm would do because of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 to your prediction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29</a:t>
            </a:fld>
            <a:endParaRPr lang="en-SG"/>
          </a:p>
        </p:txBody>
      </p:sp>
      <p:sp>
        <p:nvSpPr>
          <p:cNvPr id="7" name="Rounded Rectangle 6"/>
          <p:cNvSpPr/>
          <p:nvPr/>
        </p:nvSpPr>
        <p:spPr>
          <a:xfrm>
            <a:off x="548640" y="1554480"/>
            <a:ext cx="731520" cy="7772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A</a:t>
            </a:r>
          </a:p>
        </p:txBody>
      </p:sp>
      <p:sp>
        <p:nvSpPr>
          <p:cNvPr id="8" name="Rounded Rectangle 7"/>
          <p:cNvSpPr/>
          <p:nvPr/>
        </p:nvSpPr>
        <p:spPr>
          <a:xfrm>
            <a:off x="1417320" y="1554480"/>
            <a:ext cx="329184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0F6E6A"/>
                </a:solidFill>
              </a:rPr>
              <a:t>Same as simulation</a:t>
            </a:r>
          </a:p>
        </p:txBody>
      </p:sp>
      <p:sp>
        <p:nvSpPr>
          <p:cNvPr id="9" name="Rounded Rectangle 8"/>
          <p:cNvSpPr/>
          <p:nvPr/>
        </p:nvSpPr>
        <p:spPr>
          <a:xfrm>
            <a:off x="4846320" y="1554480"/>
            <a:ext cx="67665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Unlikely: it would mean there is no reality gap at all.</a:t>
            </a:r>
          </a:p>
        </p:txBody>
      </p:sp>
      <p:sp>
        <p:nvSpPr>
          <p:cNvPr id="10" name="Rounded Rectangle 9"/>
          <p:cNvSpPr/>
          <p:nvPr/>
        </p:nvSpPr>
        <p:spPr>
          <a:xfrm>
            <a:off x="548640" y="2468880"/>
            <a:ext cx="731520" cy="7772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B</a:t>
            </a:r>
          </a:p>
        </p:txBody>
      </p:sp>
      <p:sp>
        <p:nvSpPr>
          <p:cNvPr id="11" name="Rounded Rectangle 10"/>
          <p:cNvSpPr/>
          <p:nvPr/>
        </p:nvSpPr>
        <p:spPr>
          <a:xfrm>
            <a:off x="1417320" y="2468880"/>
            <a:ext cx="329184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0F6E6A"/>
                </a:solidFill>
              </a:rPr>
              <a:t>Reaches, less accurately</a:t>
            </a:r>
          </a:p>
        </p:txBody>
      </p:sp>
      <p:sp>
        <p:nvSpPr>
          <p:cNvPr id="12" name="Rounded Rectangle 11"/>
          <p:cNvSpPr/>
          <p:nvPr/>
        </p:nvSpPr>
        <p:spPr>
          <a:xfrm>
            <a:off x="4846320" y="2468880"/>
            <a:ext cx="67665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The expected result with a correct bridge. That error is the reality gap; randomisation shrinks it.</a:t>
            </a:r>
          </a:p>
        </p:txBody>
      </p:sp>
      <p:sp>
        <p:nvSpPr>
          <p:cNvPr id="13" name="Rounded Rectangle 12"/>
          <p:cNvSpPr/>
          <p:nvPr/>
        </p:nvSpPr>
        <p:spPr>
          <a:xfrm>
            <a:off x="548640" y="3383280"/>
            <a:ext cx="731520" cy="7772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C</a:t>
            </a:r>
          </a:p>
        </p:txBody>
      </p:sp>
      <p:sp>
        <p:nvSpPr>
          <p:cNvPr id="14" name="Rounded Rectangle 13"/>
          <p:cNvSpPr/>
          <p:nvPr/>
        </p:nvSpPr>
        <p:spPr>
          <a:xfrm>
            <a:off x="1417320" y="3383280"/>
            <a:ext cx="329184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Moves wildly or hits a limit</a:t>
            </a:r>
          </a:p>
        </p:txBody>
      </p:sp>
      <p:sp>
        <p:nvSpPr>
          <p:cNvPr id="15" name="Rounded Rectangle 14"/>
          <p:cNvSpPr/>
          <p:nvPr/>
        </p:nvSpPr>
        <p:spPr>
          <a:xfrm>
            <a:off x="4846320" y="3383280"/>
            <a:ext cx="67665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A contract mismatch: units, sign or joint order. The safety envelope stops it doing harm.</a:t>
            </a:r>
          </a:p>
        </p:txBody>
      </p:sp>
      <p:sp>
        <p:nvSpPr>
          <p:cNvPr id="16" name="Rounded Rectangle 15"/>
          <p:cNvSpPr/>
          <p:nvPr/>
        </p:nvSpPr>
        <p:spPr>
          <a:xfrm>
            <a:off x="548640" y="4297680"/>
            <a:ext cx="731520" cy="7772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200" b="1" i="0">
                <a:solidFill>
                  <a:srgbClr val="FFFFFF"/>
                </a:solidFill>
              </a:rPr>
              <a:t>D</a:t>
            </a:r>
          </a:p>
        </p:txBody>
      </p:sp>
      <p:sp>
        <p:nvSpPr>
          <p:cNvPr id="17" name="Rounded Rectangle 16"/>
          <p:cNvSpPr/>
          <p:nvPr/>
        </p:nvSpPr>
        <p:spPr>
          <a:xfrm>
            <a:off x="1417320" y="4297680"/>
            <a:ext cx="329184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Barely moves</a:t>
            </a:r>
          </a:p>
        </p:txBody>
      </p:sp>
      <p:sp>
        <p:nvSpPr>
          <p:cNvPr id="18" name="Rounded Rectangle 17"/>
          <p:cNvSpPr/>
          <p:nvPr/>
        </p:nvSpPr>
        <p:spPr>
          <a:xfrm>
            <a:off x="4846320" y="4297680"/>
            <a:ext cx="67665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Scaling or clamping: the action is shrunk or cut off on its way to the servo.</a:t>
            </a:r>
          </a:p>
        </p:txBody>
      </p:sp>
      <p:sp>
        <p:nvSpPr>
          <p:cNvPr id="19" name="Rounded Rectangle 18"/>
          <p:cNvSpPr/>
          <p:nvPr/>
        </p:nvSpPr>
        <p:spPr>
          <a:xfrm>
            <a:off x="548640" y="5349240"/>
            <a:ext cx="11064240" cy="7315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l"/>
            <a:r>
              <a:rPr sz="1500" b="1" i="0">
                <a:solidFill>
                  <a:srgbClr val="FFFFFF"/>
                </a:solidFill>
              </a:rPr>
              <a:t>B is a physics problem: you shrink it with training. C and D are bookkeeping problems: fix them at your desk before you power the arm.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Exit ticket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30</a:t>
            </a:fld>
            <a:endParaRPr lang="en-SG"/>
          </a:p>
        </p:txBody>
      </p:sp>
      <p:sp>
        <p:nvSpPr>
          <p:cNvPr id="7" name="Rounded Rectangle 6"/>
          <p:cNvSpPr/>
          <p:nvPr/>
        </p:nvSpPr>
        <p:spPr>
          <a:xfrm>
            <a:off x="548640" y="160020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1</a:t>
            </a:r>
          </a:p>
        </p:txBody>
      </p:sp>
      <p:sp>
        <p:nvSpPr>
          <p:cNvPr id="8" name="Rounded Rectangle 7"/>
          <p:cNvSpPr/>
          <p:nvPr/>
        </p:nvSpPr>
        <p:spPr>
          <a:xfrm>
            <a:off x="1325880" y="160020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List four items of a deployment contract.</a:t>
            </a:r>
          </a:p>
        </p:txBody>
      </p:sp>
      <p:sp>
        <p:nvSpPr>
          <p:cNvPr id="9" name="Rounded Rectangle 8"/>
          <p:cNvSpPr/>
          <p:nvPr/>
        </p:nvSpPr>
        <p:spPr>
          <a:xfrm>
            <a:off x="548640" y="242316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2</a:t>
            </a:r>
          </a:p>
        </p:txBody>
      </p:sp>
      <p:sp>
        <p:nvSpPr>
          <p:cNvPr id="10" name="Rounded Rectangle 9"/>
          <p:cNvSpPr/>
          <p:nvPr/>
        </p:nvSpPr>
        <p:spPr>
          <a:xfrm>
            <a:off x="1325880" y="242316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Explain why a Reach policy can transfer to the real arm while a Lift policy cannot.</a:t>
            </a:r>
          </a:p>
        </p:txBody>
      </p:sp>
      <p:sp>
        <p:nvSpPr>
          <p:cNvPr id="11" name="Rounded Rectangle 10"/>
          <p:cNvSpPr/>
          <p:nvPr/>
        </p:nvSpPr>
        <p:spPr>
          <a:xfrm>
            <a:off x="548640" y="3246120"/>
            <a:ext cx="640080" cy="64008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000" b="1" i="0">
                <a:solidFill>
                  <a:srgbClr val="FFFFFF"/>
                </a:solidFill>
              </a:rPr>
              <a:t>3</a:t>
            </a:r>
          </a:p>
        </p:txBody>
      </p:sp>
      <p:sp>
        <p:nvSpPr>
          <p:cNvPr id="12" name="Rounded Rectangle 11"/>
          <p:cNvSpPr/>
          <p:nvPr/>
        </p:nvSpPr>
        <p:spPr>
          <a:xfrm>
            <a:off x="1325880" y="3246120"/>
            <a:ext cx="10287000" cy="6400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Name two failure modes, and give a likely cause for each.</a:t>
            </a:r>
          </a:p>
        </p:txBody>
      </p:sp>
      <p:sp>
        <p:nvSpPr>
          <p:cNvPr id="13" name="TextBox 12"/>
          <p:cNvSpPr txBox="1"/>
          <p:nvPr/>
        </p:nvSpPr>
        <p:spPr>
          <a:xfrm>
            <a:off x="548640" y="4160520"/>
            <a:ext cx="11064240" cy="365760"/>
          </a:xfrm>
          <a:prstGeom prst="rect">
            <a:avLst/>
          </a:prstGeom>
          <a:noFill/>
        </p:spPr>
        <p:txBody>
          <a:bodyPr wrap="square" lIns="0" rIns="0" tIns="0" bIns="0" anchor="t">
            <a:spAutoFit/>
          </a:bodyPr>
          <a:lstStyle/>
          <a:p>
            <a:pPr algn="l"/>
            <a:r>
              <a:rPr sz="1400" b="0" i="1">
                <a:solidFill>
                  <a:srgbClr val="5B6275"/>
                </a:solidFill>
              </a:rPr>
              <a:t>On your own, on paper, about 5 minutes.</a:t>
            </a:r>
          </a:p>
        </p:txBody>
      </p:sp>
      <p:sp>
        <p:nvSpPr>
          <p:cNvPr id="14" name="Rounded Rectangle 13"/>
          <p:cNvSpPr/>
          <p:nvPr/>
        </p:nvSpPr>
        <p:spPr>
          <a:xfrm>
            <a:off x="548640" y="4754880"/>
            <a:ext cx="11064240" cy="9144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Before Lab 8: </a:t>
            </a:r>
            <a:r>
              <a:rPr sz="1600" b="0" i="0">
                <a:solidFill>
                  <a:srgbClr val="1F2433"/>
                </a:solidFill>
              </a:rPr>
              <a:t>finish your unit-mapping table. The bridge cannot run without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week: L8 lab · run the Reach policy on the SO-101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31</a:t>
            </a:fld>
            <a:endParaRPr lang="en-SG"/>
          </a:p>
        </p:txBody>
      </p:sp>
      <p:sp>
        <p:nvSpPr>
          <p:cNvPr id="7" name="Rounded Rectangle 6"/>
          <p:cNvSpPr/>
          <p:nvPr/>
        </p:nvSpPr>
        <p:spPr>
          <a:xfrm>
            <a:off x="548640" y="1508760"/>
            <a:ext cx="544068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Sim station · export and sim-to-sim check</a:t>
            </a:r>
          </a:p>
        </p:txBody>
      </p:sp>
      <p:sp>
        <p:nvSpPr>
          <p:cNvPr id="8" name="Rounded Rectangle 7"/>
          <p:cNvSpPr/>
          <p:nvPr/>
        </p:nvSpPr>
        <p:spPr>
          <a:xfrm>
            <a:off x="548640" y="2057400"/>
            <a:ext cx="5440680" cy="26517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01168" bIns="201168"/>
          <a:lstStyle/>
          <a:p>
            <a:pPr algn="l">
              <a:spcAft>
                <a:spcPts val="800"/>
              </a:spcAft>
            </a:pPr>
            <a:r>
              <a:rPr sz="1500" b="0" i="0">
                <a:solidFill>
                  <a:srgbClr val="1F2433"/>
                </a:solidFill>
              </a:rPr>
              <a:t>Export both Lab 6 policies (randomised and not)</a:t>
            </a:r>
          </a:p>
          <a:p>
            <a:pPr algn="l">
              <a:spcAft>
                <a:spcPts val="800"/>
              </a:spcAft>
            </a:pPr>
            <a:r>
              <a:rPr sz="1500" b="0" i="0">
                <a:solidFill>
                  <a:srgbClr val="1F2433"/>
                </a:solidFill>
              </a:rPr>
              <a:t>Play each in a changed simulator: heavier joint noise, different actuator gains</a:t>
            </a:r>
          </a:p>
          <a:p>
            <a:pPr algn="l">
              <a:spcAft>
                <a:spcPts val="800"/>
              </a:spcAft>
            </a:pPr>
            <a:r>
              <a:rPr sz="1500" b="0" i="0">
                <a:solidFill>
                  <a:srgbClr val="1F2433"/>
                </a:solidFill>
              </a:rPr>
              <a:t>Record the mean final error over 20 targets</a:t>
            </a:r>
          </a:p>
          <a:p>
            <a:pPr algn="l"/>
            <a:r>
              <a:rPr sz="1500" b="0" i="0">
                <a:solidFill>
                  <a:srgbClr val="1F2433"/>
                </a:solidFill>
              </a:rPr>
              <a:t>Predict which will do better on the real arm, and why</a:t>
            </a:r>
          </a:p>
        </p:txBody>
      </p:sp>
      <p:sp>
        <p:nvSpPr>
          <p:cNvPr id="9" name="Rounded Rectangle 8"/>
          <p:cNvSpPr/>
          <p:nvPr/>
        </p:nvSpPr>
        <p:spPr>
          <a:xfrm>
            <a:off x="6172200" y="1508760"/>
            <a:ext cx="5440680" cy="5029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FFFFFF"/>
                </a:solidFill>
              </a:rPr>
              <a:t>Arm station · Reach on the real arm</a:t>
            </a:r>
          </a:p>
        </p:txBody>
      </p:sp>
      <p:sp>
        <p:nvSpPr>
          <p:cNvPr id="10" name="Rounded Rectangle 9"/>
          <p:cNvSpPr/>
          <p:nvPr/>
        </p:nvSpPr>
        <p:spPr>
          <a:xfrm>
            <a:off x="6172200" y="2057400"/>
            <a:ext cx="5440680" cy="265176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01168" bIns="201168"/>
          <a:lstStyle/>
          <a:p>
            <a:pPr algn="l">
              <a:spcAft>
                <a:spcPts val="800"/>
              </a:spcAft>
            </a:pPr>
            <a:r>
              <a:rPr sz="1500" b="0" i="0">
                <a:solidFill>
                  <a:srgbClr val="1F2433"/>
                </a:solidFill>
              </a:rPr>
              <a:t>Load each policy into the bridge with your unit table</a:t>
            </a:r>
          </a:p>
          <a:p>
            <a:pPr algn="l">
              <a:spcAft>
                <a:spcPts val="800"/>
              </a:spcAft>
            </a:pPr>
            <a:r>
              <a:rPr sz="1500" b="0" i="0">
                <a:solidFill>
                  <a:srgbClr val="1F2433"/>
                </a:solidFill>
              </a:rPr>
              <a:t>First run at reduced step size, instructor present</a:t>
            </a:r>
          </a:p>
          <a:p>
            <a:pPr algn="l">
              <a:spcAft>
                <a:spcPts val="800"/>
              </a:spcAft>
            </a:pPr>
            <a:r>
              <a:rPr sz="1500" b="0" i="0">
                <a:solidFill>
                  <a:srgbClr val="1F2433"/>
                </a:solidFill>
              </a:rPr>
              <a:t>Command 5 targets per policy and record the error</a:t>
            </a:r>
          </a:p>
          <a:p>
            <a:pPr algn="l"/>
            <a:r>
              <a:rPr sz="1500" b="0" i="0">
                <a:solidFill>
                  <a:srgbClr val="1F2433"/>
                </a:solidFill>
              </a:rPr>
              <a:t>Log every failure with its category from today</a:t>
            </a:r>
          </a:p>
        </p:txBody>
      </p:sp>
      <p:sp>
        <p:nvSpPr>
          <p:cNvPr id="11" name="Rounded Rectangle 10"/>
          <p:cNvSpPr/>
          <p:nvPr/>
        </p:nvSpPr>
        <p:spPr>
          <a:xfrm>
            <a:off x="548640" y="4937760"/>
            <a:ext cx="11064240" cy="10972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91440" bIns="91440"/>
          <a:lstStyle/>
          <a:p>
            <a:pPr algn="l"/>
            <a:r>
              <a:rPr sz="1500" b="1" i="0">
                <a:solidFill>
                  <a:srgbClr val="E30613"/>
                </a:solidFill>
              </a:rPr>
              <a:t>Bring: </a:t>
            </a:r>
            <a:r>
              <a:rPr sz="1500" b="0" i="0">
                <a:solidFill>
                  <a:srgbClr val="1F2433"/>
                </a:solidFill>
              </a:rPr>
              <a:t>your unit-mapping table, both checkpoints and your safety limits. Before anyone powers an arm, your pod states its unit table and limits to the instructor.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L7</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32</a:t>
            </a:fld>
            <a:endParaRPr lang="en-SG"/>
          </a:p>
        </p:txBody>
      </p:sp>
      <p:sp>
        <p:nvSpPr>
          <p:cNvPr id="7" name="TextBox 6"/>
          <p:cNvSpPr txBox="1"/>
          <p:nvPr/>
        </p:nvSpPr>
        <p:spPr>
          <a:xfrm>
            <a:off x="548640" y="1508760"/>
            <a:ext cx="11064240" cy="4572000"/>
          </a:xfrm>
          <a:prstGeom prst="rect">
            <a:avLst/>
          </a:prstGeom>
          <a:noFill/>
        </p:spPr>
        <p:txBody>
          <a:bodyPr wrap="square" lIns="0" rIns="0" tIns="0" bIns="0" anchor="t">
            <a:spAutoFit/>
          </a:bodyPr>
          <a:lstStyle/>
          <a:p>
            <a:pPr algn="l">
              <a:spcAft>
                <a:spcPts val="700"/>
              </a:spcAft>
            </a:pPr>
            <a:r>
              <a:rPr sz="1300" b="0" i="0">
                <a:solidFill>
                  <a:srgbClr val="1F2433"/>
                </a:solidFill>
              </a:rPr>
              <a:t>Tobin, J. et al. (2017). Domain randomization for transferring deep neural networks from simulation to the real world. https://arxiv.org/abs/1703.06907</a:t>
            </a:r>
          </a:p>
          <a:p>
            <a:pPr algn="l">
              <a:spcAft>
                <a:spcPts val="700"/>
              </a:spcAft>
            </a:pPr>
            <a:r>
              <a:rPr sz="1300" b="0" i="0">
                <a:solidFill>
                  <a:srgbClr val="1F2433"/>
                </a:solidFill>
              </a:rPr>
              <a:t>Peng, X. B. et al. (2018). Sim-to-real transfer of robotic control with dynamics randomization. https://arxiv.org/abs/1710.06537</a:t>
            </a:r>
          </a:p>
          <a:p>
            <a:pPr algn="l">
              <a:spcAft>
                <a:spcPts val="700"/>
              </a:spcAft>
            </a:pPr>
            <a:r>
              <a:rPr sz="1300" b="0" i="0">
                <a:solidFill>
                  <a:srgbClr val="1F2433"/>
                </a:solidFill>
              </a:rPr>
              <a:t>Tan, J. et al. (2018). Sim-to-real: learning agile locomotion for quadruped robots. https://arxiv.org/abs/1804.10332</a:t>
            </a:r>
          </a:p>
          <a:p>
            <a:pPr algn="l">
              <a:spcAft>
                <a:spcPts val="700"/>
              </a:spcAft>
            </a:pPr>
            <a:r>
              <a:rPr sz="1300" b="0" i="0">
                <a:solidFill>
                  <a:srgbClr val="1F2433"/>
                </a:solidFill>
              </a:rPr>
              <a:t>Luo, J., Xu, C., Wu, J. &amp; Levine, S. (2024). Precise and dexterous robotic manipulation via human-in-the-loop RL. https://arxiv.org/abs/2410.21845</a:t>
            </a:r>
          </a:p>
          <a:p>
            <a:pPr algn="l">
              <a:spcAft>
                <a:spcPts val="700"/>
              </a:spcAft>
            </a:pPr>
            <a:r>
              <a:rPr sz="1300" b="0" i="0">
                <a:solidFill>
                  <a:srgbClr val="1F2433"/>
                </a:solidFill>
              </a:rPr>
              <a:t>LeRobot documentation: HIL-SERL guide. https://huggingface.co/docs/lerobot/hilserl</a:t>
            </a:r>
          </a:p>
          <a:p>
            <a:pPr algn="l">
              <a:spcAft>
                <a:spcPts val="700"/>
              </a:spcAft>
            </a:pPr>
            <a:r>
              <a:rPr sz="1300" b="0" i="0">
                <a:solidFill>
                  <a:srgbClr val="1F2433"/>
                </a:solidFill>
              </a:rPr>
              <a:t>LeRobot documentation: SO-101. https://huggingface.co/docs/lerobot/so101</a:t>
            </a:r>
          </a:p>
          <a:p>
            <a:pPr algn="l">
              <a:spcAft>
                <a:spcPts val="700"/>
              </a:spcAft>
            </a:pPr>
            <a:r>
              <a:rPr sz="1300" b="0" i="0">
                <a:solidFill>
                  <a:srgbClr val="1F2433"/>
                </a:solidFill>
              </a:rPr>
              <a:t>Isaac Lab: RSL-RL policy exporter (TorchScript and ONNX). https://isaac-sim.github.io/IsaacLab/main/_modules/isaaclab_rl/rsl_rl/exporter.html</a:t>
            </a:r>
          </a:p>
          <a:p>
            <a:pPr algn="l">
              <a:spcAft>
                <a:spcPts val="700"/>
              </a:spcAft>
            </a:pPr>
            <a:r>
              <a:rPr sz="1300" b="0" i="0">
                <a:solidFill>
                  <a:srgbClr val="1F2433"/>
                </a:solidFill>
              </a:rPr>
              <a:t>isaac_so_arm101 (SO-ARM100/101 Isaac Lab tasks). https://github.com/MuammerBay/isaac_so_arm101</a:t>
            </a:r>
          </a:p>
          <a:p>
            <a:pPr algn="l">
              <a:spcAft>
                <a:spcPts val="700"/>
              </a:spcAft>
            </a:pPr>
            <a:r>
              <a:rPr sz="1300" b="0" i="0">
                <a:solidFill>
                  <a:srgbClr val="1F2433"/>
                </a:solidFill>
              </a:rPr>
              <a:t>NVIDIA: Train an SO-101 robot from sim-to-real with NVIDIA Isaac. https://docs.nvidia.com/learning/physical-ai/sim-to-real-so-101/latest/index.html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7148</TotalTime>
  <Words>356</Words>
  <Application>Microsoft Office PowerPoint</Application>
  <PresentationFormat>Widescreen</PresentationFormat>
  <Paragraphs>35</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Responsible AI?</vt:lpstr>
      <vt:lpstr>AI Ethics, AI Governance &amp; Responsible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Kheng Kok MAR (NYP)</cp:lastModifiedBy>
  <cp:revision>14</cp:revision>
  <dcterms:created xsi:type="dcterms:W3CDTF">2023-04-05T14:55:09Z</dcterms:created>
  <dcterms:modified xsi:type="dcterms:W3CDTF">2025-07-29T10:11:31Z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