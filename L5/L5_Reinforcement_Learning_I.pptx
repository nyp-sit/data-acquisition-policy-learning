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10"/>
  </p:notesMasterIdLst>
  <p:handoutMasterIdLst>
    <p:handoutMasterId r:id="rId11"/>
  </p:handoutMasterIdLst>
  <p:sldIdLst>
    <p:sldId id="419" r:id="rId5"/>
    <p:sldId id="420" r:id="rId18"/>
    <p:sldId id="421" r:id="rId19"/>
    <p:sldId id="422" r:id="rId20"/>
    <p:sldId id="423" r:id="rId21"/>
    <p:sldId id="424" r:id="rId22"/>
    <p:sldId id="425" r:id="rId23"/>
    <p:sldId id="426" r:id="rId24"/>
    <p:sldId id="427" r:id="rId25"/>
    <p:sldId id="428" r:id="rId26"/>
    <p:sldId id="429" r:id="rId27"/>
    <p:sldId id="430" r:id="rId28"/>
    <p:sldId id="431" r:id="rId29"/>
    <p:sldId id="432" r:id="rId30"/>
    <p:sldId id="433" r:id="rId31"/>
    <p:sldId id="434" r:id="rId32"/>
    <p:sldId id="435" r:id="rId33"/>
    <p:sldId id="436" r:id="rId34"/>
    <p:sldId id="437" r:id="rId35"/>
    <p:sldId id="438" r:id="rId36"/>
    <p:sldId id="439" r:id="rId37"/>
    <p:sldId id="440" r:id="rId38"/>
    <p:sldId id="441" r:id="rId39"/>
    <p:sldId id="442" r:id="rId40"/>
    <p:sldId id="443" r:id="rId41"/>
    <p:sldId id="444"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D7AA8-B633-43EA-B803-6478153F3BD7}" v="3" dt="2025-03-21T02:00:42.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62" autoAdjust="0"/>
    <p:restoredTop sz="77326" autoAdjust="0"/>
  </p:normalViewPr>
  <p:slideViewPr>
    <p:cSldViewPr snapToGrid="0">
      <p:cViewPr varScale="1">
        <p:scale>
          <a:sx n="94" d="100"/>
          <a:sy n="94" d="100"/>
        </p:scale>
        <p:origin x="105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ng Kok MAR (NYP)" userId="62030f1a-a95b-4c33-86e6-478100d64ee1" providerId="ADAL" clId="{58ED7AA8-B633-43EA-B803-6478153F3BD7}"/>
    <pc:docChg chg="undo custSel addSld delSld modSld">
      <pc:chgData name="Kheng Kok MAR (NYP)" userId="62030f1a-a95b-4c33-86e6-478100d64ee1" providerId="ADAL" clId="{58ED7AA8-B633-43EA-B803-6478153F3BD7}" dt="2025-03-21T05:00:48.584" v="153" actId="5793"/>
      <pc:docMkLst>
        <pc:docMk/>
      </pc:docMkLst>
      <pc:sldChg chg="del">
        <pc:chgData name="Kheng Kok MAR (NYP)" userId="62030f1a-a95b-4c33-86e6-478100d64ee1" providerId="ADAL" clId="{58ED7AA8-B633-43EA-B803-6478153F3BD7}" dt="2025-03-21T04:59:58.739" v="136" actId="47"/>
        <pc:sldMkLst>
          <pc:docMk/>
          <pc:sldMk cId="2600293482" sldId="262"/>
        </pc:sldMkLst>
      </pc:sldChg>
      <pc:sldChg chg="del">
        <pc:chgData name="Kheng Kok MAR (NYP)" userId="62030f1a-a95b-4c33-86e6-478100d64ee1" providerId="ADAL" clId="{58ED7AA8-B633-43EA-B803-6478153F3BD7}" dt="2025-03-21T04:59:46.679" v="135" actId="47"/>
        <pc:sldMkLst>
          <pc:docMk/>
          <pc:sldMk cId="2807024801" sldId="295"/>
        </pc:sldMkLst>
      </pc:sldChg>
      <pc:sldChg chg="del">
        <pc:chgData name="Kheng Kok MAR (NYP)" userId="62030f1a-a95b-4c33-86e6-478100d64ee1" providerId="ADAL" clId="{58ED7AA8-B633-43EA-B803-6478153F3BD7}" dt="2025-03-21T04:59:46.679" v="135" actId="47"/>
        <pc:sldMkLst>
          <pc:docMk/>
          <pc:sldMk cId="2933152867" sldId="299"/>
        </pc:sldMkLst>
      </pc:sldChg>
      <pc:sldChg chg="del">
        <pc:chgData name="Kheng Kok MAR (NYP)" userId="62030f1a-a95b-4c33-86e6-478100d64ee1" providerId="ADAL" clId="{58ED7AA8-B633-43EA-B803-6478153F3BD7}" dt="2025-03-21T04:59:46.679" v="135" actId="47"/>
        <pc:sldMkLst>
          <pc:docMk/>
          <pc:sldMk cId="3250412498" sldId="300"/>
        </pc:sldMkLst>
      </pc:sldChg>
      <pc:sldChg chg="del">
        <pc:chgData name="Kheng Kok MAR (NYP)" userId="62030f1a-a95b-4c33-86e6-478100d64ee1" providerId="ADAL" clId="{58ED7AA8-B633-43EA-B803-6478153F3BD7}" dt="2025-03-21T04:59:46.679" v="135" actId="47"/>
        <pc:sldMkLst>
          <pc:docMk/>
          <pc:sldMk cId="1619976221" sldId="301"/>
        </pc:sldMkLst>
      </pc:sldChg>
      <pc:sldChg chg="del">
        <pc:chgData name="Kheng Kok MAR (NYP)" userId="62030f1a-a95b-4c33-86e6-478100d64ee1" providerId="ADAL" clId="{58ED7AA8-B633-43EA-B803-6478153F3BD7}" dt="2025-03-21T04:59:46.679" v="135" actId="47"/>
        <pc:sldMkLst>
          <pc:docMk/>
          <pc:sldMk cId="4234809244" sldId="302"/>
        </pc:sldMkLst>
      </pc:sldChg>
      <pc:sldChg chg="del">
        <pc:chgData name="Kheng Kok MAR (NYP)" userId="62030f1a-a95b-4c33-86e6-478100d64ee1" providerId="ADAL" clId="{58ED7AA8-B633-43EA-B803-6478153F3BD7}" dt="2025-03-21T04:59:46.679" v="135" actId="47"/>
        <pc:sldMkLst>
          <pc:docMk/>
          <pc:sldMk cId="2070489917" sldId="303"/>
        </pc:sldMkLst>
      </pc:sldChg>
      <pc:sldChg chg="del">
        <pc:chgData name="Kheng Kok MAR (NYP)" userId="62030f1a-a95b-4c33-86e6-478100d64ee1" providerId="ADAL" clId="{58ED7AA8-B633-43EA-B803-6478153F3BD7}" dt="2025-03-21T04:59:46.679" v="135" actId="47"/>
        <pc:sldMkLst>
          <pc:docMk/>
          <pc:sldMk cId="1766828700" sldId="320"/>
        </pc:sldMkLst>
      </pc:sldChg>
      <pc:sldChg chg="del">
        <pc:chgData name="Kheng Kok MAR (NYP)" userId="62030f1a-a95b-4c33-86e6-478100d64ee1" providerId="ADAL" clId="{58ED7AA8-B633-43EA-B803-6478153F3BD7}" dt="2025-03-21T04:59:46.679" v="135" actId="47"/>
        <pc:sldMkLst>
          <pc:docMk/>
          <pc:sldMk cId="3880737323" sldId="321"/>
        </pc:sldMkLst>
      </pc:sldChg>
      <pc:sldChg chg="del">
        <pc:chgData name="Kheng Kok MAR (NYP)" userId="62030f1a-a95b-4c33-86e6-478100d64ee1" providerId="ADAL" clId="{58ED7AA8-B633-43EA-B803-6478153F3BD7}" dt="2025-03-21T04:59:46.679" v="135" actId="47"/>
        <pc:sldMkLst>
          <pc:docMk/>
          <pc:sldMk cId="3392206436" sldId="322"/>
        </pc:sldMkLst>
      </pc:sldChg>
      <pc:sldChg chg="del">
        <pc:chgData name="Kheng Kok MAR (NYP)" userId="62030f1a-a95b-4c33-86e6-478100d64ee1" providerId="ADAL" clId="{58ED7AA8-B633-43EA-B803-6478153F3BD7}" dt="2025-03-21T04:59:46.679" v="135" actId="47"/>
        <pc:sldMkLst>
          <pc:docMk/>
          <pc:sldMk cId="3132682470" sldId="323"/>
        </pc:sldMkLst>
      </pc:sldChg>
      <pc:sldChg chg="del">
        <pc:chgData name="Kheng Kok MAR (NYP)" userId="62030f1a-a95b-4c33-86e6-478100d64ee1" providerId="ADAL" clId="{58ED7AA8-B633-43EA-B803-6478153F3BD7}" dt="2025-03-21T04:59:46.679" v="135" actId="47"/>
        <pc:sldMkLst>
          <pc:docMk/>
          <pc:sldMk cId="3169862212" sldId="324"/>
        </pc:sldMkLst>
      </pc:sldChg>
      <pc:sldChg chg="del">
        <pc:chgData name="Kheng Kok MAR (NYP)" userId="62030f1a-a95b-4c33-86e6-478100d64ee1" providerId="ADAL" clId="{58ED7AA8-B633-43EA-B803-6478153F3BD7}" dt="2025-03-21T04:59:46.679" v="135" actId="47"/>
        <pc:sldMkLst>
          <pc:docMk/>
          <pc:sldMk cId="4009347987" sldId="325"/>
        </pc:sldMkLst>
      </pc:sldChg>
      <pc:sldChg chg="del">
        <pc:chgData name="Kheng Kok MAR (NYP)" userId="62030f1a-a95b-4c33-86e6-478100d64ee1" providerId="ADAL" clId="{58ED7AA8-B633-43EA-B803-6478153F3BD7}" dt="2025-03-21T05:00:10.423" v="138" actId="47"/>
        <pc:sldMkLst>
          <pc:docMk/>
          <pc:sldMk cId="1255300212" sldId="327"/>
        </pc:sldMkLst>
      </pc:sldChg>
      <pc:sldChg chg="del">
        <pc:chgData name="Kheng Kok MAR (NYP)" userId="62030f1a-a95b-4c33-86e6-478100d64ee1" providerId="ADAL" clId="{58ED7AA8-B633-43EA-B803-6478153F3BD7}" dt="2025-03-21T04:59:58.739" v="136" actId="47"/>
        <pc:sldMkLst>
          <pc:docMk/>
          <pc:sldMk cId="1320550275" sldId="328"/>
        </pc:sldMkLst>
      </pc:sldChg>
      <pc:sldChg chg="del">
        <pc:chgData name="Kheng Kok MAR (NYP)" userId="62030f1a-a95b-4c33-86e6-478100d64ee1" providerId="ADAL" clId="{58ED7AA8-B633-43EA-B803-6478153F3BD7}" dt="2025-03-21T04:59:58.739" v="136" actId="47"/>
        <pc:sldMkLst>
          <pc:docMk/>
          <pc:sldMk cId="916683871" sldId="329"/>
        </pc:sldMkLst>
      </pc:sldChg>
      <pc:sldChg chg="del">
        <pc:chgData name="Kheng Kok MAR (NYP)" userId="62030f1a-a95b-4c33-86e6-478100d64ee1" providerId="ADAL" clId="{58ED7AA8-B633-43EA-B803-6478153F3BD7}" dt="2025-03-21T04:59:58.739" v="136" actId="47"/>
        <pc:sldMkLst>
          <pc:docMk/>
          <pc:sldMk cId="3836926012" sldId="330"/>
        </pc:sldMkLst>
      </pc:sldChg>
      <pc:sldChg chg="del">
        <pc:chgData name="Kheng Kok MAR (NYP)" userId="62030f1a-a95b-4c33-86e6-478100d64ee1" providerId="ADAL" clId="{58ED7AA8-B633-43EA-B803-6478153F3BD7}" dt="2025-03-21T04:59:58.739" v="136" actId="47"/>
        <pc:sldMkLst>
          <pc:docMk/>
          <pc:sldMk cId="1005339390" sldId="331"/>
        </pc:sldMkLst>
      </pc:sldChg>
      <pc:sldChg chg="del">
        <pc:chgData name="Kheng Kok MAR (NYP)" userId="62030f1a-a95b-4c33-86e6-478100d64ee1" providerId="ADAL" clId="{58ED7AA8-B633-43EA-B803-6478153F3BD7}" dt="2025-03-21T04:59:58.739" v="136" actId="47"/>
        <pc:sldMkLst>
          <pc:docMk/>
          <pc:sldMk cId="3761206000" sldId="333"/>
        </pc:sldMkLst>
      </pc:sldChg>
      <pc:sldChg chg="del">
        <pc:chgData name="Kheng Kok MAR (NYP)" userId="62030f1a-a95b-4c33-86e6-478100d64ee1" providerId="ADAL" clId="{58ED7AA8-B633-43EA-B803-6478153F3BD7}" dt="2025-03-21T04:59:58.739" v="136" actId="47"/>
        <pc:sldMkLst>
          <pc:docMk/>
          <pc:sldMk cId="1070237463" sldId="334"/>
        </pc:sldMkLst>
      </pc:sldChg>
      <pc:sldChg chg="del">
        <pc:chgData name="Kheng Kok MAR (NYP)" userId="62030f1a-a95b-4c33-86e6-478100d64ee1" providerId="ADAL" clId="{58ED7AA8-B633-43EA-B803-6478153F3BD7}" dt="2025-03-21T04:59:58.739" v="136" actId="47"/>
        <pc:sldMkLst>
          <pc:docMk/>
          <pc:sldMk cId="1769685483" sldId="335"/>
        </pc:sldMkLst>
      </pc:sldChg>
      <pc:sldChg chg="del">
        <pc:chgData name="Kheng Kok MAR (NYP)" userId="62030f1a-a95b-4c33-86e6-478100d64ee1" providerId="ADAL" clId="{58ED7AA8-B633-43EA-B803-6478153F3BD7}" dt="2025-03-21T04:59:58.739" v="136" actId="47"/>
        <pc:sldMkLst>
          <pc:docMk/>
          <pc:sldMk cId="781151514" sldId="336"/>
        </pc:sldMkLst>
      </pc:sldChg>
      <pc:sldChg chg="del">
        <pc:chgData name="Kheng Kok MAR (NYP)" userId="62030f1a-a95b-4c33-86e6-478100d64ee1" providerId="ADAL" clId="{58ED7AA8-B633-43EA-B803-6478153F3BD7}" dt="2025-03-21T04:59:58.739" v="136" actId="47"/>
        <pc:sldMkLst>
          <pc:docMk/>
          <pc:sldMk cId="4181970323" sldId="337"/>
        </pc:sldMkLst>
      </pc:sldChg>
      <pc:sldChg chg="del">
        <pc:chgData name="Kheng Kok MAR (NYP)" userId="62030f1a-a95b-4c33-86e6-478100d64ee1" providerId="ADAL" clId="{58ED7AA8-B633-43EA-B803-6478153F3BD7}" dt="2025-03-21T04:59:58.739" v="136" actId="47"/>
        <pc:sldMkLst>
          <pc:docMk/>
          <pc:sldMk cId="3715183010" sldId="338"/>
        </pc:sldMkLst>
      </pc:sldChg>
      <pc:sldChg chg="del">
        <pc:chgData name="Kheng Kok MAR (NYP)" userId="62030f1a-a95b-4c33-86e6-478100d64ee1" providerId="ADAL" clId="{58ED7AA8-B633-43EA-B803-6478153F3BD7}" dt="2025-03-21T04:59:58.739" v="136" actId="47"/>
        <pc:sldMkLst>
          <pc:docMk/>
          <pc:sldMk cId="807812468" sldId="339"/>
        </pc:sldMkLst>
      </pc:sldChg>
      <pc:sldChg chg="del">
        <pc:chgData name="Kheng Kok MAR (NYP)" userId="62030f1a-a95b-4c33-86e6-478100d64ee1" providerId="ADAL" clId="{58ED7AA8-B633-43EA-B803-6478153F3BD7}" dt="2025-03-21T05:00:06.595" v="137" actId="47"/>
        <pc:sldMkLst>
          <pc:docMk/>
          <pc:sldMk cId="3114733694" sldId="340"/>
        </pc:sldMkLst>
      </pc:sldChg>
      <pc:sldChg chg="del">
        <pc:chgData name="Kheng Kok MAR (NYP)" userId="62030f1a-a95b-4c33-86e6-478100d64ee1" providerId="ADAL" clId="{58ED7AA8-B633-43EA-B803-6478153F3BD7}" dt="2025-03-21T05:00:06.595" v="137" actId="47"/>
        <pc:sldMkLst>
          <pc:docMk/>
          <pc:sldMk cId="3020918737" sldId="341"/>
        </pc:sldMkLst>
      </pc:sldChg>
      <pc:sldChg chg="del">
        <pc:chgData name="Kheng Kok MAR (NYP)" userId="62030f1a-a95b-4c33-86e6-478100d64ee1" providerId="ADAL" clId="{58ED7AA8-B633-43EA-B803-6478153F3BD7}" dt="2025-03-21T05:00:06.595" v="137" actId="47"/>
        <pc:sldMkLst>
          <pc:docMk/>
          <pc:sldMk cId="4113745265" sldId="343"/>
        </pc:sldMkLst>
      </pc:sldChg>
      <pc:sldChg chg="del">
        <pc:chgData name="Kheng Kok MAR (NYP)" userId="62030f1a-a95b-4c33-86e6-478100d64ee1" providerId="ADAL" clId="{58ED7AA8-B633-43EA-B803-6478153F3BD7}" dt="2025-03-21T05:00:06.595" v="137" actId="47"/>
        <pc:sldMkLst>
          <pc:docMk/>
          <pc:sldMk cId="3711056098" sldId="345"/>
        </pc:sldMkLst>
      </pc:sldChg>
      <pc:sldChg chg="del">
        <pc:chgData name="Kheng Kok MAR (NYP)" userId="62030f1a-a95b-4c33-86e6-478100d64ee1" providerId="ADAL" clId="{58ED7AA8-B633-43EA-B803-6478153F3BD7}" dt="2025-03-21T05:00:06.595" v="137" actId="47"/>
        <pc:sldMkLst>
          <pc:docMk/>
          <pc:sldMk cId="1008210905" sldId="346"/>
        </pc:sldMkLst>
      </pc:sldChg>
      <pc:sldChg chg="del">
        <pc:chgData name="Kheng Kok MAR (NYP)" userId="62030f1a-a95b-4c33-86e6-478100d64ee1" providerId="ADAL" clId="{58ED7AA8-B633-43EA-B803-6478153F3BD7}" dt="2025-03-21T05:00:06.595" v="137" actId="47"/>
        <pc:sldMkLst>
          <pc:docMk/>
          <pc:sldMk cId="3922411213" sldId="347"/>
        </pc:sldMkLst>
      </pc:sldChg>
      <pc:sldChg chg="del">
        <pc:chgData name="Kheng Kok MAR (NYP)" userId="62030f1a-a95b-4c33-86e6-478100d64ee1" providerId="ADAL" clId="{58ED7AA8-B633-43EA-B803-6478153F3BD7}" dt="2025-03-21T05:00:06.595" v="137" actId="47"/>
        <pc:sldMkLst>
          <pc:docMk/>
          <pc:sldMk cId="2930374708" sldId="349"/>
        </pc:sldMkLst>
      </pc:sldChg>
      <pc:sldChg chg="del">
        <pc:chgData name="Kheng Kok MAR (NYP)" userId="62030f1a-a95b-4c33-86e6-478100d64ee1" providerId="ADAL" clId="{58ED7AA8-B633-43EA-B803-6478153F3BD7}" dt="2025-03-21T05:00:06.595" v="137" actId="47"/>
        <pc:sldMkLst>
          <pc:docMk/>
          <pc:sldMk cId="1062503712" sldId="353"/>
        </pc:sldMkLst>
      </pc:sldChg>
      <pc:sldChg chg="del">
        <pc:chgData name="Kheng Kok MAR (NYP)" userId="62030f1a-a95b-4c33-86e6-478100d64ee1" providerId="ADAL" clId="{58ED7AA8-B633-43EA-B803-6478153F3BD7}" dt="2025-03-21T05:00:06.595" v="137" actId="47"/>
        <pc:sldMkLst>
          <pc:docMk/>
          <pc:sldMk cId="2186340524" sldId="354"/>
        </pc:sldMkLst>
      </pc:sldChg>
      <pc:sldChg chg="del">
        <pc:chgData name="Kheng Kok MAR (NYP)" userId="62030f1a-a95b-4c33-86e6-478100d64ee1" providerId="ADAL" clId="{58ED7AA8-B633-43EA-B803-6478153F3BD7}" dt="2025-03-21T05:00:06.595" v="137" actId="47"/>
        <pc:sldMkLst>
          <pc:docMk/>
          <pc:sldMk cId="2351436070" sldId="358"/>
        </pc:sldMkLst>
      </pc:sldChg>
      <pc:sldChg chg="del">
        <pc:chgData name="Kheng Kok MAR (NYP)" userId="62030f1a-a95b-4c33-86e6-478100d64ee1" providerId="ADAL" clId="{58ED7AA8-B633-43EA-B803-6478153F3BD7}" dt="2025-03-21T05:00:06.595" v="137" actId="47"/>
        <pc:sldMkLst>
          <pc:docMk/>
          <pc:sldMk cId="3516845528" sldId="359"/>
        </pc:sldMkLst>
      </pc:sldChg>
      <pc:sldChg chg="del">
        <pc:chgData name="Kheng Kok MAR (NYP)" userId="62030f1a-a95b-4c33-86e6-478100d64ee1" providerId="ADAL" clId="{58ED7AA8-B633-43EA-B803-6478153F3BD7}" dt="2025-03-21T05:00:06.595" v="137" actId="47"/>
        <pc:sldMkLst>
          <pc:docMk/>
          <pc:sldMk cId="2606275055" sldId="366"/>
        </pc:sldMkLst>
      </pc:sldChg>
      <pc:sldChg chg="del">
        <pc:chgData name="Kheng Kok MAR (NYP)" userId="62030f1a-a95b-4c33-86e6-478100d64ee1" providerId="ADAL" clId="{58ED7AA8-B633-43EA-B803-6478153F3BD7}" dt="2025-03-21T05:00:06.595" v="137" actId="47"/>
        <pc:sldMkLst>
          <pc:docMk/>
          <pc:sldMk cId="3873997129" sldId="368"/>
        </pc:sldMkLst>
      </pc:sldChg>
      <pc:sldChg chg="del">
        <pc:chgData name="Kheng Kok MAR (NYP)" userId="62030f1a-a95b-4c33-86e6-478100d64ee1" providerId="ADAL" clId="{58ED7AA8-B633-43EA-B803-6478153F3BD7}" dt="2025-03-21T05:00:06.595" v="137" actId="47"/>
        <pc:sldMkLst>
          <pc:docMk/>
          <pc:sldMk cId="196573934" sldId="369"/>
        </pc:sldMkLst>
      </pc:sldChg>
      <pc:sldChg chg="del">
        <pc:chgData name="Kheng Kok MAR (NYP)" userId="62030f1a-a95b-4c33-86e6-478100d64ee1" providerId="ADAL" clId="{58ED7AA8-B633-43EA-B803-6478153F3BD7}" dt="2025-03-21T05:00:06.595" v="137" actId="47"/>
        <pc:sldMkLst>
          <pc:docMk/>
          <pc:sldMk cId="3624530038" sldId="370"/>
        </pc:sldMkLst>
      </pc:sldChg>
      <pc:sldChg chg="del">
        <pc:chgData name="Kheng Kok MAR (NYP)" userId="62030f1a-a95b-4c33-86e6-478100d64ee1" providerId="ADAL" clId="{58ED7AA8-B633-43EA-B803-6478153F3BD7}" dt="2025-03-21T05:00:06.595" v="137" actId="47"/>
        <pc:sldMkLst>
          <pc:docMk/>
          <pc:sldMk cId="2836799505" sldId="372"/>
        </pc:sldMkLst>
      </pc:sldChg>
      <pc:sldChg chg="del">
        <pc:chgData name="Kheng Kok MAR (NYP)" userId="62030f1a-a95b-4c33-86e6-478100d64ee1" providerId="ADAL" clId="{58ED7AA8-B633-43EA-B803-6478153F3BD7}" dt="2025-03-21T05:00:12.373" v="139" actId="47"/>
        <pc:sldMkLst>
          <pc:docMk/>
          <pc:sldMk cId="2712846146" sldId="373"/>
        </pc:sldMkLst>
      </pc:sldChg>
      <pc:sldChg chg="del">
        <pc:chgData name="Kheng Kok MAR (NYP)" userId="62030f1a-a95b-4c33-86e6-478100d64ee1" providerId="ADAL" clId="{58ED7AA8-B633-43EA-B803-6478153F3BD7}" dt="2025-03-21T05:00:06.595" v="137" actId="47"/>
        <pc:sldMkLst>
          <pc:docMk/>
          <pc:sldMk cId="2931830914" sldId="374"/>
        </pc:sldMkLst>
      </pc:sldChg>
      <pc:sldChg chg="del">
        <pc:chgData name="Kheng Kok MAR (NYP)" userId="62030f1a-a95b-4c33-86e6-478100d64ee1" providerId="ADAL" clId="{58ED7AA8-B633-43EA-B803-6478153F3BD7}" dt="2025-03-21T05:00:06.595" v="137" actId="47"/>
        <pc:sldMkLst>
          <pc:docMk/>
          <pc:sldMk cId="799979536" sldId="375"/>
        </pc:sldMkLst>
      </pc:sldChg>
      <pc:sldChg chg="del">
        <pc:chgData name="Kheng Kok MAR (NYP)" userId="62030f1a-a95b-4c33-86e6-478100d64ee1" providerId="ADAL" clId="{58ED7AA8-B633-43EA-B803-6478153F3BD7}" dt="2025-03-21T05:00:10.423" v="138" actId="47"/>
        <pc:sldMkLst>
          <pc:docMk/>
          <pc:sldMk cId="2780781574" sldId="377"/>
        </pc:sldMkLst>
      </pc:sldChg>
      <pc:sldChg chg="del">
        <pc:chgData name="Kheng Kok MAR (NYP)" userId="62030f1a-a95b-4c33-86e6-478100d64ee1" providerId="ADAL" clId="{58ED7AA8-B633-43EA-B803-6478153F3BD7}" dt="2025-03-21T05:00:06.595" v="137" actId="47"/>
        <pc:sldMkLst>
          <pc:docMk/>
          <pc:sldMk cId="1274829805" sldId="378"/>
        </pc:sldMkLst>
      </pc:sldChg>
      <pc:sldChg chg="del">
        <pc:chgData name="Kheng Kok MAR (NYP)" userId="62030f1a-a95b-4c33-86e6-478100d64ee1" providerId="ADAL" clId="{58ED7AA8-B633-43EA-B803-6478153F3BD7}" dt="2025-03-21T04:59:46.679" v="135" actId="47"/>
        <pc:sldMkLst>
          <pc:docMk/>
          <pc:sldMk cId="1802167371" sldId="379"/>
        </pc:sldMkLst>
      </pc:sldChg>
      <pc:sldChg chg="del">
        <pc:chgData name="Kheng Kok MAR (NYP)" userId="62030f1a-a95b-4c33-86e6-478100d64ee1" providerId="ADAL" clId="{58ED7AA8-B633-43EA-B803-6478153F3BD7}" dt="2025-03-21T04:59:46.679" v="135" actId="47"/>
        <pc:sldMkLst>
          <pc:docMk/>
          <pc:sldMk cId="2990305848" sldId="380"/>
        </pc:sldMkLst>
      </pc:sldChg>
      <pc:sldChg chg="del">
        <pc:chgData name="Kheng Kok MAR (NYP)" userId="62030f1a-a95b-4c33-86e6-478100d64ee1" providerId="ADAL" clId="{58ED7AA8-B633-43EA-B803-6478153F3BD7}" dt="2025-03-21T04:59:58.739" v="136" actId="47"/>
        <pc:sldMkLst>
          <pc:docMk/>
          <pc:sldMk cId="3422701620" sldId="381"/>
        </pc:sldMkLst>
      </pc:sldChg>
      <pc:sldChg chg="del">
        <pc:chgData name="Kheng Kok MAR (NYP)" userId="62030f1a-a95b-4c33-86e6-478100d64ee1" providerId="ADAL" clId="{58ED7AA8-B633-43EA-B803-6478153F3BD7}" dt="2025-03-21T05:00:06.595" v="137" actId="47"/>
        <pc:sldMkLst>
          <pc:docMk/>
          <pc:sldMk cId="2680813618" sldId="383"/>
        </pc:sldMkLst>
      </pc:sldChg>
      <pc:sldChg chg="del">
        <pc:chgData name="Kheng Kok MAR (NYP)" userId="62030f1a-a95b-4c33-86e6-478100d64ee1" providerId="ADAL" clId="{58ED7AA8-B633-43EA-B803-6478153F3BD7}" dt="2025-03-21T05:00:06.595" v="137" actId="47"/>
        <pc:sldMkLst>
          <pc:docMk/>
          <pc:sldMk cId="3875934704" sldId="384"/>
        </pc:sldMkLst>
      </pc:sldChg>
      <pc:sldChg chg="del">
        <pc:chgData name="Kheng Kok MAR (NYP)" userId="62030f1a-a95b-4c33-86e6-478100d64ee1" providerId="ADAL" clId="{58ED7AA8-B633-43EA-B803-6478153F3BD7}" dt="2025-03-21T05:00:06.595" v="137" actId="47"/>
        <pc:sldMkLst>
          <pc:docMk/>
          <pc:sldMk cId="2619453085" sldId="385"/>
        </pc:sldMkLst>
      </pc:sldChg>
      <pc:sldChg chg="del">
        <pc:chgData name="Kheng Kok MAR (NYP)" userId="62030f1a-a95b-4c33-86e6-478100d64ee1" providerId="ADAL" clId="{58ED7AA8-B633-43EA-B803-6478153F3BD7}" dt="2025-03-21T05:00:06.595" v="137" actId="47"/>
        <pc:sldMkLst>
          <pc:docMk/>
          <pc:sldMk cId="4041534699" sldId="386"/>
        </pc:sldMkLst>
      </pc:sldChg>
      <pc:sldChg chg="del">
        <pc:chgData name="Kheng Kok MAR (NYP)" userId="62030f1a-a95b-4c33-86e6-478100d64ee1" providerId="ADAL" clId="{58ED7AA8-B633-43EA-B803-6478153F3BD7}" dt="2025-03-21T05:00:06.595" v="137" actId="47"/>
        <pc:sldMkLst>
          <pc:docMk/>
          <pc:sldMk cId="3434463523" sldId="387"/>
        </pc:sldMkLst>
      </pc:sldChg>
      <pc:sldChg chg="del">
        <pc:chgData name="Kheng Kok MAR (NYP)" userId="62030f1a-a95b-4c33-86e6-478100d64ee1" providerId="ADAL" clId="{58ED7AA8-B633-43EA-B803-6478153F3BD7}" dt="2025-03-21T05:00:06.595" v="137" actId="47"/>
        <pc:sldMkLst>
          <pc:docMk/>
          <pc:sldMk cId="3273044271" sldId="388"/>
        </pc:sldMkLst>
      </pc:sldChg>
      <pc:sldChg chg="del">
        <pc:chgData name="Kheng Kok MAR (NYP)" userId="62030f1a-a95b-4c33-86e6-478100d64ee1" providerId="ADAL" clId="{58ED7AA8-B633-43EA-B803-6478153F3BD7}" dt="2025-03-21T05:00:06.595" v="137" actId="47"/>
        <pc:sldMkLst>
          <pc:docMk/>
          <pc:sldMk cId="2594403404" sldId="389"/>
        </pc:sldMkLst>
      </pc:sldChg>
      <pc:sldChg chg="del">
        <pc:chgData name="Kheng Kok MAR (NYP)" userId="62030f1a-a95b-4c33-86e6-478100d64ee1" providerId="ADAL" clId="{58ED7AA8-B633-43EA-B803-6478153F3BD7}" dt="2025-03-21T05:00:06.595" v="137" actId="47"/>
        <pc:sldMkLst>
          <pc:docMk/>
          <pc:sldMk cId="2584676501" sldId="390"/>
        </pc:sldMkLst>
      </pc:sldChg>
      <pc:sldChg chg="del">
        <pc:chgData name="Kheng Kok MAR (NYP)" userId="62030f1a-a95b-4c33-86e6-478100d64ee1" providerId="ADAL" clId="{58ED7AA8-B633-43EA-B803-6478153F3BD7}" dt="2025-03-21T05:00:06.595" v="137" actId="47"/>
        <pc:sldMkLst>
          <pc:docMk/>
          <pc:sldMk cId="4048104730" sldId="391"/>
        </pc:sldMkLst>
      </pc:sldChg>
      <pc:sldChg chg="del">
        <pc:chgData name="Kheng Kok MAR (NYP)" userId="62030f1a-a95b-4c33-86e6-478100d64ee1" providerId="ADAL" clId="{58ED7AA8-B633-43EA-B803-6478153F3BD7}" dt="2025-03-21T05:00:06.595" v="137" actId="47"/>
        <pc:sldMkLst>
          <pc:docMk/>
          <pc:sldMk cId="761234270" sldId="392"/>
        </pc:sldMkLst>
      </pc:sldChg>
      <pc:sldChg chg="del">
        <pc:chgData name="Kheng Kok MAR (NYP)" userId="62030f1a-a95b-4c33-86e6-478100d64ee1" providerId="ADAL" clId="{58ED7AA8-B633-43EA-B803-6478153F3BD7}" dt="2025-03-21T05:00:06.595" v="137" actId="47"/>
        <pc:sldMkLst>
          <pc:docMk/>
          <pc:sldMk cId="3140442699" sldId="393"/>
        </pc:sldMkLst>
      </pc:sldChg>
      <pc:sldChg chg="del">
        <pc:chgData name="Kheng Kok MAR (NYP)" userId="62030f1a-a95b-4c33-86e6-478100d64ee1" providerId="ADAL" clId="{58ED7AA8-B633-43EA-B803-6478153F3BD7}" dt="2025-03-21T05:00:06.595" v="137" actId="47"/>
        <pc:sldMkLst>
          <pc:docMk/>
          <pc:sldMk cId="2799622941" sldId="394"/>
        </pc:sldMkLst>
      </pc:sldChg>
      <pc:sldChg chg="del">
        <pc:chgData name="Kheng Kok MAR (NYP)" userId="62030f1a-a95b-4c33-86e6-478100d64ee1" providerId="ADAL" clId="{58ED7AA8-B633-43EA-B803-6478153F3BD7}" dt="2025-03-21T05:00:06.595" v="137" actId="47"/>
        <pc:sldMkLst>
          <pc:docMk/>
          <pc:sldMk cId="2213993344" sldId="395"/>
        </pc:sldMkLst>
      </pc:sldChg>
      <pc:sldChg chg="del">
        <pc:chgData name="Kheng Kok MAR (NYP)" userId="62030f1a-a95b-4c33-86e6-478100d64ee1" providerId="ADAL" clId="{58ED7AA8-B633-43EA-B803-6478153F3BD7}" dt="2025-03-21T05:00:06.595" v="137" actId="47"/>
        <pc:sldMkLst>
          <pc:docMk/>
          <pc:sldMk cId="1879657340" sldId="396"/>
        </pc:sldMkLst>
      </pc:sldChg>
      <pc:sldChg chg="del">
        <pc:chgData name="Kheng Kok MAR (NYP)" userId="62030f1a-a95b-4c33-86e6-478100d64ee1" providerId="ADAL" clId="{58ED7AA8-B633-43EA-B803-6478153F3BD7}" dt="2025-03-21T05:00:06.595" v="137" actId="47"/>
        <pc:sldMkLst>
          <pc:docMk/>
          <pc:sldMk cId="227410163" sldId="397"/>
        </pc:sldMkLst>
      </pc:sldChg>
      <pc:sldChg chg="del">
        <pc:chgData name="Kheng Kok MAR (NYP)" userId="62030f1a-a95b-4c33-86e6-478100d64ee1" providerId="ADAL" clId="{58ED7AA8-B633-43EA-B803-6478153F3BD7}" dt="2025-03-21T05:00:06.595" v="137" actId="47"/>
        <pc:sldMkLst>
          <pc:docMk/>
          <pc:sldMk cId="353696741" sldId="398"/>
        </pc:sldMkLst>
      </pc:sldChg>
      <pc:sldChg chg="del">
        <pc:chgData name="Kheng Kok MAR (NYP)" userId="62030f1a-a95b-4c33-86e6-478100d64ee1" providerId="ADAL" clId="{58ED7AA8-B633-43EA-B803-6478153F3BD7}" dt="2025-03-21T05:00:06.595" v="137" actId="47"/>
        <pc:sldMkLst>
          <pc:docMk/>
          <pc:sldMk cId="3929622885" sldId="399"/>
        </pc:sldMkLst>
      </pc:sldChg>
      <pc:sldChg chg="del">
        <pc:chgData name="Kheng Kok MAR (NYP)" userId="62030f1a-a95b-4c33-86e6-478100d64ee1" providerId="ADAL" clId="{58ED7AA8-B633-43EA-B803-6478153F3BD7}" dt="2025-03-21T05:00:06.595" v="137" actId="47"/>
        <pc:sldMkLst>
          <pc:docMk/>
          <pc:sldMk cId="3406082339" sldId="400"/>
        </pc:sldMkLst>
      </pc:sldChg>
      <pc:sldChg chg="del">
        <pc:chgData name="Kheng Kok MAR (NYP)" userId="62030f1a-a95b-4c33-86e6-478100d64ee1" providerId="ADAL" clId="{58ED7AA8-B633-43EA-B803-6478153F3BD7}" dt="2025-03-21T05:00:06.595" v="137" actId="47"/>
        <pc:sldMkLst>
          <pc:docMk/>
          <pc:sldMk cId="1068316888" sldId="401"/>
        </pc:sldMkLst>
      </pc:sldChg>
      <pc:sldChg chg="modSp add mod">
        <pc:chgData name="Kheng Kok MAR (NYP)" userId="62030f1a-a95b-4c33-86e6-478100d64ee1" providerId="ADAL" clId="{58ED7AA8-B633-43EA-B803-6478153F3BD7}" dt="2025-03-21T04:59:24.160" v="134" actId="20577"/>
        <pc:sldMkLst>
          <pc:docMk/>
          <pc:sldMk cId="3155291161" sldId="402"/>
        </pc:sldMkLst>
        <pc:spChg chg="mod">
          <ac:chgData name="Kheng Kok MAR (NYP)" userId="62030f1a-a95b-4c33-86e6-478100d64ee1" providerId="ADAL" clId="{58ED7AA8-B633-43EA-B803-6478153F3BD7}" dt="2025-03-21T02:00:47.977" v="73" actId="20577"/>
          <ac:spMkLst>
            <pc:docMk/>
            <pc:sldMk cId="3155291161" sldId="402"/>
            <ac:spMk id="2" creationId="{A1D871B1-6C5D-3259-B42A-793ADF2CE90C}"/>
          </ac:spMkLst>
        </pc:spChg>
        <pc:spChg chg="mod">
          <ac:chgData name="Kheng Kok MAR (NYP)" userId="62030f1a-a95b-4c33-86e6-478100d64ee1" providerId="ADAL" clId="{58ED7AA8-B633-43EA-B803-6478153F3BD7}" dt="2025-03-21T04:59:24.160" v="134" actId="20577"/>
          <ac:spMkLst>
            <pc:docMk/>
            <pc:sldMk cId="3155291161" sldId="402"/>
            <ac:spMk id="3" creationId="{DD3B9174-B1BD-7F76-160C-AB73246A18B4}"/>
          </ac:spMkLst>
        </pc:spChg>
      </pc:sldChg>
      <pc:sldChg chg="modSp add del mod">
        <pc:chgData name="Kheng Kok MAR (NYP)" userId="62030f1a-a95b-4c33-86e6-478100d64ee1" providerId="ADAL" clId="{58ED7AA8-B633-43EA-B803-6478153F3BD7}" dt="2025-03-21T02:00:27.386" v="55"/>
        <pc:sldMkLst>
          <pc:docMk/>
          <pc:sldMk cId="3498333577" sldId="402"/>
        </pc:sldMkLst>
        <pc:spChg chg="mod">
          <ac:chgData name="Kheng Kok MAR (NYP)" userId="62030f1a-a95b-4c33-86e6-478100d64ee1" providerId="ADAL" clId="{58ED7AA8-B633-43EA-B803-6478153F3BD7}" dt="2025-03-21T02:00:26.988" v="54" actId="20577"/>
          <ac:spMkLst>
            <pc:docMk/>
            <pc:sldMk cId="3498333577" sldId="402"/>
            <ac:spMk id="2" creationId="{7E5DD8B0-3B00-B572-9211-A9127DBB9BE1}"/>
          </ac:spMkLst>
        </pc:spChg>
      </pc:sldChg>
      <pc:sldChg chg="modSp new mod">
        <pc:chgData name="Kheng Kok MAR (NYP)" userId="62030f1a-a95b-4c33-86e6-478100d64ee1" providerId="ADAL" clId="{58ED7AA8-B633-43EA-B803-6478153F3BD7}" dt="2025-03-21T05:00:48.584" v="153" actId="5793"/>
        <pc:sldMkLst>
          <pc:docMk/>
          <pc:sldMk cId="2767485149" sldId="403"/>
        </pc:sldMkLst>
        <pc:spChg chg="mod">
          <ac:chgData name="Kheng Kok MAR (NYP)" userId="62030f1a-a95b-4c33-86e6-478100d64ee1" providerId="ADAL" clId="{58ED7AA8-B633-43EA-B803-6478153F3BD7}" dt="2025-03-21T05:00:24.783" v="150" actId="20577"/>
          <ac:spMkLst>
            <pc:docMk/>
            <pc:sldMk cId="2767485149" sldId="403"/>
            <ac:spMk id="2" creationId="{B6D222A1-CAB4-531E-D2EE-955F64A570CC}"/>
          </ac:spMkLst>
        </pc:spChg>
        <pc:spChg chg="mod">
          <ac:chgData name="Kheng Kok MAR (NYP)" userId="62030f1a-a95b-4c33-86e6-478100d64ee1" providerId="ADAL" clId="{58ED7AA8-B633-43EA-B803-6478153F3BD7}" dt="2025-03-21T05:00:48.584" v="153" actId="5793"/>
          <ac:spMkLst>
            <pc:docMk/>
            <pc:sldMk cId="2767485149" sldId="403"/>
            <ac:spMk id="3" creationId="{C3D150AC-8FBE-FE32-73FC-FBBA80B56B9E}"/>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Share of GPU time (illustrative)</c:v>
                </c:pt>
              </c:strCache>
            </c:strRef>
          </c:tx>
          <c:spPr>
            <a:solidFill>
              <a:srgbClr val="164194"/>
            </a:solidFill>
          </c:spPr>
          <c:cat>
            <c:strRef>
              <c:f>Sheet1!$A$2:$A$3</c:f>
              <c:strCache>
                <c:ptCount val="2"/>
                <c:pt idx="0">
                  <c:v>Physics simulation</c:v>
                </c:pt>
                <c:pt idx="1">
                  <c:v>Policy network</c:v>
                </c:pt>
              </c:strCache>
            </c:strRef>
          </c:cat>
          <c:val>
            <c:numRef>
              <c:f>Sheet1!$B$2:$B$3</c:f>
              <c:numCache>
                <c:formatCode>General</c:formatCode>
                <c:ptCount val="2"/>
                <c:pt idx="0">
                  <c:v>85</c:v>
                </c:pt>
                <c:pt idx="1">
                  <c:v>15</c:v>
                </c:pt>
              </c:numCache>
            </c:numRef>
          </c:val>
        </c:ser>
        <c:dLbls>
          <c:numFmt formatCode="0&quot;%&quot;" sourceLinked="0"/>
          <c:txPr>
            <a:bodyPr/>
            <a:lstStyle/>
            <a:p>
              <a:pPr>
                <a:defRPr sz="14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max val="100.0"/>
          <c:min val="0.0"/>
        </c:scaling>
        <c:delete/>
        <c:axPos val="b"/>
        <c:majorGridlines>
          <c:spPr>
            <a:ln>
              <a:noFill/>
            </a:ln>
          </c:spPr>
        </c:majorGridlines>
        <c:majorTickMark val="out"/>
        <c:minorTickMark val="none"/>
        <c:tickLblPos val="nextTo"/>
        <c:crossAx val="-2068027336"/>
        <c:crosses val="autoZero"/>
      </c:valAx>
    </c:plotArea>
    <c:dispBlanksAs val="gap"/>
  </c:chart>
  <c:txPr>
    <a:bodyPr/>
    <a:lstStyle/>
    <a:p>
      <a:pPr>
        <a:defRPr sz="1300">
          <a:solidFill>
            <a:srgbClr val="5B6275"/>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mean episode reward (illustrative)</c:v>
                </c:pt>
              </c:strCache>
            </c:strRef>
          </c:tx>
          <c:spPr>
            <a:ln w="34925">
              <a:solidFill>
                <a:srgbClr val="164194"/>
              </a:solidFill>
            </a:ln>
          </c:spPr>
          <c:marker>
            <c:symbol val="none"/>
          </c:marker>
          <c:cat>
            <c:strRef>
              <c:f>Sheet1!$A$2:$A$22</c:f>
              <c:strCache>
                <c:ptCount val="21"/>
                <c:pt idx="0">
                  <c:v>0</c:v>
                </c:pt>
                <c:pt idx="1">
                  <c:v/>
                </c:pt>
                <c:pt idx="2">
                  <c:v/>
                </c:pt>
                <c:pt idx="3">
                  <c:v/>
                </c:pt>
                <c:pt idx="4">
                  <c:v>200</c:v>
                </c:pt>
                <c:pt idx="5">
                  <c:v/>
                </c:pt>
                <c:pt idx="6">
                  <c:v/>
                </c:pt>
                <c:pt idx="7">
                  <c:v/>
                </c:pt>
                <c:pt idx="8">
                  <c:v>400</c:v>
                </c:pt>
                <c:pt idx="9">
                  <c:v/>
                </c:pt>
                <c:pt idx="10">
                  <c:v/>
                </c:pt>
                <c:pt idx="11">
                  <c:v/>
                </c:pt>
                <c:pt idx="12">
                  <c:v>600</c:v>
                </c:pt>
                <c:pt idx="13">
                  <c:v/>
                </c:pt>
                <c:pt idx="14">
                  <c:v/>
                </c:pt>
                <c:pt idx="15">
                  <c:v/>
                </c:pt>
                <c:pt idx="16">
                  <c:v>800</c:v>
                </c:pt>
                <c:pt idx="17">
                  <c:v/>
                </c:pt>
                <c:pt idx="18">
                  <c:v/>
                </c:pt>
                <c:pt idx="19">
                  <c:v/>
                </c:pt>
                <c:pt idx="20">
                  <c:v>1000</c:v>
                </c:pt>
              </c:strCache>
            </c:strRef>
          </c:cat>
          <c:val>
            <c:numRef>
              <c:f>Sheet1!$B$2:$B$22</c:f>
              <c:numCache>
                <c:formatCode>General</c:formatCode>
                <c:ptCount val="21"/>
                <c:pt idx="0">
                  <c:v>-4.5</c:v>
                </c:pt>
                <c:pt idx="1">
                  <c:v>-3.13</c:v>
                </c:pt>
                <c:pt idx="2">
                  <c:v>-2.06</c:v>
                </c:pt>
                <c:pt idx="3">
                  <c:v>-1.23</c:v>
                </c:pt>
                <c:pt idx="4">
                  <c:v>-0.58</c:v>
                </c:pt>
                <c:pt idx="5">
                  <c:v>-0.08</c:v>
                </c:pt>
                <c:pt idx="6">
                  <c:v>0.32</c:v>
                </c:pt>
                <c:pt idx="7">
                  <c:v>0.62</c:v>
                </c:pt>
                <c:pt idx="8">
                  <c:v>0.86</c:v>
                </c:pt>
                <c:pt idx="9">
                  <c:v>1.05</c:v>
                </c:pt>
                <c:pt idx="10">
                  <c:v>1.19</c:v>
                </c:pt>
                <c:pt idx="11">
                  <c:v>1.3</c:v>
                </c:pt>
                <c:pt idx="12">
                  <c:v>1.39</c:v>
                </c:pt>
                <c:pt idx="13">
                  <c:v>1.46</c:v>
                </c:pt>
                <c:pt idx="14">
                  <c:v>1.51</c:v>
                </c:pt>
                <c:pt idx="15">
                  <c:v>1.55</c:v>
                </c:pt>
                <c:pt idx="16">
                  <c:v>1.59</c:v>
                </c:pt>
                <c:pt idx="17">
                  <c:v>1.61</c:v>
                </c:pt>
                <c:pt idx="18">
                  <c:v>1.63</c:v>
                </c:pt>
                <c:pt idx="19">
                  <c:v>1.65</c:v>
                </c:pt>
                <c:pt idx="20">
                  <c:v>1.66</c:v>
                </c:pt>
              </c:numCache>
            </c:numRef>
          </c:val>
          <c:smooth val="0"/>
        </c:ser>
        <c:marker val="1"/>
        <c:smooth val="0"/>
        <c:axId val="2118791784"/>
        <c:axId val="2140495176"/>
      </c:lineChart>
      <c:catAx>
        <c:axId val="2118791784"/>
        <c:scaling>
          <c:orientation val="minMax"/>
        </c:scaling>
        <c:delete val="0"/>
        <c:axPos val="b"/>
        <c:title>
          <c:tx>
            <c:rich>
              <a:bodyPr/>
              <a:lstStyle/>
              <a:p>
                <a:r>
                  <a:rPr sz="1200"/>
                  <a:t>iteration</a:t>
                </a:r>
              </a:p>
            </c:rich>
          </c:tx>
          <c:layout/>
          <c:overlay val="0"/>
        </c:title>
        <c:majorTickMark val="out"/>
        <c:minorTickMark val="none"/>
        <c:tickLblPos val="low"/>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3E7F0"/>
              </a:solidFill>
            </a:ln>
          </c:spPr>
        </c:majorGridlines>
        <c:title>
          <c:tx>
            <c:rich>
              <a:bodyPr/>
              <a:lstStyle/>
              <a:p>
                <a:r>
                  <a:rPr sz="1200"/>
                  <a:t>mean reward</a:t>
                </a:r>
              </a:p>
            </c:rich>
          </c:tx>
          <c:layout/>
          <c:overlay val="0"/>
        </c:title>
        <c:majorTickMark val="out"/>
        <c:minorTickMark val="none"/>
        <c:tickLblPos val="nextTo"/>
        <c:spPr>
          <a:ln>
            <a:noFill/>
          </a:ln>
        </c:spPr>
        <c:crossAx val="2118791784"/>
        <c:crosses val="autoZero"/>
      </c:valAx>
    </c:plotArea>
    <c:plotVisOnly val="1"/>
    <c:dispBlanksAs val="gap"/>
    <c:showDLblsOverMax val="0"/>
  </c:chart>
  <c:txPr>
    <a:bodyPr/>
    <a:lstStyle/>
    <a:p>
      <a:pPr>
        <a:defRPr sz="1200">
          <a:solidFill>
            <a:srgbClr val="5B6275"/>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|weight|</c:v>
                </c:pt>
              </c:strCache>
            </c:strRef>
          </c:tx>
          <c:dPt>
            <c:idx val="0"/>
            <c:spPr>
              <a:solidFill>
                <a:srgbClr val="164194"/>
              </a:solidFill>
            </c:spPr>
          </c:dPt>
          <c:dPt>
            <c:idx val="1"/>
            <c:spPr>
              <a:solidFill>
                <a:srgbClr val="164194"/>
              </a:solidFill>
            </c:spPr>
          </c:dPt>
          <c:dPt>
            <c:idx val="2"/>
            <c:spPr>
              <a:solidFill>
                <a:srgbClr val="E30613"/>
              </a:solidFill>
            </c:spPr>
          </c:dPt>
          <c:dPt>
            <c:idx val="3"/>
            <c:spPr>
              <a:solidFill>
                <a:srgbClr val="E30613"/>
              </a:solidFill>
            </c:spPr>
          </c:dPt>
          <c:dPt>
            <c:idx val="4"/>
            <c:spPr>
              <a:solidFill>
                <a:srgbClr val="E30613"/>
              </a:solidFill>
            </c:spPr>
          </c:dPt>
          <c:dPt>
            <c:idx val="5"/>
            <c:spPr>
              <a:solidFill>
                <a:srgbClr val="E30613"/>
              </a:solidFill>
            </c:spPr>
          </c:dPt>
          <c:cat>
            <c:strRef>
              <c:f>Sheet1!$A$2:$A$7</c:f>
              <c:strCache>
                <c:ptCount val="6"/>
                <c:pt idx="0">
                  <c:v>position  0.2</c:v>
                </c:pt>
                <c:pt idx="1">
                  <c:v>fine  0.1</c:v>
                </c:pt>
                <c:pt idx="2">
                  <c:v>action rate (start)  0.0001</c:v>
                </c:pt>
                <c:pt idx="3">
                  <c:v>action rate (later)  0.005</c:v>
                </c:pt>
                <c:pt idx="4">
                  <c:v>joint vel (start)  0.0001</c:v>
                </c:pt>
                <c:pt idx="5">
                  <c:v>joint vel (later)  0.001</c:v>
                </c:pt>
              </c:strCache>
            </c:strRef>
          </c:cat>
          <c:val>
            <c:numRef>
              <c:f>Sheet1!$B$2:$B$7</c:f>
              <c:numCache>
                <c:formatCode>General</c:formatCode>
                <c:ptCount val="6"/>
                <c:pt idx="0">
                  <c:v>0.2</c:v>
                </c:pt>
                <c:pt idx="1">
                  <c:v>0.1</c:v>
                </c:pt>
                <c:pt idx="2">
                  <c:v>0.0001</c:v>
                </c:pt>
                <c:pt idx="3">
                  <c:v>0.005</c:v>
                </c:pt>
                <c:pt idx="4">
                  <c:v>0.0001</c:v>
                </c:pt>
                <c:pt idx="5">
                  <c:v>0.001</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logBase val="10"/>
          <c:max val="1.0"/>
          <c:min val="1e-05"/>
        </c:scaling>
        <c:delete val="0"/>
        <c:axPos val="b"/>
        <c:majorGridlines>
          <c:spPr>
            <a:ln>
              <a:solidFill>
                <a:srgbClr val="E3E7F0"/>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200">
          <a:solidFill>
            <a:srgbClr val="5B6275"/>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A07A7-A8F7-B72E-4B74-261D7D3F95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57972104-C5D7-9142-35F7-AC28827A37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D3F652-CB33-4F60-88E9-6D8C7BBE5615}" type="datetimeFigureOut">
              <a:rPr lang="en-SG" smtClean="0"/>
              <a:t>29/7/2025</a:t>
            </a:fld>
            <a:endParaRPr lang="en-SG"/>
          </a:p>
        </p:txBody>
      </p:sp>
      <p:sp>
        <p:nvSpPr>
          <p:cNvPr id="4" name="Footer Placeholder 3">
            <a:extLst>
              <a:ext uri="{FF2B5EF4-FFF2-40B4-BE49-F238E27FC236}">
                <a16:creationId xmlns:a16="http://schemas.microsoft.com/office/drawing/2014/main" id="{82843AF6-21A3-F929-ED7C-7B438738C7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E12D10-68BD-CCCD-9552-0B6E039E3D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B006ED-B046-4917-A165-CAAD7C0FC909}" type="slidenum">
              <a:rPr lang="en-SG" smtClean="0"/>
              <a:t>‹#›</a:t>
            </a:fld>
            <a:endParaRPr lang="en-SG"/>
          </a:p>
        </p:txBody>
      </p:sp>
    </p:spTree>
    <p:extLst>
      <p:ext uri="{BB962C8B-B14F-4D97-AF65-F5344CB8AC3E}">
        <p14:creationId xmlns:p14="http://schemas.microsoft.com/office/powerpoint/2010/main" val="41687749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29/7/2025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Block C. Until now the robot has only ever copied what a person did with the leader arm. Today we meet a completely different way to teach a robot: let it try, again and again, and score every attempt. That is reinforcement learning.</a:t>
            </a:r>
          </a:p>
          <a:p/>
          <a:p>
            <a:r>
              <a:t>We will build the idea from scratch, see how thousands of simulated arms learn at the same time on one graphics card, and then take apart a real reward function: the one that teaches our SO-101 to reach a target in Isaac Lab. Next week in the lab you will train that policy yourselves and break its reward on purpose to see what happens.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map, we are now in Block C. Two stages are lit: Simulate and Train. Reinforcement learning needs no recorded dataset at all. The robot generates its own experience in simulation, and training happens at the same time as that experience is created.</a:t>
            </a:r>
          </a:p>
          <a:p/>
          <a:p>
            <a:r>
              <a:t>The randomisation you switched on in Lab 4 comes back here: it is part of the simulated world the robot practises in. In Block D, next fortnight, we take the policy you train in Lab 6 onto the real arm.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quick questions to reconnect with Block B.</a:t>
            </a:r>
          </a:p>
          <a:p/>
          <a:p>
            <a:r>
              <a:t>Answers. One: a reset event runs at the start of every episode, for example placing the cube somewhere new. Startup events run once; interval events run every few seconds. Two: dynamics, for example randomising friction or mass; appearance, for example randomising colours; sensing, for example adding noise to joint readings. Three: each arm moved its gripper to a target marker that kept changing position. That is exactly the task we dissect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outcomes today. The vocabulary of reinforcement learning; how PPO, the algorithm we use, learns from many arms at once; how a task is laid out in Isaac Lab; and, the most practical skill, how to design a reward and spot when the robot is cheating it. Keep PPO at the level of intuition: you need to tune and diagnose rewards, not derive equations.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the core idea of reinforcement learning, with no mathematics beyond adding numbers.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teaching a dog to sit. You do not move its legs into position. You wait for it to try something, and when it gets closer to sitting, it gets a treat. Over many attempts, it repeats what earned treats. Nobody showed it how.</a:t>
            </a:r>
          </a:p>
          <a:p/>
          <a:p>
            <a:r>
              <a:t>Reinforcement learning has the same structure. The agent, which is our policy, takes an action. The environment, our simulated world, responds with a new observation and a reward: a single number saying how good that step was. Then it repeats, step after step, until the episode ends. The agent's goal is to collect as much reward as possible over the whole episode, not just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vocabulary on the exact task you will train. Each step, the policy observes twenty-five numbers: six joint positions, six joint velocities, the seven numbers describing the target pose, and the six numbers of the action it took last time. It outputs six numbers, one target for each joint, as small offsets from its starting pose.</a:t>
            </a:r>
          </a:p>
          <a:p/>
          <a:p>
            <a:r>
              <a:t>The reward is a single number each step. An episode lasts twelve seconds, which at thirty decisions a second is three hundred and sixty steps. The return is the sum of all the rewards in an episode, and the policy is the neural network that turns observations into actions. Training means changing that network so the return gets bigger.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add up some real numbers. The two main terms of the Reach reward are a coarse term, minus zero point two times the distance, and a fine term that only becomes large when the gripper is within about ten centimetres. Watch the arm approach over five steps: at thirty centimetres the reward is negative; by two centimetres it is clearly positive. The return for these five steps is the sum, plus zero point zero two eight.</a:t>
            </a:r>
          </a:p>
          <a:p/>
          <a:p>
            <a:r>
              <a:t>The key insight: a policy that gets close quickly spends more of its three hundred and sixty steps in the positive region, so its return is bigger. Nobody told the arm how to bend its joints. The score alone defines what good means.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know supervised learning from the diploma. Every input in the dataset comes with the correct answer, and the model learns by reducing its error against that answer. Imitation learning, which we meet in Block E, works the same way: the recorded human action is the answer.</a:t>
            </a:r>
          </a:p>
          <a:p/>
          <a:p>
            <a:r>
              <a:t>Reinforcement learning has no answer key. The robot generates its own data by trying things, and each step gets a score. What you, the engineer, write is not a dataset but a reward function. That makes the reward your only lever. If the robot does something you did not want, you cannot show it the right way. You can only change how you score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RL policy starts out random. On the left, untrained arms flail, because the policy has learned nothing yet. That randomness is useful: it is how the robot discovers that some movements earn more reward. This is exploration. On the right is the same task after training: the arms reach smoothly. The policy now exploits what it has learned.</a:t>
            </a:r>
          </a:p>
          <a:p/>
          <a:p>
            <a:r>
              <a:t>The balance matters. Too little exploration and the robot gets stuck on the first trick that half-works. Too much and it never settles. PPO starts with a lot of randomness in its actions and reduces it as it learns. Instructor: record both clips from Isaac Lab while preparing; the random_agent and play commands are in the Lab 6 guide.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break: how the learning actually happens, and why we need a simulator to do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PPO, Proximal Policy Optimization, is the algorithm Isaac Lab uses. One iteration goes round this loop. First, all the simulated arms act with the current policy for twenty-four steps. Second, a helper network called the critic estimates how good each situation usually is. Third, we compare: which actions turned out better than the critic expected? That difference is called the advantage. Fourth, we nudge the policy towards those better actions, but only by a small, clipped step. That is the proximal part: big jumps make training collapse. Fifth, we throw that experience away and repeat with the improved policy.</a:t>
            </a:r>
          </a:p>
          <a:p/>
          <a:p>
            <a:r>
              <a:t>The Reach task runs one thousand of these iterations. Because PPO only learns from fresh experience made by the current policy, we call it on-policy.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PPO uses two networks. The actor is the policy itself: twenty-five numbers in, six actions out. It is the part we export and later run on the real arm. The critic is like a coach: it looks at the same situation and predicts one number, how much reward usually follows from here. It is only used during training, to judge whether an action did better or worse than expected.</a:t>
            </a:r>
          </a:p>
          <a:p/>
          <a:p>
            <a:r>
              <a:t>Both are small. For Reach each has two hidden layers of sixty-four units, around six thousand weights in the actor. That is tiny compared with the image models you trained earlier in the diploma. In robot RL, the network is rarely the expensive part.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why simulation is essential for reinforcement learning. In Lab 6 you will run one thousand and twenty-four arms at once. Each iteration, each arm takes twenty-four steps, so one iteration produces about twenty-four and a half thousand steps of experience. One thousand iterations is about twenty-four and a half million steps.</a:t>
            </a:r>
          </a:p>
          <a:p/>
          <a:p>
            <a:r>
              <a:t>How long would that take on one real arm? At thirty steps per second, about nine and a half days of non-stop practice, with someone resetting the arm after every episode. On one graphics card, the simulator does it in minutes. Instructor: show a screenshot of your own 1,024-arm run here; the legged_gym project video is a good addition.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surprise for people coming from image models: in robot RL, most of the graphics card's work is simulating physics, not running the network. The numbers on this chart are illustrative, not measured, but the shape is right for a state-only task like Reach.</a:t>
            </a:r>
          </a:p>
          <a:p/>
          <a:p>
            <a:r>
              <a:t>Three practical consequences. A small network is enough. If your GPU runs out of memory, the fix is fewer arms with the num_envs option, which makes learning slower but still works. And adding cameras makes every arm much more expensive, which is why camera-based tasks use far fewer arms.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training you watch curves in TensorBoard. The most important is the mean episode reward: it should rise and then flatten as the policy stops improving. For Reach, episode length stays flat at three hundred and sixty steps, because the only way an episode ends is the twelve-second time-out. In tasks where failure ends the episode early, like dropping the cube, episode length is informative too.</a:t>
            </a:r>
          </a:p>
          <a:p/>
          <a:p>
            <a:r>
              <a:t>And a warning that leads into Part 3. A rising reward curve only proves that the score went up. It does not prove the robot is doing what you wanted. You must always watch the video. Instructor: replace this illustrative curve with a screenshot from your own Reach run.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how a task is written in Isaac Lab, and how to design a reward that teaches what you mean.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Isaac Lab task is written as a configuration file with these eight parts. The scene: the robot, table, objects and lights. Observations: what the policy sees. Actions: what it controls. Commands: the goal it is given, such as a target pose. Rewards: how each step is scored, highlighted in red because that is today's focus. Terminations: when an episode ends. Events: resets and the randomisation you met in Lab 4. And curriculum: changes made during training.</a:t>
            </a:r>
          </a:p>
          <a:p/>
          <a:p>
            <a:r>
              <a:t>Each of these is one block in the task's config file. In Lab 6 your first activity is to open the Reach config and label each block with one of these names.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method to use whenever you design a reward. Start with what you want in physical terms. Turn it into a quantity the simulator can measure. Then turn that quantity into a reward term.</a:t>
            </a:r>
          </a:p>
          <a:p/>
          <a:p>
            <a:r>
              <a:t>“Get the gripper to the target” becomes the distance between the gripper and the target, which becomes a penalty proportional to that distance. “Arrive precisely” uses the same distance but a term that only grows when it is very small. “Move smoothly” becomes the change in action between steps, with a tiny penalty. “Don't flail” becomes the joint speeds, also with a tiny penalty. The rule at the bottom is worth remembering: if the simulator cannot measure it, you cannot reward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reward in the Reach task you will train, from the isaac_so_arm101 project. The first term, weight minus zero point two, is the constant pull: every step, the robot loses reward in proportion to its distance from the target. The second term, plus zero point one, is the precision bonus that only matters within about ten centimetres. There is an orientation term in the shared config, but for the SO-101 its weight is set to zero, because with five arm joints the gripper cannot reach every orientation. Then two tiny penalties for jerky actions and fast joints.</a:t>
            </a:r>
          </a:p>
          <a:p/>
          <a:p>
            <a:r>
              <a:t>At the bottom is the curriculum. After four and a half thousand steps, around iteration one hundred and ninety, the two smoothness penalties are raised fifty times and ten times. Hold that thought for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are these weights so different, from zero point two down to zero point zero zero zero one? This chart uses a log scale, so each gridline is ten times the one before.</a:t>
            </a:r>
          </a:p>
          <a:p/>
          <a:p>
            <a:r>
              <a:t>The position term is big because it must always give the robot a direction. The smoothness penalties start a thousand times smaller. If they were large from the beginning, the safest strategy for a random policy would be to barely move, and it would never discover how to reach. Once the arm has learned to reach, the curriculum raises the penalties, and the policy learns to do it smoothly. Learn to reach first, then learn to reach politely. Getting these relative sizes right is most of the craft of reward design.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Reward hacking is when the policy finds a way to score well that is not what you meant. It is not a bug in the algorithm; the algorithm is doing exactly its job, which is to maximise the number you wrote.</a:t>
            </a:r>
          </a:p>
          <a:p/>
          <a:p>
            <a:r>
              <a:t>Four examples relevant to our arm. Without a smoothness penalty, the arm can vibrate around the target and still collect the precision bonus. With penalties that are too big, the lazy robot learns that standing still loses the least. In a lifting task that only checks the cube's height, the arm can learn to flick the cube into the air rather than grasp it. And if the lifted threshold is too low, it can nudge the cube just over the line. In every case the reward curve looks healthy. That is why you always watch the video.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ten minutes, in pairs. Here are four changes to the Reach reward. For each, sketch or describe what you think the trained arm will do. Keep your predictions: in Lab 6 each pod member trains one of these variants, and we compare the videos with what you predicted.</a:t>
            </a:r>
          </a:p>
          <a:p/>
          <a:p>
            <a:r>
              <a:t>Expected answers for discussion. A: the arm gets roughly near the target but is less precise at the end. B: it reaches, but with jerky, buzzing motion. C: the lazy robot; it barely moves, or moves very slowly. D: the reward now pays for being far away, so the arm learns to move its gripper as far from the target as it can.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before you go. Suggested answers: the return is the total reward over an episode; the policy is the network that maps observations to actions. PPO throws its experience away after each update and keeps updates small so training stays stable. Position term gets close, fine term makes it precise, action-rate penalty makes it smooth. Any of the four hacking examples with its fix is a good answer.</a:t>
            </a:r>
          </a:p>
          <a:p/>
          <a:p>
            <a:r>
              <a:t>Instructor: the most-missed question becomes the entry check for Lab 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week you train this exact policy. At the sim station you will label each block of the Reach config, train it, read the curves, play it, and train one of today's reward variants to test your prediction. The policy you play is exported automatically, and we put it on the real arm in Lab 8.</a:t>
            </a:r>
          </a:p>
          <a:p/>
          <a:p>
            <a:r>
              <a:t>At the arm station you will build the table that converts between simulated joint angles and the real arm's readings, which Lab 8 depends on. Bring your predictions and your joint table from Lab 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Hugging Face Deep RL course is the best place to go further at your own pace, and Spinning Up is short and precise. The Isaac Lab tutorial and the isaac_so_arm101 source are what you will use in the 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30229"/>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
        <p:nvSpPr>
          <p:cNvPr id="6" name="Footer Placeholder 5">
            <a:extLst>
              <a:ext uri="{FF2B5EF4-FFF2-40B4-BE49-F238E27FC236}">
                <a16:creationId xmlns:a16="http://schemas.microsoft.com/office/drawing/2014/main" id="{9BE200EA-5608-25F7-9D16-8618AB8F1329}"/>
              </a:ext>
            </a:extLst>
          </p:cNvPr>
          <p:cNvSpPr>
            <a:spLocks noGrp="1"/>
          </p:cNvSpPr>
          <p:nvPr>
            <p:ph type="ftr" sz="quarter" idx="13"/>
          </p:nvPr>
        </p:nvSpPr>
        <p:spPr>
          <a:xfrm>
            <a:off x="542018" y="6492875"/>
            <a:ext cx="4114800" cy="365125"/>
          </a:xfrm>
        </p:spPr>
        <p:txBody>
          <a:bodyPr/>
          <a:lstStyle/>
          <a:p>
            <a:pPr algn="l"/>
            <a:r>
              <a:rPr lang="it-IT"/>
              <a:t>ITI121 Generative AI - PDC in Generative AI &amp; Deep Learning</a:t>
            </a:r>
            <a:endParaRPr lang="en-SG" dirty="0"/>
          </a:p>
        </p:txBody>
      </p:sp>
      <p:sp>
        <p:nvSpPr>
          <p:cNvPr id="7" name="Slide Number Placeholder 6">
            <a:extLst>
              <a:ext uri="{FF2B5EF4-FFF2-40B4-BE49-F238E27FC236}">
                <a16:creationId xmlns:a16="http://schemas.microsoft.com/office/drawing/2014/main" id="{934C0804-8576-3D7C-894B-CB09C4D33808}"/>
              </a:ext>
            </a:extLst>
          </p:cNvPr>
          <p:cNvSpPr>
            <a:spLocks noGrp="1"/>
          </p:cNvSpPr>
          <p:nvPr>
            <p:ph type="sldNum" sz="quarter" idx="14"/>
          </p:nvPr>
        </p:nvSpPr>
        <p:spPr>
          <a:xfrm>
            <a:off x="8610600" y="6492874"/>
            <a:ext cx="2743200" cy="365125"/>
          </a:xfrm>
        </p:spPr>
        <p:txBody>
          <a:bodyPr/>
          <a:lstStyle/>
          <a:p>
            <a:fld id="{CE19DD2C-80DA-488C-99A4-6C8CE83C9C30}" type="slidenum">
              <a:rPr lang="en-SG" smtClean="0"/>
              <a:t>‹#›</a:t>
            </a:fld>
            <a:endParaRPr lang="en-SG"/>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356323" y="1528131"/>
            <a:ext cx="5337923" cy="1866872"/>
          </a:xfrm>
          <a:prstGeom prst="rect">
            <a:avLst/>
          </a:prstGeom>
        </p:spPr>
        <p:txBody>
          <a:bodyPr/>
          <a:lstStyle>
            <a:lvl1pPr>
              <a:lnSpc>
                <a:spcPct val="80000"/>
              </a:lnSpc>
              <a:defRPr sz="6667"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356323" y="3549449"/>
            <a:ext cx="4813671" cy="999104"/>
          </a:xfrm>
          <a:prstGeom prst="rect">
            <a:avLst/>
          </a:prstGeom>
        </p:spPr>
        <p:txBody>
          <a:bodyPr/>
          <a:lstStyle>
            <a:lvl1pPr>
              <a:defRPr sz="1867"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6936865" y="138470"/>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547" y="393707"/>
            <a:ext cx="2822077" cy="584956"/>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10798933" y="5465604"/>
            <a:ext cx="1375097" cy="141319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11360201" y="5062314"/>
            <a:ext cx="311071" cy="222084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1058466" y="3902882"/>
            <a:ext cx="5774133" cy="295580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400" b="1" dirty="0"/>
              <a:t> </a:t>
            </a:r>
          </a:p>
        </p:txBody>
      </p:sp>
    </p:spTree>
    <p:extLst>
      <p:ext uri="{BB962C8B-B14F-4D97-AF65-F5344CB8AC3E}">
        <p14:creationId xmlns:p14="http://schemas.microsoft.com/office/powerpoint/2010/main" val="15511982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85A33-1C05-0A99-DEA3-DBBDF06F2471}"/>
              </a:ext>
            </a:extLst>
          </p:cNvPr>
          <p:cNvSpPr>
            <a:spLocks noGrp="1"/>
          </p:cNvSpPr>
          <p:nvPr>
            <p:ph type="body" sz="quarter" idx="12"/>
          </p:nvPr>
        </p:nvSpPr>
        <p:spPr>
          <a:xfrm>
            <a:off x="757451" y="1963253"/>
            <a:ext cx="6198982" cy="1613597"/>
          </a:xfrm>
        </p:spPr>
        <p:txBody>
          <a:bodyPr>
            <a:normAutofit/>
          </a:bodyPr>
          <a:lstStyle/>
          <a:p>
            <a:pPr marL="0" indent="0">
              <a:lnSpc>
                <a:spcPct val="110000"/>
              </a:lnSpc>
              <a:spcAft>
                <a:spcPts val="600"/>
              </a:spcAft>
              <a:buNone/>
            </a:pPr>
            <a:r>
              <a:rPr lang="en-SG" sz="4800" dirty="0"/>
              <a:t>Reinforcement Learning I</a:t>
            </a:r>
          </a:p>
          <a:p>
            <a:pPr marL="0" indent="0">
              <a:buNone/>
            </a:pPr>
            <a:r>
              <a:rPr sz="2000" b="1">
                <a:solidFill>
                  <a:srgbClr val="164194"/>
                </a:solidFill>
              </a:rPr>
              <a:t>Learning by trial</a:t>
            </a:r>
          </a:p>
          <a:p>
            <a:pPr marL="0" indent="0">
              <a:buNone/>
            </a:pPr>
            <a:r>
              <a:rPr sz="2000" b="1">
                <a:solidFill>
                  <a:srgbClr val="164194"/>
                </a:solidFill>
              </a:rPr>
              <a:t>and reward</a:t>
            </a:r>
          </a:p>
          <a:p>
            <a:pPr marL="0" indent="0">
              <a:buNone/>
            </a:pPr>
            <a:r>
              <a:rPr sz="1400" b="0">
                <a:solidFill>
                  <a:srgbClr val="5B6275"/>
                </a:solidFill>
              </a:rPr>
              <a:t>Data Acquisition &amp; Policy Learning · Lesson 5</a:t>
            </a:r>
          </a:p>
        </p:txBody>
      </p:sp>
    </p:spTree>
    <p:extLst>
      <p:ext uri="{BB962C8B-B14F-4D97-AF65-F5344CB8AC3E}">
        <p14:creationId xmlns:p14="http://schemas.microsoft.com/office/powerpoint/2010/main" val="3496168159"/>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we are: Block C · reinforcement learning in simulation</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2834639" y="1801368"/>
            <a:ext cx="1463040" cy="603504"/>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Simulate</a:t>
            </a:r>
          </a:p>
        </p:txBody>
      </p:sp>
      <p:sp>
        <p:nvSpPr>
          <p:cNvPr id="8" name="Rounded Rectangle 7"/>
          <p:cNvSpPr/>
          <p:nvPr/>
        </p:nvSpPr>
        <p:spPr>
          <a:xfrm>
            <a:off x="4299643" y="264718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Collect data</a:t>
            </a:r>
          </a:p>
        </p:txBody>
      </p:sp>
      <p:sp>
        <p:nvSpPr>
          <p:cNvPr id="9" name="Rounded Rectangle 8"/>
          <p:cNvSpPr/>
          <p:nvPr/>
        </p:nvSpPr>
        <p:spPr>
          <a:xfrm>
            <a:off x="4299643" y="4338828"/>
            <a:ext cx="1463040" cy="603504"/>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Train</a:t>
            </a:r>
          </a:p>
        </p:txBody>
      </p:sp>
      <p:sp>
        <p:nvSpPr>
          <p:cNvPr id="10" name="Rounded Rectangle 9"/>
          <p:cNvSpPr/>
          <p:nvPr/>
        </p:nvSpPr>
        <p:spPr>
          <a:xfrm>
            <a:off x="2834639" y="518464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Evaluate</a:t>
            </a:r>
          </a:p>
        </p:txBody>
      </p:sp>
      <p:sp>
        <p:nvSpPr>
          <p:cNvPr id="11" name="Rounded Rectangle 10"/>
          <p:cNvSpPr/>
          <p:nvPr/>
        </p:nvSpPr>
        <p:spPr>
          <a:xfrm>
            <a:off x="1369636" y="433882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Deploy</a:t>
            </a:r>
          </a:p>
        </p:txBody>
      </p:sp>
      <p:sp>
        <p:nvSpPr>
          <p:cNvPr id="12" name="Rounded Rectangle 11"/>
          <p:cNvSpPr/>
          <p:nvPr/>
        </p:nvSpPr>
        <p:spPr>
          <a:xfrm>
            <a:off x="1369636" y="2647188"/>
            <a:ext cx="1463040" cy="603504"/>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Improve</a:t>
            </a:r>
          </a:p>
        </p:txBody>
      </p:sp>
      <p:cxnSp>
        <p:nvCxnSpPr>
          <p:cNvPr id="13" name="Connector 12"/>
          <p:cNvCxnSpPr/>
          <p:nvPr/>
        </p:nvCxnSpPr>
        <p:spPr>
          <a:xfrm>
            <a:off x="4033377" y="2372868"/>
            <a:ext cx="530568" cy="306324"/>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31163" y="3488436"/>
            <a:ext cx="0" cy="612648"/>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4033377" y="4910328"/>
            <a:ext cx="530568" cy="306324"/>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568374" y="4910328"/>
            <a:ext cx="530568" cy="306324"/>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101156" y="3488436"/>
            <a:ext cx="0" cy="612648"/>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568374" y="2372868"/>
            <a:ext cx="530568" cy="306324"/>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560320" y="3474720"/>
            <a:ext cx="201168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5B6275"/>
                </a:solidFill>
              </a:rPr>
              <a:t>Physical AI</a:t>
            </a:r>
          </a:p>
          <a:p>
            <a:pPr algn="ctr"/>
            <a:r>
              <a:rPr sz="1400" b="0" i="0">
                <a:solidFill>
                  <a:srgbClr val="5B6275"/>
                </a:solidFill>
              </a:rPr>
              <a:t>lifecycle</a:t>
            </a:r>
          </a:p>
        </p:txBody>
      </p:sp>
      <p:sp>
        <p:nvSpPr>
          <p:cNvPr id="20" name="Rounded Rectangle 19"/>
          <p:cNvSpPr/>
          <p:nvPr/>
        </p:nvSpPr>
        <p:spPr>
          <a:xfrm>
            <a:off x="6675120" y="1508760"/>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A</a:t>
            </a:r>
          </a:p>
        </p:txBody>
      </p:sp>
      <p:sp>
        <p:nvSpPr>
          <p:cNvPr id="21" name="Rectangle 20"/>
          <p:cNvSpPr/>
          <p:nvPr/>
        </p:nvSpPr>
        <p:spPr>
          <a:xfrm>
            <a:off x="7269480" y="1490472"/>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Foundations</a:t>
            </a:r>
            <a:r>
              <a:rPr sz="1300" b="0" i="0">
                <a:solidFill>
                  <a:srgbClr val="5B6275"/>
                </a:solidFill>
              </a:rPr>
              <a:t>   L1–L2</a:t>
            </a:r>
          </a:p>
        </p:txBody>
      </p:sp>
      <p:sp>
        <p:nvSpPr>
          <p:cNvPr id="22" name="Rounded Rectangle 21"/>
          <p:cNvSpPr/>
          <p:nvPr/>
        </p:nvSpPr>
        <p:spPr>
          <a:xfrm>
            <a:off x="6675120" y="2130552"/>
            <a:ext cx="502920" cy="475488"/>
          </a:xfrm>
          <a:prstGeom prst="roundRect">
            <a:avLst>
              <a:gd name="adj" fmla="val 12000"/>
            </a:avLst>
          </a:prstGeom>
          <a:solidFill>
            <a:srgbClr val="C9D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B</a:t>
            </a:r>
          </a:p>
        </p:txBody>
      </p:sp>
      <p:sp>
        <p:nvSpPr>
          <p:cNvPr id="23" name="Rectangle 22"/>
          <p:cNvSpPr/>
          <p:nvPr/>
        </p:nvSpPr>
        <p:spPr>
          <a:xfrm>
            <a:off x="7269480" y="2112264"/>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5B6275"/>
                </a:solidFill>
              </a:rPr>
              <a:t>Collecting robot data</a:t>
            </a:r>
            <a:r>
              <a:rPr sz="1300" b="0" i="0">
                <a:solidFill>
                  <a:srgbClr val="5B6275"/>
                </a:solidFill>
              </a:rPr>
              <a:t>   L3–L4</a:t>
            </a:r>
          </a:p>
        </p:txBody>
      </p:sp>
      <p:sp>
        <p:nvSpPr>
          <p:cNvPr id="24" name="Rounded Rectangle 23"/>
          <p:cNvSpPr/>
          <p:nvPr/>
        </p:nvSpPr>
        <p:spPr>
          <a:xfrm>
            <a:off x="6675120" y="2752344"/>
            <a:ext cx="502920" cy="475488"/>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C</a:t>
            </a:r>
          </a:p>
        </p:txBody>
      </p:sp>
      <p:sp>
        <p:nvSpPr>
          <p:cNvPr id="25" name="Rectangle 24"/>
          <p:cNvSpPr/>
          <p:nvPr/>
        </p:nvSpPr>
        <p:spPr>
          <a:xfrm>
            <a:off x="7269480" y="2734056"/>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RL in simulation</a:t>
            </a:r>
            <a:r>
              <a:rPr sz="1300" b="0" i="0">
                <a:solidFill>
                  <a:srgbClr val="5B6275"/>
                </a:solidFill>
              </a:rPr>
              <a:t>   L5–L6</a:t>
            </a:r>
          </a:p>
        </p:txBody>
      </p:sp>
      <p:sp>
        <p:nvSpPr>
          <p:cNvPr id="26" name="Rounded Rectangle 25"/>
          <p:cNvSpPr/>
          <p:nvPr/>
        </p:nvSpPr>
        <p:spPr>
          <a:xfrm>
            <a:off x="6675120" y="3374136"/>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D</a:t>
            </a:r>
          </a:p>
        </p:txBody>
      </p:sp>
      <p:sp>
        <p:nvSpPr>
          <p:cNvPr id="27" name="Rectangle 26"/>
          <p:cNvSpPr/>
          <p:nvPr/>
        </p:nvSpPr>
        <p:spPr>
          <a:xfrm>
            <a:off x="7269480" y="3355848"/>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RL: sim → real arm</a:t>
            </a:r>
            <a:r>
              <a:rPr sz="1300" b="0" i="0">
                <a:solidFill>
                  <a:srgbClr val="5B6275"/>
                </a:solidFill>
              </a:rPr>
              <a:t>   L7–L8</a:t>
            </a:r>
          </a:p>
        </p:txBody>
      </p:sp>
      <p:sp>
        <p:nvSpPr>
          <p:cNvPr id="28" name="Rounded Rectangle 27"/>
          <p:cNvSpPr/>
          <p:nvPr/>
        </p:nvSpPr>
        <p:spPr>
          <a:xfrm>
            <a:off x="6675120" y="3995928"/>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E</a:t>
            </a:r>
          </a:p>
        </p:txBody>
      </p:sp>
      <p:sp>
        <p:nvSpPr>
          <p:cNvPr id="29" name="Rectangle 28"/>
          <p:cNvSpPr/>
          <p:nvPr/>
        </p:nvSpPr>
        <p:spPr>
          <a:xfrm>
            <a:off x="7269480" y="3977640"/>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Imitation learning</a:t>
            </a:r>
            <a:r>
              <a:rPr sz="1300" b="0" i="0">
                <a:solidFill>
                  <a:srgbClr val="5B6275"/>
                </a:solidFill>
              </a:rPr>
              <a:t>   L9–L10</a:t>
            </a:r>
          </a:p>
        </p:txBody>
      </p:sp>
      <p:sp>
        <p:nvSpPr>
          <p:cNvPr id="30" name="Rounded Rectangle 29"/>
          <p:cNvSpPr/>
          <p:nvPr/>
        </p:nvSpPr>
        <p:spPr>
          <a:xfrm>
            <a:off x="6675120" y="4617720"/>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F</a:t>
            </a:r>
          </a:p>
        </p:txBody>
      </p:sp>
      <p:sp>
        <p:nvSpPr>
          <p:cNvPr id="31" name="Rectangle 30"/>
          <p:cNvSpPr/>
          <p:nvPr/>
        </p:nvSpPr>
        <p:spPr>
          <a:xfrm>
            <a:off x="7269480" y="4599432"/>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Evaluate &amp; deploy IL</a:t>
            </a:r>
            <a:r>
              <a:rPr sz="1300" b="0" i="0">
                <a:solidFill>
                  <a:srgbClr val="5B6275"/>
                </a:solidFill>
              </a:rPr>
              <a:t>   L11–L12</a:t>
            </a:r>
          </a:p>
        </p:txBody>
      </p:sp>
      <p:sp>
        <p:nvSpPr>
          <p:cNvPr id="32" name="Rounded Rectangle 31"/>
          <p:cNvSpPr/>
          <p:nvPr/>
        </p:nvSpPr>
        <p:spPr>
          <a:xfrm>
            <a:off x="6675120" y="5239512"/>
            <a:ext cx="502920" cy="475488"/>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G</a:t>
            </a:r>
          </a:p>
        </p:txBody>
      </p:sp>
      <p:sp>
        <p:nvSpPr>
          <p:cNvPr id="33" name="Rectangle 32"/>
          <p:cNvSpPr/>
          <p:nvPr/>
        </p:nvSpPr>
        <p:spPr>
          <a:xfrm>
            <a:off x="7269480" y="5221224"/>
            <a:ext cx="4206240" cy="5120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1F2433"/>
                </a:solidFill>
              </a:rPr>
              <a:t>Vision-language-action</a:t>
            </a:r>
            <a:r>
              <a:rPr sz="1300" b="0" i="0">
                <a:solidFill>
                  <a:srgbClr val="5B6275"/>
                </a:solidFill>
              </a:rPr>
              <a:t>   L13–L14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Entry check: three questions on Lessons 3–4</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600200"/>
            <a:ext cx="8229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800" b="1" i="0">
                <a:solidFill>
                  <a:srgbClr val="FFFFFF"/>
                </a:solidFill>
              </a:rPr>
              <a:t>1</a:t>
            </a:r>
          </a:p>
        </p:txBody>
      </p:sp>
      <p:sp>
        <p:nvSpPr>
          <p:cNvPr id="8" name="Rounded Rectangle 7"/>
          <p:cNvSpPr/>
          <p:nvPr/>
        </p:nvSpPr>
        <p:spPr>
          <a:xfrm>
            <a:off x="1554480" y="1600200"/>
            <a:ext cx="10058400" cy="9601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0" i="0">
                <a:solidFill>
                  <a:srgbClr val="1F2433"/>
                </a:solidFill>
              </a:rPr>
              <a:t>In Isaac Lab, when does an event with mode="reset" run?</a:t>
            </a:r>
          </a:p>
        </p:txBody>
      </p:sp>
      <p:sp>
        <p:nvSpPr>
          <p:cNvPr id="9" name="Rounded Rectangle 8"/>
          <p:cNvSpPr/>
          <p:nvPr/>
        </p:nvSpPr>
        <p:spPr>
          <a:xfrm>
            <a:off x="548640" y="2788920"/>
            <a:ext cx="8229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800" b="1" i="0">
                <a:solidFill>
                  <a:srgbClr val="FFFFFF"/>
                </a:solidFill>
              </a:rPr>
              <a:t>2</a:t>
            </a:r>
          </a:p>
        </p:txBody>
      </p:sp>
      <p:sp>
        <p:nvSpPr>
          <p:cNvPr id="10" name="Rounded Rectangle 9"/>
          <p:cNvSpPr/>
          <p:nvPr/>
        </p:nvSpPr>
        <p:spPr>
          <a:xfrm>
            <a:off x="1554480" y="2788920"/>
            <a:ext cx="10058400" cy="9601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0" i="0">
                <a:solidFill>
                  <a:srgbClr val="1F2433"/>
                </a:solidFill>
              </a:rPr>
              <a:t>Name the three parts of the reality gap and one randomisation for each.</a:t>
            </a:r>
          </a:p>
        </p:txBody>
      </p:sp>
      <p:sp>
        <p:nvSpPr>
          <p:cNvPr id="11" name="Rounded Rectangle 10"/>
          <p:cNvSpPr/>
          <p:nvPr/>
        </p:nvSpPr>
        <p:spPr>
          <a:xfrm>
            <a:off x="548640" y="3977639"/>
            <a:ext cx="822960" cy="9601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800" b="1" i="0">
                <a:solidFill>
                  <a:srgbClr val="FFFFFF"/>
                </a:solidFill>
              </a:rPr>
              <a:t>3</a:t>
            </a:r>
          </a:p>
        </p:txBody>
      </p:sp>
      <p:sp>
        <p:nvSpPr>
          <p:cNvPr id="12" name="Rounded Rectangle 11"/>
          <p:cNvSpPr/>
          <p:nvPr/>
        </p:nvSpPr>
        <p:spPr>
          <a:xfrm>
            <a:off x="1554480" y="3977639"/>
            <a:ext cx="10058400" cy="9601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900" b="0" i="0">
                <a:solidFill>
                  <a:srgbClr val="1F2433"/>
                </a:solidFill>
              </a:rPr>
              <a:t>In the Reach demo from Lab 2, what did each arm try to do?</a:t>
            </a:r>
          </a:p>
        </p:txBody>
      </p:sp>
      <p:sp>
        <p:nvSpPr>
          <p:cNvPr id="13" name="Rectangle 12"/>
          <p:cNvSpPr/>
          <p:nvPr/>
        </p:nvSpPr>
        <p:spPr>
          <a:xfrm>
            <a:off x="548640" y="5349240"/>
            <a:ext cx="110642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0" i="1">
                <a:solidFill>
                  <a:srgbClr val="5B6275"/>
                </a:solidFill>
              </a:rPr>
              <a:t>5 minutes, on paper or in the poll. We go through the answers together.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outcomes</a:t>
            </a:r>
          </a:p>
        </p:txBody>
      </p:sp>
      <p:sp>
        <p:nvSpPr>
          <p:cNvPr id="3" name="Text Placeholder 2"/>
          <p:cNvSpPr>
            <a:spLocks noGrp="1"/>
          </p:cNvSpPr>
          <p:nvPr>
            <p:ph type="body" idx="11" sz="quarter"/>
          </p:nvPr>
        </p:nvSpPr>
        <p:spPr/>
        <p:txBody>
          <a:bodyPr/>
          <a:lstStyle/>
          <a:p>
            <a:pPr/>
            <a:r>
              <a:rPr sz="2200"/>
              <a:t>By the end of this lesson you should be able to:</a:t>
            </a:r>
          </a:p>
          <a:p>
            <a:pPr lvl="1"/>
            <a:r>
              <a:rPr sz="2000"/>
              <a:t>describe the agent–environment loop and define state, action, reward, episode, return and policy</a:t>
            </a:r>
          </a:p>
          <a:p>
            <a:pPr lvl="1"/>
            <a:r>
              <a:rPr sz="2000"/>
              <a:t>explain, at an intuitive level, how PPO improves a policy using many parallel simulated arms</a:t>
            </a:r>
          </a:p>
          <a:p>
            <a:pPr lvl="1"/>
            <a:r>
              <a:rPr sz="2000"/>
              <a:t>map the parts of an Isaac Lab task to observations, actions, rewards, terminations and events</a:t>
            </a:r>
          </a:p>
          <a:p>
            <a:pPr lvl="1"/>
            <a:r>
              <a:rPr sz="2000"/>
              <a:t>design reward terms from physics → measurable quantity → reward, and recognise reward hacking</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The RL idea</a:t>
            </a:r>
          </a:p>
          <a:p>
            <a:pPr algn="l"/>
            <a:r>
              <a:rPr sz="1800" b="0" i="0">
                <a:solidFill>
                  <a:srgbClr val="DDE5F7"/>
                </a:solidFill>
              </a:rPr>
              <a:t>Learning by trying, with a score instead of an answer key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a trick: the agent–environment loop</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54480"/>
            <a:ext cx="3291840" cy="4114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800" b="1" i="0">
                <a:solidFill>
                  <a:srgbClr val="164194"/>
                </a:solidFill>
              </a:rPr>
              <a:t>Training a dog</a:t>
            </a:r>
          </a:p>
          <a:p>
            <a:pPr algn="l"/>
            <a:r>
              <a:rPr sz="1500" b="0" i="0">
                <a:solidFill>
                  <a:srgbClr val="1F2433"/>
                </a:solidFill>
              </a:rPr>
              <a:t>The dog tries something.</a:t>
            </a:r>
          </a:p>
          <a:p>
            <a:pPr algn="l"/>
            <a:r>
              <a:rPr sz="1500" b="0" i="0">
                <a:solidFill>
                  <a:srgbClr val="1F2433"/>
                </a:solidFill>
              </a:rPr>
              <a:t>A treat when it is close.</a:t>
            </a:r>
          </a:p>
          <a:p>
            <a:pPr algn="l"/>
            <a:r>
              <a:rPr sz="1500" b="0" i="0">
                <a:solidFill>
                  <a:srgbClr val="1F2433"/>
                </a:solidFill>
              </a:rPr>
              <a:t>Nothing when it is not.</a:t>
            </a:r>
          </a:p>
          <a:p>
            <a:pPr algn="l"/>
            <a:r>
              <a:rPr sz="1500" b="0" i="0">
                <a:solidFill>
                  <a:srgbClr val="1F2433"/>
                </a:solidFill>
              </a:rPr>
              <a:t>Over many tries, it repeats what earned treats.</a:t>
            </a:r>
          </a:p>
          <a:p>
            <a:pPr algn="l"/>
            <a:r>
              <a:rPr sz="1500" b="0" i="1">
                <a:solidFill>
                  <a:srgbClr val="5B6275"/>
                </a:solidFill>
              </a:rPr>
              <a:t>Nobody shows the dog how to sit.</a:t>
            </a:r>
          </a:p>
        </p:txBody>
      </p:sp>
      <p:sp>
        <p:nvSpPr>
          <p:cNvPr id="8" name="Rounded Rectangle 7"/>
          <p:cNvSpPr/>
          <p:nvPr/>
        </p:nvSpPr>
        <p:spPr>
          <a:xfrm>
            <a:off x="4846320" y="1828800"/>
            <a:ext cx="2377440" cy="11887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i="0">
                <a:solidFill>
                  <a:srgbClr val="FFFFFF"/>
                </a:solidFill>
              </a:rPr>
              <a:t>Agent</a:t>
            </a:r>
          </a:p>
          <a:p>
            <a:pPr algn="ctr"/>
            <a:r>
              <a:rPr sz="1400" b="0" i="0">
                <a:solidFill>
                  <a:srgbClr val="FFFFFF"/>
                </a:solidFill>
              </a:rPr>
              <a:t>the policy</a:t>
            </a:r>
          </a:p>
        </p:txBody>
      </p:sp>
      <p:sp>
        <p:nvSpPr>
          <p:cNvPr id="9" name="Rounded Rectangle 8"/>
          <p:cNvSpPr/>
          <p:nvPr/>
        </p:nvSpPr>
        <p:spPr>
          <a:xfrm>
            <a:off x="9052560" y="1828800"/>
            <a:ext cx="2560320" cy="11887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i="0">
                <a:solidFill>
                  <a:srgbClr val="FFFFFF"/>
                </a:solidFill>
              </a:rPr>
              <a:t>Environment</a:t>
            </a:r>
          </a:p>
          <a:p>
            <a:pPr algn="ctr"/>
            <a:r>
              <a:rPr sz="1400" b="0" i="0">
                <a:solidFill>
                  <a:srgbClr val="FFFFFF"/>
                </a:solidFill>
              </a:rPr>
              <a:t>the simulated world</a:t>
            </a:r>
          </a:p>
        </p:txBody>
      </p:sp>
      <p:cxnSp>
        <p:nvCxnSpPr>
          <p:cNvPr id="10" name="Connector 9"/>
          <p:cNvCxnSpPr/>
          <p:nvPr/>
        </p:nvCxnSpPr>
        <p:spPr>
          <a:xfrm>
            <a:off x="7269480" y="2148840"/>
            <a:ext cx="1737360" cy="0"/>
          </a:xfrm>
          <a:prstGeom prst="line">
            <a:avLst/>
          </a:prstGeom>
          <a:ln w="317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223760" y="1691640"/>
            <a:ext cx="182880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400" b="1" i="0">
                <a:solidFill>
                  <a:srgbClr val="164194"/>
                </a:solidFill>
              </a:rPr>
              <a:t>action</a:t>
            </a:r>
          </a:p>
        </p:txBody>
      </p:sp>
      <p:cxnSp>
        <p:nvCxnSpPr>
          <p:cNvPr id="12" name="Connector 11"/>
          <p:cNvCxnSpPr/>
          <p:nvPr/>
        </p:nvCxnSpPr>
        <p:spPr>
          <a:xfrm flipH="1">
            <a:off x="7269480" y="2788920"/>
            <a:ext cx="1737360" cy="0"/>
          </a:xfrm>
          <a:prstGeom prst="line">
            <a:avLst/>
          </a:prstGeom>
          <a:ln w="31750">
            <a:solidFill>
              <a:srgbClr val="0F6E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132320" y="2834640"/>
            <a:ext cx="2011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400" b="1" i="0">
                <a:solidFill>
                  <a:srgbClr val="0F6E6A"/>
                </a:solidFill>
              </a:rPr>
              <a:t>observation</a:t>
            </a:r>
          </a:p>
          <a:p>
            <a:pPr algn="ctr"/>
            <a:r>
              <a:rPr sz="1400" b="1" i="0">
                <a:solidFill>
                  <a:srgbClr val="0F6E6A"/>
                </a:solidFill>
              </a:rPr>
              <a:t>+ reward</a:t>
            </a:r>
          </a:p>
        </p:txBody>
      </p:sp>
      <p:sp>
        <p:nvSpPr>
          <p:cNvPr id="14" name="Rounded Rectangle 13"/>
          <p:cNvSpPr/>
          <p:nvPr/>
        </p:nvSpPr>
        <p:spPr>
          <a:xfrm>
            <a:off x="4846320" y="3931920"/>
            <a:ext cx="6766560" cy="17373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Repeat every step until the episode ends.</a:t>
            </a:r>
          </a:p>
          <a:p>
            <a:pPr algn="l"/>
            <a:r>
              <a:rPr sz="1500" b="0" i="0">
                <a:solidFill>
                  <a:srgbClr val="1F2433"/>
                </a:solidFill>
              </a:rPr>
              <a:t>The agent's goal is to collect as much reward as possible over the whole episode.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RL vocabulary on the SO-101 Reach task</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2377440" cy="621792"/>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Observation</a:t>
            </a:r>
          </a:p>
        </p:txBody>
      </p:sp>
      <p:sp>
        <p:nvSpPr>
          <p:cNvPr id="8" name="Rounded Rectangle 7"/>
          <p:cNvSpPr/>
          <p:nvPr/>
        </p:nvSpPr>
        <p:spPr>
          <a:xfrm>
            <a:off x="3063240" y="1508760"/>
            <a:ext cx="8549640" cy="621792"/>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joint positions (6) + joint velocities (6) + target pose (7) + last action (6) = 25 numbers</a:t>
            </a:r>
          </a:p>
        </p:txBody>
      </p:sp>
      <p:sp>
        <p:nvSpPr>
          <p:cNvPr id="9" name="Rounded Rectangle 8"/>
          <p:cNvSpPr/>
          <p:nvPr/>
        </p:nvSpPr>
        <p:spPr>
          <a:xfrm>
            <a:off x="548640" y="2221991"/>
            <a:ext cx="2377440" cy="621792"/>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Action</a:t>
            </a:r>
          </a:p>
        </p:txBody>
      </p:sp>
      <p:sp>
        <p:nvSpPr>
          <p:cNvPr id="10" name="Rounded Rectangle 9"/>
          <p:cNvSpPr/>
          <p:nvPr/>
        </p:nvSpPr>
        <p:spPr>
          <a:xfrm>
            <a:off x="3063240" y="2221991"/>
            <a:ext cx="8549640" cy="621792"/>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6 numbers: joint position targets, as offsets from the start pose</a:t>
            </a:r>
          </a:p>
        </p:txBody>
      </p:sp>
      <p:sp>
        <p:nvSpPr>
          <p:cNvPr id="11" name="Rounded Rectangle 10"/>
          <p:cNvSpPr/>
          <p:nvPr/>
        </p:nvSpPr>
        <p:spPr>
          <a:xfrm>
            <a:off x="548640" y="2935224"/>
            <a:ext cx="2377440" cy="621792"/>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Reward</a:t>
            </a:r>
          </a:p>
        </p:txBody>
      </p:sp>
      <p:sp>
        <p:nvSpPr>
          <p:cNvPr id="12" name="Rounded Rectangle 11"/>
          <p:cNvSpPr/>
          <p:nvPr/>
        </p:nvSpPr>
        <p:spPr>
          <a:xfrm>
            <a:off x="3063240" y="2935224"/>
            <a:ext cx="8549640" cy="621792"/>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one number per step: close to the target is good, jerky motion is slightly bad</a:t>
            </a:r>
          </a:p>
        </p:txBody>
      </p:sp>
      <p:sp>
        <p:nvSpPr>
          <p:cNvPr id="13" name="Rounded Rectangle 12"/>
          <p:cNvSpPr/>
          <p:nvPr/>
        </p:nvSpPr>
        <p:spPr>
          <a:xfrm>
            <a:off x="548640" y="3648456"/>
            <a:ext cx="2377440" cy="621792"/>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Episode</a:t>
            </a:r>
          </a:p>
        </p:txBody>
      </p:sp>
      <p:sp>
        <p:nvSpPr>
          <p:cNvPr id="14" name="Rounded Rectangle 13"/>
          <p:cNvSpPr/>
          <p:nvPr/>
        </p:nvSpPr>
        <p:spPr>
          <a:xfrm>
            <a:off x="3063240" y="3648456"/>
            <a:ext cx="8549640" cy="621792"/>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12 seconds = 360 steps at 30 Hz; then the arm resets</a:t>
            </a:r>
          </a:p>
        </p:txBody>
      </p:sp>
      <p:sp>
        <p:nvSpPr>
          <p:cNvPr id="15" name="Rounded Rectangle 14"/>
          <p:cNvSpPr/>
          <p:nvPr/>
        </p:nvSpPr>
        <p:spPr>
          <a:xfrm>
            <a:off x="548640" y="4361688"/>
            <a:ext cx="2377440" cy="621792"/>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Return</a:t>
            </a:r>
          </a:p>
        </p:txBody>
      </p:sp>
      <p:sp>
        <p:nvSpPr>
          <p:cNvPr id="16" name="Rounded Rectangle 15"/>
          <p:cNvSpPr/>
          <p:nvPr/>
        </p:nvSpPr>
        <p:spPr>
          <a:xfrm>
            <a:off x="3063240" y="4361688"/>
            <a:ext cx="8549640" cy="621792"/>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the total reward collected over one episode</a:t>
            </a:r>
          </a:p>
        </p:txBody>
      </p:sp>
      <p:sp>
        <p:nvSpPr>
          <p:cNvPr id="17" name="Rounded Rectangle 16"/>
          <p:cNvSpPr/>
          <p:nvPr/>
        </p:nvSpPr>
        <p:spPr>
          <a:xfrm>
            <a:off x="548640" y="5074920"/>
            <a:ext cx="2377440" cy="621792"/>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Policy</a:t>
            </a:r>
          </a:p>
        </p:txBody>
      </p:sp>
      <p:sp>
        <p:nvSpPr>
          <p:cNvPr id="18" name="Rounded Rectangle 17"/>
          <p:cNvSpPr/>
          <p:nvPr/>
        </p:nvSpPr>
        <p:spPr>
          <a:xfrm>
            <a:off x="3063240" y="5074920"/>
            <a:ext cx="8549640" cy="621792"/>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0" i="0">
                <a:solidFill>
                  <a:srgbClr val="1F2433"/>
                </a:solidFill>
              </a:rPr>
              <a:t>the neural network that turns each observation into an action</a:t>
            </a:r>
          </a:p>
        </p:txBody>
      </p:sp>
      <p:sp>
        <p:nvSpPr>
          <p:cNvPr id="19" name="Rectangle 18"/>
          <p:cNvSpPr/>
          <p:nvPr/>
        </p:nvSpPr>
        <p:spPr>
          <a:xfrm>
            <a:off x="548640" y="58521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100" b="0" i="1">
                <a:solidFill>
                  <a:srgbClr val="5B6275"/>
                </a:solidFill>
              </a:rPr>
              <a:t>Values from the Isaac-SO-ARM101-Reach-v0 task in isaac_so_arm101.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Worked example: the reward and the return</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ectangle 6"/>
          <p:cNvSpPr/>
          <p:nvPr/>
        </p:nvSpPr>
        <p:spPr>
          <a:xfrm>
            <a:off x="548640" y="1417320"/>
            <a:ext cx="110642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1" i="0">
                <a:solidFill>
                  <a:srgbClr val="164194"/>
                </a:solidFill>
              </a:rPr>
              <a:t>Reach reward per step = −0.2 × distance + 0.1 × (1 − tanh(distance ÷ 0.1))   (smoothness terms ignored here)</a:t>
            </a:r>
          </a:p>
        </p:txBody>
      </p:sp>
      <p:sp>
        <p:nvSpPr>
          <p:cNvPr id="8" name="Rounded Rectangle 7"/>
          <p:cNvSpPr/>
          <p:nvPr/>
        </p:nvSpPr>
        <p:spPr>
          <a:xfrm>
            <a:off x="548640" y="2011680"/>
            <a:ext cx="118872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Step</a:t>
            </a:r>
          </a:p>
        </p:txBody>
      </p:sp>
      <p:sp>
        <p:nvSpPr>
          <p:cNvPr id="9" name="Rounded Rectangle 8"/>
          <p:cNvSpPr/>
          <p:nvPr/>
        </p:nvSpPr>
        <p:spPr>
          <a:xfrm>
            <a:off x="1828800" y="2011680"/>
            <a:ext cx="228600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Distance to target</a:t>
            </a:r>
          </a:p>
        </p:txBody>
      </p:sp>
      <p:sp>
        <p:nvSpPr>
          <p:cNvPr id="10" name="Rounded Rectangle 9"/>
          <p:cNvSpPr/>
          <p:nvPr/>
        </p:nvSpPr>
        <p:spPr>
          <a:xfrm>
            <a:off x="4206240" y="2011680"/>
            <a:ext cx="173736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Coarse term</a:t>
            </a:r>
          </a:p>
        </p:txBody>
      </p:sp>
      <p:sp>
        <p:nvSpPr>
          <p:cNvPr id="11" name="Rounded Rectangle 10"/>
          <p:cNvSpPr/>
          <p:nvPr/>
        </p:nvSpPr>
        <p:spPr>
          <a:xfrm>
            <a:off x="6035040" y="2011680"/>
            <a:ext cx="173736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Fine term</a:t>
            </a:r>
          </a:p>
        </p:txBody>
      </p:sp>
      <p:sp>
        <p:nvSpPr>
          <p:cNvPr id="12" name="Rounded Rectangle 11"/>
          <p:cNvSpPr/>
          <p:nvPr/>
        </p:nvSpPr>
        <p:spPr>
          <a:xfrm>
            <a:off x="7863840" y="2011680"/>
            <a:ext cx="173736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Reward</a:t>
            </a:r>
          </a:p>
        </p:txBody>
      </p:sp>
      <p:sp>
        <p:nvSpPr>
          <p:cNvPr id="13" name="Rounded Rectangle 12"/>
          <p:cNvSpPr/>
          <p:nvPr/>
        </p:nvSpPr>
        <p:spPr>
          <a:xfrm>
            <a:off x="548640" y="2606040"/>
            <a:ext cx="118872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1</a:t>
            </a:r>
          </a:p>
        </p:txBody>
      </p:sp>
      <p:sp>
        <p:nvSpPr>
          <p:cNvPr id="14" name="Rounded Rectangle 13"/>
          <p:cNvSpPr/>
          <p:nvPr/>
        </p:nvSpPr>
        <p:spPr>
          <a:xfrm>
            <a:off x="1828800" y="2606040"/>
            <a:ext cx="228600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0.30 m</a:t>
            </a:r>
          </a:p>
        </p:txBody>
      </p:sp>
      <p:sp>
        <p:nvSpPr>
          <p:cNvPr id="15" name="Rounded Rectangle 14"/>
          <p:cNvSpPr/>
          <p:nvPr/>
        </p:nvSpPr>
        <p:spPr>
          <a:xfrm>
            <a:off x="4206240" y="260604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−0.060</a:t>
            </a:r>
          </a:p>
        </p:txBody>
      </p:sp>
      <p:sp>
        <p:nvSpPr>
          <p:cNvPr id="16" name="Rounded Rectangle 15"/>
          <p:cNvSpPr/>
          <p:nvPr/>
        </p:nvSpPr>
        <p:spPr>
          <a:xfrm>
            <a:off x="6035040" y="260604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+0.001</a:t>
            </a:r>
          </a:p>
        </p:txBody>
      </p:sp>
      <p:sp>
        <p:nvSpPr>
          <p:cNvPr id="17" name="Rounded Rectangle 16"/>
          <p:cNvSpPr/>
          <p:nvPr/>
        </p:nvSpPr>
        <p:spPr>
          <a:xfrm>
            <a:off x="7863840" y="2606040"/>
            <a:ext cx="1737360" cy="47548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−0.060</a:t>
            </a:r>
          </a:p>
        </p:txBody>
      </p:sp>
      <p:sp>
        <p:nvSpPr>
          <p:cNvPr id="18" name="Rounded Rectangle 17"/>
          <p:cNvSpPr/>
          <p:nvPr/>
        </p:nvSpPr>
        <p:spPr>
          <a:xfrm>
            <a:off x="548640" y="3154680"/>
            <a:ext cx="118872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2</a:t>
            </a:r>
          </a:p>
        </p:txBody>
      </p:sp>
      <p:sp>
        <p:nvSpPr>
          <p:cNvPr id="19" name="Rounded Rectangle 18"/>
          <p:cNvSpPr/>
          <p:nvPr/>
        </p:nvSpPr>
        <p:spPr>
          <a:xfrm>
            <a:off x="1828800" y="3154680"/>
            <a:ext cx="228600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0.20 m</a:t>
            </a:r>
          </a:p>
        </p:txBody>
      </p:sp>
      <p:sp>
        <p:nvSpPr>
          <p:cNvPr id="20" name="Rounded Rectangle 19"/>
          <p:cNvSpPr/>
          <p:nvPr/>
        </p:nvSpPr>
        <p:spPr>
          <a:xfrm>
            <a:off x="4206240" y="315468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−0.040</a:t>
            </a:r>
          </a:p>
        </p:txBody>
      </p:sp>
      <p:sp>
        <p:nvSpPr>
          <p:cNvPr id="21" name="Rounded Rectangle 20"/>
          <p:cNvSpPr/>
          <p:nvPr/>
        </p:nvSpPr>
        <p:spPr>
          <a:xfrm>
            <a:off x="6035040" y="315468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+0.004</a:t>
            </a:r>
          </a:p>
        </p:txBody>
      </p:sp>
      <p:sp>
        <p:nvSpPr>
          <p:cNvPr id="22" name="Rounded Rectangle 21"/>
          <p:cNvSpPr/>
          <p:nvPr/>
        </p:nvSpPr>
        <p:spPr>
          <a:xfrm>
            <a:off x="7863840" y="3154680"/>
            <a:ext cx="1737360" cy="475488"/>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−0.036</a:t>
            </a:r>
          </a:p>
        </p:txBody>
      </p:sp>
      <p:sp>
        <p:nvSpPr>
          <p:cNvPr id="23" name="Rounded Rectangle 22"/>
          <p:cNvSpPr/>
          <p:nvPr/>
        </p:nvSpPr>
        <p:spPr>
          <a:xfrm>
            <a:off x="548640" y="3703320"/>
            <a:ext cx="118872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3</a:t>
            </a:r>
          </a:p>
        </p:txBody>
      </p:sp>
      <p:sp>
        <p:nvSpPr>
          <p:cNvPr id="24" name="Rounded Rectangle 23"/>
          <p:cNvSpPr/>
          <p:nvPr/>
        </p:nvSpPr>
        <p:spPr>
          <a:xfrm>
            <a:off x="1828800" y="3703320"/>
            <a:ext cx="228600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0.10 m</a:t>
            </a:r>
          </a:p>
        </p:txBody>
      </p:sp>
      <p:sp>
        <p:nvSpPr>
          <p:cNvPr id="25" name="Rounded Rectangle 24"/>
          <p:cNvSpPr/>
          <p:nvPr/>
        </p:nvSpPr>
        <p:spPr>
          <a:xfrm>
            <a:off x="4206240" y="370332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−0.020</a:t>
            </a:r>
          </a:p>
        </p:txBody>
      </p:sp>
      <p:sp>
        <p:nvSpPr>
          <p:cNvPr id="26" name="Rounded Rectangle 25"/>
          <p:cNvSpPr/>
          <p:nvPr/>
        </p:nvSpPr>
        <p:spPr>
          <a:xfrm>
            <a:off x="6035040" y="370332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+0.024</a:t>
            </a:r>
          </a:p>
        </p:txBody>
      </p:sp>
      <p:sp>
        <p:nvSpPr>
          <p:cNvPr id="27" name="Rounded Rectangle 26"/>
          <p:cNvSpPr/>
          <p:nvPr/>
        </p:nvSpPr>
        <p:spPr>
          <a:xfrm>
            <a:off x="7863840" y="3703320"/>
            <a:ext cx="1737360" cy="47548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+0.004</a:t>
            </a:r>
          </a:p>
        </p:txBody>
      </p:sp>
      <p:sp>
        <p:nvSpPr>
          <p:cNvPr id="28" name="Rounded Rectangle 27"/>
          <p:cNvSpPr/>
          <p:nvPr/>
        </p:nvSpPr>
        <p:spPr>
          <a:xfrm>
            <a:off x="548640" y="4251960"/>
            <a:ext cx="118872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4</a:t>
            </a:r>
          </a:p>
        </p:txBody>
      </p:sp>
      <p:sp>
        <p:nvSpPr>
          <p:cNvPr id="29" name="Rounded Rectangle 28"/>
          <p:cNvSpPr/>
          <p:nvPr/>
        </p:nvSpPr>
        <p:spPr>
          <a:xfrm>
            <a:off x="1828800" y="4251960"/>
            <a:ext cx="228600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0.05 m</a:t>
            </a:r>
          </a:p>
        </p:txBody>
      </p:sp>
      <p:sp>
        <p:nvSpPr>
          <p:cNvPr id="30" name="Rounded Rectangle 29"/>
          <p:cNvSpPr/>
          <p:nvPr/>
        </p:nvSpPr>
        <p:spPr>
          <a:xfrm>
            <a:off x="4206240" y="425196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−0.010</a:t>
            </a:r>
          </a:p>
        </p:txBody>
      </p:sp>
      <p:sp>
        <p:nvSpPr>
          <p:cNvPr id="31" name="Rounded Rectangle 30"/>
          <p:cNvSpPr/>
          <p:nvPr/>
        </p:nvSpPr>
        <p:spPr>
          <a:xfrm>
            <a:off x="6035040" y="425196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+0.054</a:t>
            </a:r>
          </a:p>
        </p:txBody>
      </p:sp>
      <p:sp>
        <p:nvSpPr>
          <p:cNvPr id="32" name="Rounded Rectangle 31"/>
          <p:cNvSpPr/>
          <p:nvPr/>
        </p:nvSpPr>
        <p:spPr>
          <a:xfrm>
            <a:off x="7863840" y="4251960"/>
            <a:ext cx="1737360" cy="47548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+0.044</a:t>
            </a:r>
          </a:p>
        </p:txBody>
      </p:sp>
      <p:sp>
        <p:nvSpPr>
          <p:cNvPr id="33" name="Rounded Rectangle 32"/>
          <p:cNvSpPr/>
          <p:nvPr/>
        </p:nvSpPr>
        <p:spPr>
          <a:xfrm>
            <a:off x="548640" y="4800600"/>
            <a:ext cx="118872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5</a:t>
            </a:r>
          </a:p>
        </p:txBody>
      </p:sp>
      <p:sp>
        <p:nvSpPr>
          <p:cNvPr id="34" name="Rounded Rectangle 33"/>
          <p:cNvSpPr/>
          <p:nvPr/>
        </p:nvSpPr>
        <p:spPr>
          <a:xfrm>
            <a:off x="1828800" y="4800600"/>
            <a:ext cx="228600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0.02 m</a:t>
            </a:r>
          </a:p>
        </p:txBody>
      </p:sp>
      <p:sp>
        <p:nvSpPr>
          <p:cNvPr id="35" name="Rounded Rectangle 34"/>
          <p:cNvSpPr/>
          <p:nvPr/>
        </p:nvSpPr>
        <p:spPr>
          <a:xfrm>
            <a:off x="4206240" y="480060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−0.004</a:t>
            </a:r>
          </a:p>
        </p:txBody>
      </p:sp>
      <p:sp>
        <p:nvSpPr>
          <p:cNvPr id="36" name="Rounded Rectangle 35"/>
          <p:cNvSpPr/>
          <p:nvPr/>
        </p:nvSpPr>
        <p:spPr>
          <a:xfrm>
            <a:off x="6035040" y="4800600"/>
            <a:ext cx="1737360" cy="475488"/>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+0.080</a:t>
            </a:r>
          </a:p>
        </p:txBody>
      </p:sp>
      <p:sp>
        <p:nvSpPr>
          <p:cNvPr id="37" name="Rounded Rectangle 36"/>
          <p:cNvSpPr/>
          <p:nvPr/>
        </p:nvSpPr>
        <p:spPr>
          <a:xfrm>
            <a:off x="7863840" y="4800600"/>
            <a:ext cx="1737360" cy="475488"/>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F2433"/>
                </a:solidFill>
              </a:rPr>
              <a:t>+0.076</a:t>
            </a:r>
          </a:p>
        </p:txBody>
      </p:sp>
      <p:sp>
        <p:nvSpPr>
          <p:cNvPr id="38" name="Rounded Rectangle 37"/>
          <p:cNvSpPr/>
          <p:nvPr/>
        </p:nvSpPr>
        <p:spPr>
          <a:xfrm>
            <a:off x="9784080" y="2011680"/>
            <a:ext cx="1828800" cy="32461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Return</a:t>
            </a:r>
          </a:p>
          <a:p>
            <a:pPr algn="ctr"/>
            <a:r>
              <a:rPr sz="1200" b="0" i="0">
                <a:solidFill>
                  <a:srgbClr val="FFFFFF"/>
                </a:solidFill>
              </a:rPr>
              <a:t>(sum of 5 steps)</a:t>
            </a:r>
          </a:p>
          <a:p>
            <a:pPr algn="ctr"/>
            <a:r>
              <a:rPr sz="3000" b="1" i="0">
                <a:solidFill>
                  <a:srgbClr val="FFFFFF"/>
                </a:solidFill>
              </a:rPr>
              <a:t>+0.028</a:t>
            </a:r>
          </a:p>
        </p:txBody>
      </p:sp>
      <p:sp>
        <p:nvSpPr>
          <p:cNvPr id="39" name="Rectangle 38"/>
          <p:cNvSpPr/>
          <p:nvPr/>
        </p:nvSpPr>
        <p:spPr>
          <a:xfrm>
            <a:off x="548640" y="5486400"/>
            <a:ext cx="1106424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0" i="0">
                <a:solidFill>
                  <a:srgbClr val="5B6275"/>
                </a:solidFill>
              </a:rPr>
              <a:t>Moving closer turns the reward from negative to positive. A policy that gets there faster collects a bigger return.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RL vs supervised learning: who provides the answer?</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5943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Supervised learning (and imitation learning)</a:t>
            </a:r>
          </a:p>
        </p:txBody>
      </p:sp>
      <p:sp>
        <p:nvSpPr>
          <p:cNvPr id="8" name="Rounded Rectangle 7"/>
          <p:cNvSpPr/>
          <p:nvPr/>
        </p:nvSpPr>
        <p:spPr>
          <a:xfrm>
            <a:off x="548640" y="2194560"/>
            <a:ext cx="5394960" cy="2377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0" i="0">
                <a:solidFill>
                  <a:srgbClr val="1F2433"/>
                </a:solidFill>
              </a:rPr>
              <a:t>A dataset gives the correct answer for every input.</a:t>
            </a:r>
          </a:p>
          <a:p>
            <a:pPr algn="l"/>
            <a:r>
              <a:rPr sz="1600" b="0" i="0">
                <a:solidFill>
                  <a:srgbClr val="1F2433"/>
                </a:solidFill>
              </a:rPr>
              <a:t>Learn by copying: reduce the error to the label.</a:t>
            </a:r>
          </a:p>
          <a:p>
            <a:pPr algn="l"/>
            <a:r>
              <a:rPr sz="1600" b="1" i="0">
                <a:solidFill>
                  <a:srgbClr val="164194"/>
                </a:solidFill>
              </a:rPr>
              <a:t>You write: the dataset.</a:t>
            </a:r>
          </a:p>
        </p:txBody>
      </p:sp>
      <p:sp>
        <p:nvSpPr>
          <p:cNvPr id="9" name="Rounded Rectangle 8"/>
          <p:cNvSpPr/>
          <p:nvPr/>
        </p:nvSpPr>
        <p:spPr>
          <a:xfrm>
            <a:off x="6217920" y="1508760"/>
            <a:ext cx="5394960" cy="59436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600" b="1" i="0">
                <a:solidFill>
                  <a:srgbClr val="FFFFFF"/>
                </a:solidFill>
              </a:rPr>
              <a:t>Reinforcement learning</a:t>
            </a:r>
          </a:p>
        </p:txBody>
      </p:sp>
      <p:sp>
        <p:nvSpPr>
          <p:cNvPr id="10" name="Rounded Rectangle 9"/>
          <p:cNvSpPr/>
          <p:nvPr/>
        </p:nvSpPr>
        <p:spPr>
          <a:xfrm>
            <a:off x="6217920" y="2194560"/>
            <a:ext cx="5394960" cy="23774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0" i="0">
                <a:solidFill>
                  <a:srgbClr val="1F2433"/>
                </a:solidFill>
              </a:rPr>
              <a:t>No correct answer. Only a score after each step.</a:t>
            </a:r>
          </a:p>
          <a:p>
            <a:pPr algn="l"/>
            <a:r>
              <a:rPr sz="1600" b="0" i="0">
                <a:solidFill>
                  <a:srgbClr val="1F2433"/>
                </a:solidFill>
              </a:rPr>
              <a:t>The robot generates its own data by trying.</a:t>
            </a:r>
          </a:p>
          <a:p>
            <a:pPr algn="l"/>
            <a:r>
              <a:rPr sz="1600" b="1" i="0">
                <a:solidFill>
                  <a:srgbClr val="E30613"/>
                </a:solidFill>
              </a:rPr>
              <a:t>You write: the reward function.</a:t>
            </a:r>
          </a:p>
        </p:txBody>
      </p:sp>
      <p:sp>
        <p:nvSpPr>
          <p:cNvPr id="11" name="Rounded Rectangle 10"/>
          <p:cNvSpPr/>
          <p:nvPr/>
        </p:nvSpPr>
        <p:spPr>
          <a:xfrm>
            <a:off x="548640" y="4846320"/>
            <a:ext cx="11064240" cy="868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Your only lever in RL is how you score. </a:t>
            </a:r>
            <a:r>
              <a:rPr sz="1600" b="0" i="0">
                <a:solidFill>
                  <a:srgbClr val="1F2433"/>
                </a:solidFill>
              </a:rPr>
              <a:t>You cannot show the robot what to do; you can only change what it is rewarded for.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Exploration vs exploitation</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310896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PHOTO / VIDEO</a:t>
            </a:r>
          </a:p>
          <a:p>
            <a:pPr algn="ctr"/>
            <a:r>
              <a:rPr sz="1300" b="0" i="0">
                <a:solidFill>
                  <a:srgbClr val="5B6275"/>
                </a:solidFill>
              </a:rPr>
              <a:t>Video: uv run random_agent (untrained arms flailing)</a:t>
            </a:r>
          </a:p>
        </p:txBody>
      </p:sp>
      <p:sp>
        <p:nvSpPr>
          <p:cNvPr id="8" name="Rounded Rectangle 7"/>
          <p:cNvSpPr/>
          <p:nvPr/>
        </p:nvSpPr>
        <p:spPr>
          <a:xfrm>
            <a:off x="6217920" y="1508760"/>
            <a:ext cx="5394960" cy="310896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PHOTO / VIDEO</a:t>
            </a:r>
          </a:p>
          <a:p>
            <a:pPr algn="ctr"/>
            <a:r>
              <a:rPr sz="1300" b="0" i="0">
                <a:solidFill>
                  <a:srgbClr val="5B6275"/>
                </a:solidFill>
              </a:rPr>
              <a:t>Video: uv run play (trained arms reaching smoothly)</a:t>
            </a:r>
          </a:p>
        </p:txBody>
      </p:sp>
      <p:sp>
        <p:nvSpPr>
          <p:cNvPr id="9" name="Rectangle 8"/>
          <p:cNvSpPr/>
          <p:nvPr/>
        </p:nvSpPr>
        <p:spPr>
          <a:xfrm>
            <a:off x="548640" y="4663440"/>
            <a:ext cx="53949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500" b="1" i="0">
                <a:solidFill>
                  <a:srgbClr val="E30613"/>
                </a:solidFill>
              </a:rPr>
              <a:t>Start: random actions = pure exploration</a:t>
            </a:r>
          </a:p>
        </p:txBody>
      </p:sp>
      <p:sp>
        <p:nvSpPr>
          <p:cNvPr id="10" name="Rectangle 9"/>
          <p:cNvSpPr/>
          <p:nvPr/>
        </p:nvSpPr>
        <p:spPr>
          <a:xfrm>
            <a:off x="6217920" y="4663440"/>
            <a:ext cx="53949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ctr"/>
            <a:r>
              <a:rPr sz="1500" b="1" i="0">
                <a:solidFill>
                  <a:srgbClr val="0F6E6A"/>
                </a:solidFill>
              </a:rPr>
              <a:t>End: reliable reaching = exploitation</a:t>
            </a:r>
          </a:p>
        </p:txBody>
      </p:sp>
      <p:sp>
        <p:nvSpPr>
          <p:cNvPr id="11" name="Rounded Rectangle 10"/>
          <p:cNvSpPr/>
          <p:nvPr/>
        </p:nvSpPr>
        <p:spPr>
          <a:xfrm>
            <a:off x="548640" y="5166360"/>
            <a:ext cx="11064240" cy="685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0" i="0">
                <a:solidFill>
                  <a:srgbClr val="1F2433"/>
                </a:solidFill>
              </a:rPr>
              <a:t>Too little exploration: stuck on the first trick that works. Too much: never settles on a good 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2</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How the robot learns in simulation</a:t>
            </a:r>
          </a:p>
          <a:p>
            <a:pPr algn="l"/>
            <a:r>
              <a:rPr sz="1800" b="0" i="0">
                <a:solidFill>
                  <a:srgbClr val="DDE5F7"/>
                </a:solidFill>
              </a:rPr>
              <a:t>PPO, parallel arms, and reading the training curves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PPO in one picture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2606040" y="1417319"/>
            <a:ext cx="21031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1  Collect</a:t>
            </a:r>
          </a:p>
          <a:p>
            <a:pPr algn="ctr"/>
            <a:r>
              <a:rPr sz="1000" b="0" i="0">
                <a:solidFill>
                  <a:srgbClr val="FFFFFF"/>
                </a:solidFill>
              </a:rPr>
              <a:t>All arms act with the current policy for 24 steps</a:t>
            </a:r>
          </a:p>
        </p:txBody>
      </p:sp>
      <p:sp>
        <p:nvSpPr>
          <p:cNvPr id="8" name="Rounded Rectangle 7"/>
          <p:cNvSpPr/>
          <p:nvPr/>
        </p:nvSpPr>
        <p:spPr>
          <a:xfrm>
            <a:off x="4725802" y="2649397"/>
            <a:ext cx="21031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2  Score</a:t>
            </a:r>
          </a:p>
          <a:p>
            <a:pPr algn="ctr"/>
            <a:r>
              <a:rPr sz="1000" b="0" i="0">
                <a:solidFill>
                  <a:srgbClr val="FFFFFF"/>
                </a:solidFill>
              </a:rPr>
              <a:t>The critic estimates how good each situation usually is</a:t>
            </a:r>
          </a:p>
        </p:txBody>
      </p:sp>
      <p:sp>
        <p:nvSpPr>
          <p:cNvPr id="9" name="Rounded Rectangle 8"/>
          <p:cNvSpPr/>
          <p:nvPr/>
        </p:nvSpPr>
        <p:spPr>
          <a:xfrm>
            <a:off x="3916125" y="4642942"/>
            <a:ext cx="21031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3  Compare</a:t>
            </a:r>
          </a:p>
          <a:p>
            <a:pPr algn="ctr"/>
            <a:r>
              <a:rPr sz="1000" b="0" i="0">
                <a:solidFill>
                  <a:srgbClr val="FFFFFF"/>
                </a:solidFill>
              </a:rPr>
              <a:t>Which actions did better than expected? (the advantage)</a:t>
            </a:r>
          </a:p>
        </p:txBody>
      </p:sp>
      <p:sp>
        <p:nvSpPr>
          <p:cNvPr id="10" name="Rounded Rectangle 9"/>
          <p:cNvSpPr/>
          <p:nvPr/>
        </p:nvSpPr>
        <p:spPr>
          <a:xfrm>
            <a:off x="1295954" y="4642942"/>
            <a:ext cx="2103120" cy="91440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4  Update</a:t>
            </a:r>
          </a:p>
          <a:p>
            <a:pPr algn="ctr"/>
            <a:r>
              <a:rPr sz="1000" b="0" i="0">
                <a:solidFill>
                  <a:srgbClr val="FFFFFF"/>
                </a:solidFill>
              </a:rPr>
              <a:t>Nudge the policy towards them, by a small step only</a:t>
            </a:r>
          </a:p>
        </p:txBody>
      </p:sp>
      <p:sp>
        <p:nvSpPr>
          <p:cNvPr id="11" name="Rounded Rectangle 10"/>
          <p:cNvSpPr/>
          <p:nvPr/>
        </p:nvSpPr>
        <p:spPr>
          <a:xfrm>
            <a:off x="486277" y="2649397"/>
            <a:ext cx="2103120" cy="9144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5  Discard</a:t>
            </a:r>
          </a:p>
          <a:p>
            <a:pPr algn="ctr"/>
            <a:r>
              <a:rPr sz="1000" b="0" i="0">
                <a:solidFill>
                  <a:srgbClr val="FFFFFF"/>
                </a:solidFill>
              </a:rPr>
              <a:t>Throw the experience away; repeat</a:t>
            </a:r>
          </a:p>
        </p:txBody>
      </p:sp>
      <p:cxnSp>
        <p:nvCxnSpPr>
          <p:cNvPr id="12" name="Connector 11"/>
          <p:cNvCxnSpPr/>
          <p:nvPr/>
        </p:nvCxnSpPr>
        <p:spPr>
          <a:xfrm>
            <a:off x="4487688" y="2159410"/>
            <a:ext cx="459585" cy="662297"/>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328975" y="3631856"/>
            <a:ext cx="87096" cy="943027"/>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307634" y="5100142"/>
            <a:ext cx="699931" cy="0"/>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1899128" y="3631856"/>
            <a:ext cx="87096" cy="943027"/>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367926" y="2159410"/>
            <a:ext cx="459585" cy="662297"/>
          </a:xfrm>
          <a:prstGeom prst="line">
            <a:avLst/>
          </a:prstGeom>
          <a:ln w="19050">
            <a:solidFill>
              <a:srgbClr val="5B62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834640" y="3383280"/>
            <a:ext cx="164592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5B6275"/>
                </a:solidFill>
              </a:rPr>
              <a:t>1 iteration</a:t>
            </a:r>
          </a:p>
        </p:txBody>
      </p:sp>
      <p:sp>
        <p:nvSpPr>
          <p:cNvPr id="18" name="Rounded Rectangle 17"/>
          <p:cNvSpPr/>
          <p:nvPr/>
        </p:nvSpPr>
        <p:spPr>
          <a:xfrm>
            <a:off x="7772400" y="1554480"/>
            <a:ext cx="3840480" cy="1920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1" i="0">
                <a:solidFill>
                  <a:srgbClr val="164194"/>
                </a:solidFill>
              </a:rPr>
              <a:t>Proximal Policy Optimization</a:t>
            </a:r>
          </a:p>
          <a:p>
            <a:pPr algn="l"/>
            <a:r>
              <a:rPr sz="1400" b="0" i="0">
                <a:solidFill>
                  <a:srgbClr val="1F2433"/>
                </a:solidFill>
              </a:rPr>
              <a:t>“Proximal” = stay close to the old policy. Small, clipped steps keep training stable.</a:t>
            </a:r>
          </a:p>
        </p:txBody>
      </p:sp>
      <p:sp>
        <p:nvSpPr>
          <p:cNvPr id="19" name="Rounded Rectangle 18"/>
          <p:cNvSpPr/>
          <p:nvPr/>
        </p:nvSpPr>
        <p:spPr>
          <a:xfrm>
            <a:off x="7772400" y="3657600"/>
            <a:ext cx="3840480" cy="20116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1" i="0">
                <a:solidFill>
                  <a:srgbClr val="E30613"/>
                </a:solidFill>
              </a:rPr>
              <a:t>Reach: 1,000 iterations</a:t>
            </a:r>
          </a:p>
          <a:p>
            <a:pPr algn="l"/>
            <a:r>
              <a:rPr sz="1400" b="0" i="0">
                <a:solidFill>
                  <a:srgbClr val="1F2433"/>
                </a:solidFill>
              </a:rPr>
              <a:t>Each iteration: collect → update → discard. On-policy: only fresh experience is used.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networks: the actor and the critic</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54480"/>
            <a:ext cx="5394960" cy="25603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i="0">
                <a:solidFill>
                  <a:srgbClr val="FFFFFF"/>
                </a:solidFill>
              </a:rPr>
              <a:t>Actor (the policy)</a:t>
            </a:r>
          </a:p>
          <a:p>
            <a:pPr algn="ctr"/>
            <a:r>
              <a:rPr sz="1600" b="0" i="0">
                <a:solidFill>
                  <a:srgbClr val="FFFFFF"/>
                </a:solidFill>
              </a:rPr>
              <a:t>25 observations → 6 actions</a:t>
            </a:r>
          </a:p>
          <a:p>
            <a:pPr algn="ctr"/>
            <a:r>
              <a:rPr sz="1500" b="0" i="0">
                <a:solidFill>
                  <a:srgbClr val="FFFFFF"/>
                </a:solidFill>
              </a:rPr>
              <a:t>This is what we export and deploy.</a:t>
            </a:r>
          </a:p>
        </p:txBody>
      </p:sp>
      <p:sp>
        <p:nvSpPr>
          <p:cNvPr id="8" name="Rounded Rectangle 7"/>
          <p:cNvSpPr/>
          <p:nvPr/>
        </p:nvSpPr>
        <p:spPr>
          <a:xfrm>
            <a:off x="6217920" y="1554480"/>
            <a:ext cx="5394960" cy="256032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000" b="1" i="0">
                <a:solidFill>
                  <a:srgbClr val="FFFFFF"/>
                </a:solidFill>
              </a:rPr>
              <a:t>Critic (the coach)</a:t>
            </a:r>
          </a:p>
          <a:p>
            <a:pPr algn="ctr"/>
            <a:r>
              <a:rPr sz="1600" b="0" i="0">
                <a:solidFill>
                  <a:srgbClr val="FFFFFF"/>
                </a:solidFill>
              </a:rPr>
              <a:t>25 observations → 1 number: “how good is this situation?”</a:t>
            </a:r>
          </a:p>
          <a:p>
            <a:pPr algn="ctr"/>
            <a:r>
              <a:rPr sz="1500" b="0" i="0">
                <a:solidFill>
                  <a:srgbClr val="FFFFFF"/>
                </a:solidFill>
              </a:rPr>
              <a:t>Used only during training.</a:t>
            </a:r>
          </a:p>
        </p:txBody>
      </p:sp>
      <p:sp>
        <p:nvSpPr>
          <p:cNvPr id="9" name="Rounded Rectangle 8"/>
          <p:cNvSpPr/>
          <p:nvPr/>
        </p:nvSpPr>
        <p:spPr>
          <a:xfrm>
            <a:off x="548640" y="4389120"/>
            <a:ext cx="3520440" cy="1280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800" b="1" i="0">
                <a:solidFill>
                  <a:srgbClr val="164194"/>
                </a:solidFill>
              </a:rPr>
              <a:t>64 × 64</a:t>
            </a:r>
          </a:p>
          <a:p>
            <a:pPr algn="ctr"/>
            <a:r>
              <a:rPr sz="1300" b="0" i="0">
                <a:solidFill>
                  <a:srgbClr val="5B6275"/>
                </a:solidFill>
              </a:rPr>
              <a:t>hidden units in each network (Reach)</a:t>
            </a:r>
          </a:p>
        </p:txBody>
      </p:sp>
      <p:sp>
        <p:nvSpPr>
          <p:cNvPr id="10" name="Rounded Rectangle 9"/>
          <p:cNvSpPr/>
          <p:nvPr/>
        </p:nvSpPr>
        <p:spPr>
          <a:xfrm>
            <a:off x="4297679" y="4389120"/>
            <a:ext cx="3520440" cy="1280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800" b="1" i="0">
                <a:solidFill>
                  <a:srgbClr val="164194"/>
                </a:solidFill>
              </a:rPr>
              <a:t>~6,000</a:t>
            </a:r>
          </a:p>
          <a:p>
            <a:pPr algn="ctr"/>
            <a:r>
              <a:rPr sz="1300" b="0" i="0">
                <a:solidFill>
                  <a:srgbClr val="5B6275"/>
                </a:solidFill>
              </a:rPr>
              <a:t>weights in the actor</a:t>
            </a:r>
          </a:p>
        </p:txBody>
      </p:sp>
      <p:sp>
        <p:nvSpPr>
          <p:cNvPr id="11" name="Rounded Rectangle 10"/>
          <p:cNvSpPr/>
          <p:nvPr/>
        </p:nvSpPr>
        <p:spPr>
          <a:xfrm>
            <a:off x="8046719" y="4389120"/>
            <a:ext cx="3520440" cy="1280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800" b="1" i="0">
                <a:solidFill>
                  <a:srgbClr val="164194"/>
                </a:solidFill>
              </a:rPr>
              <a:t>1e-3</a:t>
            </a:r>
          </a:p>
          <a:p>
            <a:pPr algn="ctr"/>
            <a:r>
              <a:rPr sz="1300" b="0" i="0">
                <a:solidFill>
                  <a:srgbClr val="5B6275"/>
                </a:solidFill>
              </a:rPr>
              <a:t>learning rate (Reach)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Thousands of arms in parallel</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54480"/>
            <a:ext cx="2606040" cy="1920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200" b="1" i="0">
                <a:solidFill>
                  <a:srgbClr val="164194"/>
                </a:solidFill>
              </a:rPr>
              <a:t>1,024</a:t>
            </a:r>
          </a:p>
          <a:p>
            <a:pPr algn="ctr"/>
            <a:r>
              <a:rPr sz="1400" b="0" i="0">
                <a:solidFill>
                  <a:srgbClr val="5B6275"/>
                </a:solidFill>
              </a:rPr>
              <a:t>simulated arms at once (Lab 6)</a:t>
            </a:r>
          </a:p>
        </p:txBody>
      </p:sp>
      <p:sp>
        <p:nvSpPr>
          <p:cNvPr id="8" name="Rounded Rectangle 7"/>
          <p:cNvSpPr/>
          <p:nvPr/>
        </p:nvSpPr>
        <p:spPr>
          <a:xfrm>
            <a:off x="3337560" y="1554480"/>
            <a:ext cx="2606040" cy="1920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200" b="1" i="0">
                <a:solidFill>
                  <a:srgbClr val="164194"/>
                </a:solidFill>
              </a:rPr>
              <a:t>24,576</a:t>
            </a:r>
          </a:p>
          <a:p>
            <a:pPr algn="ctr"/>
            <a:r>
              <a:rPr sz="1400" b="0" i="0">
                <a:solidFill>
                  <a:srgbClr val="5B6275"/>
                </a:solidFill>
              </a:rPr>
              <a:t>steps of experience per iteration</a:t>
            </a:r>
          </a:p>
        </p:txBody>
      </p:sp>
      <p:sp>
        <p:nvSpPr>
          <p:cNvPr id="9" name="Rounded Rectangle 8"/>
          <p:cNvSpPr/>
          <p:nvPr/>
        </p:nvSpPr>
        <p:spPr>
          <a:xfrm>
            <a:off x="6126479" y="1554480"/>
            <a:ext cx="2606040" cy="1920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200" b="1" i="0">
                <a:solidFill>
                  <a:srgbClr val="164194"/>
                </a:solidFill>
              </a:rPr>
              <a:t>24.6 M</a:t>
            </a:r>
          </a:p>
          <a:p>
            <a:pPr algn="ctr"/>
            <a:r>
              <a:rPr sz="1400" b="0" i="0">
                <a:solidFill>
                  <a:srgbClr val="5B6275"/>
                </a:solidFill>
              </a:rPr>
              <a:t>steps in 1,000 iterations</a:t>
            </a:r>
          </a:p>
        </p:txBody>
      </p:sp>
      <p:sp>
        <p:nvSpPr>
          <p:cNvPr id="10" name="Rounded Rectangle 9"/>
          <p:cNvSpPr/>
          <p:nvPr/>
        </p:nvSpPr>
        <p:spPr>
          <a:xfrm>
            <a:off x="8915399" y="1554480"/>
            <a:ext cx="2606040" cy="19202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3200" b="1" i="0">
                <a:solidFill>
                  <a:srgbClr val="E30613"/>
                </a:solidFill>
              </a:rPr>
              <a:t>≈ 9.5 days</a:t>
            </a:r>
          </a:p>
          <a:p>
            <a:pPr algn="ctr"/>
            <a:r>
              <a:rPr sz="1400" b="0" i="0">
                <a:solidFill>
                  <a:srgbClr val="5B6275"/>
                </a:solidFill>
              </a:rPr>
              <a:t>the same practice on one real arm at 30 Hz</a:t>
            </a:r>
          </a:p>
        </p:txBody>
      </p:sp>
      <p:sp>
        <p:nvSpPr>
          <p:cNvPr id="11" name="Rounded Rectangle 10"/>
          <p:cNvSpPr/>
          <p:nvPr/>
        </p:nvSpPr>
        <p:spPr>
          <a:xfrm>
            <a:off x="548640" y="3749039"/>
            <a:ext cx="5486400" cy="2011680"/>
          </a:xfrm>
          <a:prstGeom prst="roundRect">
            <a:avLst>
              <a:gd name="adj" fmla="val 12000"/>
            </a:avLst>
          </a:prstGeom>
          <a:solidFill>
            <a:srgbClr val="F7F8FC"/>
          </a:solidFill>
          <a:ln w="15875">
            <a:solidFill>
              <a:srgbClr val="C9D0E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200" b="1" i="0">
                <a:solidFill>
                  <a:srgbClr val="5B6275"/>
                </a:solidFill>
              </a:rPr>
              <a:t>PHOTO / VIDEO</a:t>
            </a:r>
          </a:p>
          <a:p>
            <a:pPr algn="ctr"/>
            <a:r>
              <a:rPr sz="1300" b="0" i="0">
                <a:solidFill>
                  <a:srgbClr val="5B6275"/>
                </a:solidFill>
              </a:rPr>
              <a:t>Screenshot: your own 1,024-arm Reach run in Isaac Lab</a:t>
            </a:r>
          </a:p>
        </p:txBody>
      </p:sp>
      <p:sp>
        <p:nvSpPr>
          <p:cNvPr id="12" name="Rounded Rectangle 11"/>
          <p:cNvSpPr/>
          <p:nvPr/>
        </p:nvSpPr>
        <p:spPr>
          <a:xfrm>
            <a:off x="6309360" y="3749039"/>
            <a:ext cx="5303520" cy="201168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700" b="1" i="0">
                <a:solidFill>
                  <a:srgbClr val="164194"/>
                </a:solidFill>
              </a:rPr>
              <a:t>On one GPU, training takes minutes.</a:t>
            </a:r>
          </a:p>
          <a:p>
            <a:pPr algn="l"/>
            <a:r>
              <a:rPr sz="1500" b="0" i="0">
                <a:solidFill>
                  <a:srgbClr val="1F2433"/>
                </a:solidFill>
              </a:rPr>
              <a:t>The same experience on a real SO-101 would take more than a week of non-stop practice, with nobody to reset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the compute goes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graphicFrame>
        <p:nvGraphicFramePr>
          <p:cNvPr id="7" name="Chart 6"/>
          <p:cNvGraphicFramePr>
            <a:graphicFrameLocks noGrp="1"/>
          </p:cNvGraphicFramePr>
          <p:nvPr/>
        </p:nvGraphicFramePr>
        <p:xfrm>
          <a:off x="457200" y="1554480"/>
          <a:ext cx="6583680" cy="3291840"/>
        </p:xfrm>
        <a:graphic>
          <a:graphicData uri="http://schemas.openxmlformats.org/drawingml/2006/chart">
            <c:chart xmlns:c="http://schemas.openxmlformats.org/drawingml/2006/chart" r:id="rId2"/>
          </a:graphicData>
        </a:graphic>
      </p:graphicFrame>
      <p:sp>
        <p:nvSpPr>
          <p:cNvPr id="8" name="Rectangle 7"/>
          <p:cNvSpPr/>
          <p:nvPr/>
        </p:nvSpPr>
        <p:spPr>
          <a:xfrm>
            <a:off x="548640" y="4937760"/>
            <a:ext cx="64008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100" b="0" i="1">
                <a:solidFill>
                  <a:srgbClr val="5B6275"/>
                </a:solidFill>
              </a:rPr>
              <a:t>Illustrative split for a state-only task; not measured.</a:t>
            </a:r>
          </a:p>
        </p:txBody>
      </p:sp>
      <p:sp>
        <p:nvSpPr>
          <p:cNvPr id="9" name="Rounded Rectangle 8"/>
          <p:cNvSpPr/>
          <p:nvPr/>
        </p:nvSpPr>
        <p:spPr>
          <a:xfrm>
            <a:off x="7315200" y="1554480"/>
            <a:ext cx="4297680" cy="41148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700" b="1" i="0">
                <a:solidFill>
                  <a:srgbClr val="164194"/>
                </a:solidFill>
              </a:rPr>
              <a:t>What this means for us</a:t>
            </a:r>
          </a:p>
          <a:p>
            <a:pPr algn="l"/>
            <a:r>
              <a:rPr sz="1500" b="0" i="0">
                <a:solidFill>
                  <a:srgbClr val="1F2433"/>
                </a:solidFill>
              </a:rPr>
              <a:t>• A small policy is fine; the GPU is busy simulating physics.</a:t>
            </a:r>
          </a:p>
          <a:p>
            <a:pPr algn="l"/>
            <a:r>
              <a:rPr sz="1500" b="0" i="0">
                <a:solidFill>
                  <a:srgbClr val="1F2433"/>
                </a:solidFill>
              </a:rPr>
              <a:t>• Fewer arms (--num_envs) = less GPU memory, slower learning.</a:t>
            </a:r>
          </a:p>
          <a:p>
            <a:pPr algn="l"/>
            <a:r>
              <a:rPr sz="1500" b="0" i="0">
                <a:solidFill>
                  <a:srgbClr val="1F2433"/>
                </a:solidFill>
              </a:rPr>
              <a:t>• Cameras make each arm far more expensive to simulate.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the training curves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graphicFrame>
        <p:nvGraphicFramePr>
          <p:cNvPr id="7" name="Chart 6"/>
          <p:cNvGraphicFramePr>
            <a:graphicFrameLocks noGrp="1"/>
          </p:cNvGraphicFramePr>
          <p:nvPr/>
        </p:nvGraphicFramePr>
        <p:xfrm>
          <a:off x="457200" y="1463040"/>
          <a:ext cx="6766560" cy="4206240"/>
        </p:xfrm>
        <a:graphic>
          <a:graphicData uri="http://schemas.openxmlformats.org/drawingml/2006/chart">
            <c:chart xmlns:c="http://schemas.openxmlformats.org/drawingml/2006/chart" r:id="rId2"/>
          </a:graphicData>
        </a:graphic>
      </p:graphicFrame>
      <p:sp>
        <p:nvSpPr>
          <p:cNvPr id="8" name="Rounded Rectangle 7"/>
          <p:cNvSpPr/>
          <p:nvPr/>
        </p:nvSpPr>
        <p:spPr>
          <a:xfrm>
            <a:off x="7589520" y="1554480"/>
            <a:ext cx="402336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Mean reward</a:t>
            </a:r>
          </a:p>
          <a:p>
            <a:pPr algn="l"/>
            <a:r>
              <a:rPr sz="1400" b="0" i="0">
                <a:solidFill>
                  <a:srgbClr val="1F2433"/>
                </a:solidFill>
              </a:rPr>
              <a:t>should rise, then flatten</a:t>
            </a:r>
          </a:p>
        </p:txBody>
      </p:sp>
      <p:sp>
        <p:nvSpPr>
          <p:cNvPr id="9" name="Rounded Rectangle 8"/>
          <p:cNvSpPr/>
          <p:nvPr/>
        </p:nvSpPr>
        <p:spPr>
          <a:xfrm>
            <a:off x="7589520" y="2926080"/>
            <a:ext cx="4023360" cy="12344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Episode length</a:t>
            </a:r>
          </a:p>
          <a:p>
            <a:pPr algn="l"/>
            <a:r>
              <a:rPr sz="1400" b="0" i="0">
                <a:solidFill>
                  <a:srgbClr val="1F2433"/>
                </a:solidFill>
              </a:rPr>
              <a:t>flat at 360 for Reach (only time-outs end it)</a:t>
            </a:r>
          </a:p>
        </p:txBody>
      </p:sp>
      <p:sp>
        <p:nvSpPr>
          <p:cNvPr id="10" name="Rounded Rectangle 9"/>
          <p:cNvSpPr/>
          <p:nvPr/>
        </p:nvSpPr>
        <p:spPr>
          <a:xfrm>
            <a:off x="7589520" y="4297680"/>
            <a:ext cx="4023360" cy="13716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E30613"/>
                </a:solidFill>
              </a:rPr>
              <a:t>Warning</a:t>
            </a:r>
          </a:p>
          <a:p>
            <a:pPr algn="l"/>
            <a:r>
              <a:rPr sz="1400" b="0" i="0">
                <a:solidFill>
                  <a:srgbClr val="1F2433"/>
                </a:solidFill>
              </a:rPr>
              <a:t>A rising curve proves the score went up, not that the behaviour is right. Always watch the video.</a:t>
            </a:r>
          </a:p>
        </p:txBody>
      </p:sp>
      <p:sp>
        <p:nvSpPr>
          <p:cNvPr id="11" name="Rectangle 10"/>
          <p:cNvSpPr/>
          <p:nvPr/>
        </p:nvSpPr>
        <p:spPr>
          <a:xfrm>
            <a:off x="548640" y="5760720"/>
            <a:ext cx="67665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100" b="0" i="1">
                <a:solidFill>
                  <a:srgbClr val="5B6275"/>
                </a:solidFill>
              </a:rPr>
              <a:t>Illustrative shape. Replace with a TensorBoard screenshot of your own run.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 3</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2011680"/>
            <a:ext cx="11064240" cy="219456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3600" b="1" i="0">
                <a:solidFill>
                  <a:srgbClr val="FFFFFF"/>
                </a:solidFill>
              </a:rPr>
              <a:t>Designing the task and its reward</a:t>
            </a:r>
          </a:p>
          <a:p>
            <a:pPr algn="l"/>
            <a:r>
              <a:rPr sz="1800" b="0" i="0">
                <a:solidFill>
                  <a:srgbClr val="DDE5F7"/>
                </a:solidFill>
              </a:rPr>
              <a:t>From physics to a number, and how robots cheat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Anatomy of an Isaac Lab task</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600200"/>
            <a:ext cx="2606040" cy="1691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Scene</a:t>
            </a:r>
          </a:p>
          <a:p>
            <a:pPr algn="ctr"/>
            <a:r>
              <a:rPr sz="1400" b="0" i="0">
                <a:solidFill>
                  <a:srgbClr val="FFFFFF"/>
                </a:solidFill>
              </a:rPr>
              <a:t>robot, table, objects, lights</a:t>
            </a:r>
          </a:p>
        </p:txBody>
      </p:sp>
      <p:sp>
        <p:nvSpPr>
          <p:cNvPr id="8" name="Rounded Rectangle 7"/>
          <p:cNvSpPr/>
          <p:nvPr/>
        </p:nvSpPr>
        <p:spPr>
          <a:xfrm>
            <a:off x="3337560" y="1600200"/>
            <a:ext cx="2606040" cy="1691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Observations</a:t>
            </a:r>
          </a:p>
          <a:p>
            <a:pPr algn="ctr"/>
            <a:r>
              <a:rPr sz="1400" b="0" i="0">
                <a:solidFill>
                  <a:srgbClr val="FFFFFF"/>
                </a:solidFill>
              </a:rPr>
              <a:t>what the policy sees</a:t>
            </a:r>
          </a:p>
        </p:txBody>
      </p:sp>
      <p:sp>
        <p:nvSpPr>
          <p:cNvPr id="9" name="Rounded Rectangle 8"/>
          <p:cNvSpPr/>
          <p:nvPr/>
        </p:nvSpPr>
        <p:spPr>
          <a:xfrm>
            <a:off x="6126479" y="1600200"/>
            <a:ext cx="2606040" cy="1691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Actions</a:t>
            </a:r>
          </a:p>
          <a:p>
            <a:pPr algn="ctr"/>
            <a:r>
              <a:rPr sz="1400" b="0" i="0">
                <a:solidFill>
                  <a:srgbClr val="FFFFFF"/>
                </a:solidFill>
              </a:rPr>
              <a:t>what the policy controls</a:t>
            </a:r>
          </a:p>
        </p:txBody>
      </p:sp>
      <p:sp>
        <p:nvSpPr>
          <p:cNvPr id="10" name="Rounded Rectangle 9"/>
          <p:cNvSpPr/>
          <p:nvPr/>
        </p:nvSpPr>
        <p:spPr>
          <a:xfrm>
            <a:off x="8915399" y="1600200"/>
            <a:ext cx="2606040" cy="1691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Commands</a:t>
            </a:r>
          </a:p>
          <a:p>
            <a:pPr algn="ctr"/>
            <a:r>
              <a:rPr sz="1400" b="0" i="0">
                <a:solidFill>
                  <a:srgbClr val="FFFFFF"/>
                </a:solidFill>
              </a:rPr>
              <a:t>the goal, e.g. target pose</a:t>
            </a:r>
          </a:p>
        </p:txBody>
      </p:sp>
      <p:sp>
        <p:nvSpPr>
          <p:cNvPr id="11" name="Rounded Rectangle 10"/>
          <p:cNvSpPr/>
          <p:nvPr/>
        </p:nvSpPr>
        <p:spPr>
          <a:xfrm>
            <a:off x="548640" y="3520440"/>
            <a:ext cx="2606040" cy="169164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Rewards</a:t>
            </a:r>
          </a:p>
          <a:p>
            <a:pPr algn="ctr"/>
            <a:r>
              <a:rPr sz="1400" b="0" i="0">
                <a:solidFill>
                  <a:srgbClr val="FFFFFF"/>
                </a:solidFill>
              </a:rPr>
              <a:t>how each step is scored</a:t>
            </a:r>
          </a:p>
        </p:txBody>
      </p:sp>
      <p:sp>
        <p:nvSpPr>
          <p:cNvPr id="12" name="Rounded Rectangle 11"/>
          <p:cNvSpPr/>
          <p:nvPr/>
        </p:nvSpPr>
        <p:spPr>
          <a:xfrm>
            <a:off x="3337560" y="3520440"/>
            <a:ext cx="2606040" cy="1691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Terminations</a:t>
            </a:r>
          </a:p>
          <a:p>
            <a:pPr algn="ctr"/>
            <a:r>
              <a:rPr sz="1400" b="0" i="0">
                <a:solidFill>
                  <a:srgbClr val="FFFFFF"/>
                </a:solidFill>
              </a:rPr>
              <a:t>when an episode ends</a:t>
            </a:r>
          </a:p>
        </p:txBody>
      </p:sp>
      <p:sp>
        <p:nvSpPr>
          <p:cNvPr id="13" name="Rounded Rectangle 12"/>
          <p:cNvSpPr/>
          <p:nvPr/>
        </p:nvSpPr>
        <p:spPr>
          <a:xfrm>
            <a:off x="6126479" y="3520440"/>
            <a:ext cx="2606040" cy="1691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Events</a:t>
            </a:r>
          </a:p>
          <a:p>
            <a:pPr algn="ctr"/>
            <a:r>
              <a:rPr sz="1400" b="0" i="0">
                <a:solidFill>
                  <a:srgbClr val="FFFFFF"/>
                </a:solidFill>
              </a:rPr>
              <a:t>resets and randomisation (Lab 4)</a:t>
            </a:r>
          </a:p>
        </p:txBody>
      </p:sp>
      <p:sp>
        <p:nvSpPr>
          <p:cNvPr id="14" name="Rounded Rectangle 13"/>
          <p:cNvSpPr/>
          <p:nvPr/>
        </p:nvSpPr>
        <p:spPr>
          <a:xfrm>
            <a:off x="8915399" y="3520440"/>
            <a:ext cx="2606040" cy="1691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800" b="1" i="0">
                <a:solidFill>
                  <a:srgbClr val="FFFFFF"/>
                </a:solidFill>
              </a:rPr>
              <a:t>Curriculum</a:t>
            </a:r>
          </a:p>
          <a:p>
            <a:pPr algn="ctr"/>
            <a:r>
              <a:rPr sz="1400" b="0" i="0">
                <a:solidFill>
                  <a:srgbClr val="FFFFFF"/>
                </a:solidFill>
              </a:rPr>
              <a:t>changes during training</a:t>
            </a:r>
          </a:p>
        </p:txBody>
      </p:sp>
      <p:sp>
        <p:nvSpPr>
          <p:cNvPr id="15" name="Rectangle 14"/>
          <p:cNvSpPr/>
          <p:nvPr/>
        </p:nvSpPr>
        <p:spPr>
          <a:xfrm>
            <a:off x="548640" y="5532120"/>
            <a:ext cx="110642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0" i="0">
                <a:solidFill>
                  <a:srgbClr val="5B6275"/>
                </a:solidFill>
              </a:rPr>
              <a:t>Each part is one block in the task's config file. In Lab 6 you will find each block in reach_env_cfg.py.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Reward design: physics → measurable quantity → reward term</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3566160" cy="548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What we want (physics)</a:t>
            </a:r>
          </a:p>
        </p:txBody>
      </p:sp>
      <p:sp>
        <p:nvSpPr>
          <p:cNvPr id="8" name="Rounded Rectangle 7"/>
          <p:cNvSpPr/>
          <p:nvPr/>
        </p:nvSpPr>
        <p:spPr>
          <a:xfrm>
            <a:off x="4251959" y="1508760"/>
            <a:ext cx="356616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What we can measure</a:t>
            </a:r>
          </a:p>
        </p:txBody>
      </p:sp>
      <p:sp>
        <p:nvSpPr>
          <p:cNvPr id="9" name="Rounded Rectangle 8"/>
          <p:cNvSpPr/>
          <p:nvPr/>
        </p:nvSpPr>
        <p:spPr>
          <a:xfrm>
            <a:off x="7955279" y="1508760"/>
            <a:ext cx="3566160" cy="548640"/>
          </a:xfrm>
          <a:prstGeom prst="roundRect">
            <a:avLst>
              <a:gd name="adj" fmla="val 12000"/>
            </a:avLst>
          </a:prstGeom>
          <a:solidFill>
            <a:srgbClr val="E3061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FFFFFF"/>
                </a:solidFill>
              </a:rPr>
              <a:t>Reward term</a:t>
            </a:r>
          </a:p>
        </p:txBody>
      </p:sp>
      <p:sp>
        <p:nvSpPr>
          <p:cNvPr id="10" name="Rounded Rectangle 9"/>
          <p:cNvSpPr/>
          <p:nvPr/>
        </p:nvSpPr>
        <p:spPr>
          <a:xfrm>
            <a:off x="548640" y="2148840"/>
            <a:ext cx="3566160" cy="77724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Get the gripper to the target</a:t>
            </a:r>
          </a:p>
        </p:txBody>
      </p:sp>
      <p:sp>
        <p:nvSpPr>
          <p:cNvPr id="11" name="Rounded Rectangle 10"/>
          <p:cNvSpPr/>
          <p:nvPr/>
        </p:nvSpPr>
        <p:spPr>
          <a:xfrm>
            <a:off x="4251959" y="2148840"/>
            <a:ext cx="35661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distance from gripper to target (m)</a:t>
            </a:r>
          </a:p>
        </p:txBody>
      </p:sp>
      <p:sp>
        <p:nvSpPr>
          <p:cNvPr id="12" name="Rounded Rectangle 11"/>
          <p:cNvSpPr/>
          <p:nvPr/>
        </p:nvSpPr>
        <p:spPr>
          <a:xfrm>
            <a:off x="7955279" y="2148840"/>
            <a:ext cx="3566160" cy="7772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penalty proportional to the distance</a:t>
            </a:r>
          </a:p>
        </p:txBody>
      </p:sp>
      <p:cxnSp>
        <p:nvCxnSpPr>
          <p:cNvPr id="13" name="Connector 12"/>
          <p:cNvCxnSpPr/>
          <p:nvPr/>
        </p:nvCxnSpPr>
        <p:spPr>
          <a:xfrm>
            <a:off x="4069080" y="2532888"/>
            <a:ext cx="182880" cy="0"/>
          </a:xfrm>
          <a:prstGeom prst="line">
            <a:avLst/>
          </a:prstGeom>
          <a:ln w="190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2532888"/>
            <a:ext cx="182879" cy="0"/>
          </a:xfrm>
          <a:prstGeom prst="line">
            <a:avLst/>
          </a:prstGeom>
          <a:ln w="190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3017520"/>
            <a:ext cx="3566160" cy="77724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Arrive precisely</a:t>
            </a:r>
          </a:p>
        </p:txBody>
      </p:sp>
      <p:sp>
        <p:nvSpPr>
          <p:cNvPr id="16" name="Rounded Rectangle 15"/>
          <p:cNvSpPr/>
          <p:nvPr/>
        </p:nvSpPr>
        <p:spPr>
          <a:xfrm>
            <a:off x="4251959" y="3017520"/>
            <a:ext cx="35661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the same distance, near zero</a:t>
            </a:r>
          </a:p>
        </p:txBody>
      </p:sp>
      <p:sp>
        <p:nvSpPr>
          <p:cNvPr id="17" name="Rounded Rectangle 16"/>
          <p:cNvSpPr/>
          <p:nvPr/>
        </p:nvSpPr>
        <p:spPr>
          <a:xfrm>
            <a:off x="7955279" y="3017520"/>
            <a:ext cx="3566160" cy="7772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bonus that only grows when very close (tanh)</a:t>
            </a:r>
          </a:p>
        </p:txBody>
      </p:sp>
      <p:cxnSp>
        <p:nvCxnSpPr>
          <p:cNvPr id="18" name="Connector 17"/>
          <p:cNvCxnSpPr/>
          <p:nvPr/>
        </p:nvCxnSpPr>
        <p:spPr>
          <a:xfrm>
            <a:off x="4069080" y="3401568"/>
            <a:ext cx="182880" cy="0"/>
          </a:xfrm>
          <a:prstGeom prst="line">
            <a:avLst/>
          </a:prstGeom>
          <a:ln w="190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72400" y="3401568"/>
            <a:ext cx="182879" cy="0"/>
          </a:xfrm>
          <a:prstGeom prst="line">
            <a:avLst/>
          </a:prstGeom>
          <a:ln w="190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3886200"/>
            <a:ext cx="3566160" cy="77724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Move smoothly</a:t>
            </a:r>
          </a:p>
        </p:txBody>
      </p:sp>
      <p:sp>
        <p:nvSpPr>
          <p:cNvPr id="21" name="Rounded Rectangle 20"/>
          <p:cNvSpPr/>
          <p:nvPr/>
        </p:nvSpPr>
        <p:spPr>
          <a:xfrm>
            <a:off x="4251959" y="3886200"/>
            <a:ext cx="35661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change in action between steps</a:t>
            </a:r>
          </a:p>
        </p:txBody>
      </p:sp>
      <p:sp>
        <p:nvSpPr>
          <p:cNvPr id="22" name="Rounded Rectangle 21"/>
          <p:cNvSpPr/>
          <p:nvPr/>
        </p:nvSpPr>
        <p:spPr>
          <a:xfrm>
            <a:off x="7955279" y="3886200"/>
            <a:ext cx="3566160" cy="7772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tiny penalty on the change (action rate)</a:t>
            </a:r>
          </a:p>
        </p:txBody>
      </p:sp>
      <p:cxnSp>
        <p:nvCxnSpPr>
          <p:cNvPr id="23" name="Connector 22"/>
          <p:cNvCxnSpPr/>
          <p:nvPr/>
        </p:nvCxnSpPr>
        <p:spPr>
          <a:xfrm>
            <a:off x="4069080" y="4270248"/>
            <a:ext cx="182880" cy="0"/>
          </a:xfrm>
          <a:prstGeom prst="line">
            <a:avLst/>
          </a:prstGeom>
          <a:ln w="190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772400" y="4270248"/>
            <a:ext cx="182879" cy="0"/>
          </a:xfrm>
          <a:prstGeom prst="line">
            <a:avLst/>
          </a:prstGeom>
          <a:ln w="190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48640" y="4754879"/>
            <a:ext cx="3566160" cy="77724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Don't flail</a:t>
            </a:r>
          </a:p>
        </p:txBody>
      </p:sp>
      <p:sp>
        <p:nvSpPr>
          <p:cNvPr id="26" name="Rounded Rectangle 25"/>
          <p:cNvSpPr/>
          <p:nvPr/>
        </p:nvSpPr>
        <p:spPr>
          <a:xfrm>
            <a:off x="4251959" y="4754879"/>
            <a:ext cx="3566160" cy="7772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joint speeds</a:t>
            </a:r>
          </a:p>
        </p:txBody>
      </p:sp>
      <p:sp>
        <p:nvSpPr>
          <p:cNvPr id="27" name="Rounded Rectangle 26"/>
          <p:cNvSpPr/>
          <p:nvPr/>
        </p:nvSpPr>
        <p:spPr>
          <a:xfrm>
            <a:off x="7955279" y="4754879"/>
            <a:ext cx="3566160" cy="7772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0" i="0">
                <a:solidFill>
                  <a:srgbClr val="1F2433"/>
                </a:solidFill>
              </a:rPr>
              <a:t>tiny penalty on joint velocity</a:t>
            </a:r>
          </a:p>
        </p:txBody>
      </p:sp>
      <p:cxnSp>
        <p:nvCxnSpPr>
          <p:cNvPr id="28" name="Connector 27"/>
          <p:cNvCxnSpPr/>
          <p:nvPr/>
        </p:nvCxnSpPr>
        <p:spPr>
          <a:xfrm>
            <a:off x="4069080" y="5138927"/>
            <a:ext cx="182880" cy="0"/>
          </a:xfrm>
          <a:prstGeom prst="line">
            <a:avLst/>
          </a:prstGeom>
          <a:ln w="190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0" y="5138927"/>
            <a:ext cx="182879" cy="0"/>
          </a:xfrm>
          <a:prstGeom prst="line">
            <a:avLst/>
          </a:prstGeom>
          <a:ln w="19050">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48640" y="5715000"/>
            <a:ext cx="110642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500" b="1" i="0">
                <a:solidFill>
                  <a:srgbClr val="164194"/>
                </a:solidFill>
              </a:rPr>
              <a:t>If you cannot measure it in the simulator, you cannot reward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real SO-101 Reach reward</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493776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Term</a:t>
            </a:r>
          </a:p>
        </p:txBody>
      </p:sp>
      <p:sp>
        <p:nvSpPr>
          <p:cNvPr id="8" name="Rounded Rectangle 7"/>
          <p:cNvSpPr/>
          <p:nvPr/>
        </p:nvSpPr>
        <p:spPr>
          <a:xfrm>
            <a:off x="5532120" y="1508760"/>
            <a:ext cx="137160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Weight</a:t>
            </a:r>
          </a:p>
        </p:txBody>
      </p:sp>
      <p:sp>
        <p:nvSpPr>
          <p:cNvPr id="9" name="Rounded Rectangle 8"/>
          <p:cNvSpPr/>
          <p:nvPr/>
        </p:nvSpPr>
        <p:spPr>
          <a:xfrm>
            <a:off x="6949440" y="1508760"/>
            <a:ext cx="4754880" cy="50292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FFFFFF"/>
                </a:solidFill>
              </a:rPr>
              <a:t>Purpose</a:t>
            </a:r>
          </a:p>
        </p:txBody>
      </p:sp>
      <p:sp>
        <p:nvSpPr>
          <p:cNvPr id="10" name="Rounded Rectangle 9"/>
          <p:cNvSpPr/>
          <p:nvPr/>
        </p:nvSpPr>
        <p:spPr>
          <a:xfrm>
            <a:off x="548640" y="2103120"/>
            <a:ext cx="49377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0" i="0">
                <a:solidFill>
                  <a:srgbClr val="1F2433"/>
                </a:solidFill>
              </a:rPr>
              <a:t>end_effector_position_tracking</a:t>
            </a:r>
          </a:p>
        </p:txBody>
      </p:sp>
      <p:sp>
        <p:nvSpPr>
          <p:cNvPr id="11" name="Rounded Rectangle 10"/>
          <p:cNvSpPr/>
          <p:nvPr/>
        </p:nvSpPr>
        <p:spPr>
          <a:xfrm>
            <a:off x="5532120" y="2103120"/>
            <a:ext cx="137160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433"/>
                </a:solidFill>
              </a:rPr>
              <a:t>−0.2</a:t>
            </a:r>
          </a:p>
        </p:txBody>
      </p:sp>
      <p:sp>
        <p:nvSpPr>
          <p:cNvPr id="12" name="Rounded Rectangle 11"/>
          <p:cNvSpPr/>
          <p:nvPr/>
        </p:nvSpPr>
        <p:spPr>
          <a:xfrm>
            <a:off x="6949440" y="2103120"/>
            <a:ext cx="475488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constant pull towards the target</a:t>
            </a:r>
          </a:p>
        </p:txBody>
      </p:sp>
      <p:sp>
        <p:nvSpPr>
          <p:cNvPr id="13" name="Rounded Rectangle 12"/>
          <p:cNvSpPr/>
          <p:nvPr/>
        </p:nvSpPr>
        <p:spPr>
          <a:xfrm>
            <a:off x="548640" y="2724912"/>
            <a:ext cx="49377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0" i="0">
                <a:solidFill>
                  <a:srgbClr val="1F2433"/>
                </a:solidFill>
              </a:rPr>
              <a:t>end_effector_position_tracking_fine_grained</a:t>
            </a:r>
          </a:p>
        </p:txBody>
      </p:sp>
      <p:sp>
        <p:nvSpPr>
          <p:cNvPr id="14" name="Rounded Rectangle 13"/>
          <p:cNvSpPr/>
          <p:nvPr/>
        </p:nvSpPr>
        <p:spPr>
          <a:xfrm>
            <a:off x="5532120" y="2724912"/>
            <a:ext cx="137160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433"/>
                </a:solidFill>
              </a:rPr>
              <a:t>+0.1</a:t>
            </a:r>
          </a:p>
        </p:txBody>
      </p:sp>
      <p:sp>
        <p:nvSpPr>
          <p:cNvPr id="15" name="Rounded Rectangle 14"/>
          <p:cNvSpPr/>
          <p:nvPr/>
        </p:nvSpPr>
        <p:spPr>
          <a:xfrm>
            <a:off x="6949440" y="2724912"/>
            <a:ext cx="475488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precision bonus within ~10 cm (tanh, std 0.1)</a:t>
            </a:r>
          </a:p>
        </p:txBody>
      </p:sp>
      <p:sp>
        <p:nvSpPr>
          <p:cNvPr id="16" name="Rounded Rectangle 15"/>
          <p:cNvSpPr/>
          <p:nvPr/>
        </p:nvSpPr>
        <p:spPr>
          <a:xfrm>
            <a:off x="548640" y="3346704"/>
            <a:ext cx="4937760" cy="548640"/>
          </a:xfrm>
          <a:prstGeom prst="roundRect">
            <a:avLst>
              <a:gd name="adj" fmla="val 12000"/>
            </a:avLst>
          </a:prstGeom>
          <a:solidFill>
            <a:srgbClr val="F2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0" i="0">
                <a:solidFill>
                  <a:srgbClr val="5B6275"/>
                </a:solidFill>
              </a:rPr>
              <a:t>end_effector_orientation_tracking</a:t>
            </a:r>
          </a:p>
        </p:txBody>
      </p:sp>
      <p:sp>
        <p:nvSpPr>
          <p:cNvPr id="17" name="Rounded Rectangle 16"/>
          <p:cNvSpPr/>
          <p:nvPr/>
        </p:nvSpPr>
        <p:spPr>
          <a:xfrm>
            <a:off x="5532120" y="3346704"/>
            <a:ext cx="1371600" cy="548640"/>
          </a:xfrm>
          <a:prstGeom prst="roundRect">
            <a:avLst>
              <a:gd name="adj" fmla="val 12000"/>
            </a:avLst>
          </a:prstGeom>
          <a:solidFill>
            <a:srgbClr val="F2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5B6275"/>
                </a:solidFill>
              </a:rPr>
              <a:t>0 (off)</a:t>
            </a:r>
          </a:p>
        </p:txBody>
      </p:sp>
      <p:sp>
        <p:nvSpPr>
          <p:cNvPr id="18" name="Rounded Rectangle 17"/>
          <p:cNvSpPr/>
          <p:nvPr/>
        </p:nvSpPr>
        <p:spPr>
          <a:xfrm>
            <a:off x="6949440" y="3346704"/>
            <a:ext cx="4754880" cy="548640"/>
          </a:xfrm>
          <a:prstGeom prst="roundRect">
            <a:avLst>
              <a:gd name="adj" fmla="val 12000"/>
            </a:avLst>
          </a:prstGeom>
          <a:solidFill>
            <a:srgbClr val="F2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5B6275"/>
                </a:solidFill>
              </a:rPr>
              <a:t>switched off for the SO-101 (only 5 arm joints)</a:t>
            </a:r>
          </a:p>
        </p:txBody>
      </p:sp>
      <p:sp>
        <p:nvSpPr>
          <p:cNvPr id="19" name="Rounded Rectangle 18"/>
          <p:cNvSpPr/>
          <p:nvPr/>
        </p:nvSpPr>
        <p:spPr>
          <a:xfrm>
            <a:off x="548640" y="3968496"/>
            <a:ext cx="49377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0" i="0">
                <a:solidFill>
                  <a:srgbClr val="1F2433"/>
                </a:solidFill>
              </a:rPr>
              <a:t>action_rate</a:t>
            </a:r>
          </a:p>
        </p:txBody>
      </p:sp>
      <p:sp>
        <p:nvSpPr>
          <p:cNvPr id="20" name="Rounded Rectangle 19"/>
          <p:cNvSpPr/>
          <p:nvPr/>
        </p:nvSpPr>
        <p:spPr>
          <a:xfrm>
            <a:off x="5532120" y="3968496"/>
            <a:ext cx="137160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433"/>
                </a:solidFill>
              </a:rPr>
              <a:t>−0.0001</a:t>
            </a:r>
          </a:p>
        </p:txBody>
      </p:sp>
      <p:sp>
        <p:nvSpPr>
          <p:cNvPr id="21" name="Rounded Rectangle 20"/>
          <p:cNvSpPr/>
          <p:nvPr/>
        </p:nvSpPr>
        <p:spPr>
          <a:xfrm>
            <a:off x="6949440" y="3968496"/>
            <a:ext cx="475488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smoothness</a:t>
            </a:r>
          </a:p>
        </p:txBody>
      </p:sp>
      <p:sp>
        <p:nvSpPr>
          <p:cNvPr id="22" name="Rounded Rectangle 21"/>
          <p:cNvSpPr/>
          <p:nvPr/>
        </p:nvSpPr>
        <p:spPr>
          <a:xfrm>
            <a:off x="548640" y="4590288"/>
            <a:ext cx="493776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300" b="0" i="0">
                <a:solidFill>
                  <a:srgbClr val="1F2433"/>
                </a:solidFill>
              </a:rPr>
              <a:t>joint_vel</a:t>
            </a:r>
          </a:p>
        </p:txBody>
      </p:sp>
      <p:sp>
        <p:nvSpPr>
          <p:cNvPr id="23" name="Rounded Rectangle 22"/>
          <p:cNvSpPr/>
          <p:nvPr/>
        </p:nvSpPr>
        <p:spPr>
          <a:xfrm>
            <a:off x="5532120" y="4590288"/>
            <a:ext cx="137160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400" b="1" i="0">
                <a:solidFill>
                  <a:srgbClr val="1F2433"/>
                </a:solidFill>
              </a:rPr>
              <a:t>−0.0001</a:t>
            </a:r>
          </a:p>
        </p:txBody>
      </p:sp>
      <p:sp>
        <p:nvSpPr>
          <p:cNvPr id="24" name="Rounded Rectangle 23"/>
          <p:cNvSpPr/>
          <p:nvPr/>
        </p:nvSpPr>
        <p:spPr>
          <a:xfrm>
            <a:off x="6949440" y="4590288"/>
            <a:ext cx="4754880" cy="54864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400" b="0" i="0">
                <a:solidFill>
                  <a:srgbClr val="1F2433"/>
                </a:solidFill>
              </a:rPr>
              <a:t>no flailing</a:t>
            </a:r>
          </a:p>
        </p:txBody>
      </p:sp>
      <p:sp>
        <p:nvSpPr>
          <p:cNvPr id="25" name="Rounded Rectangle 24"/>
          <p:cNvSpPr/>
          <p:nvPr/>
        </p:nvSpPr>
        <p:spPr>
          <a:xfrm>
            <a:off x="548640" y="5349240"/>
            <a:ext cx="11064240" cy="6858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1" i="0">
                <a:solidFill>
                  <a:srgbClr val="E30613"/>
                </a:solidFill>
              </a:rPr>
              <a:t>Curriculum: </a:t>
            </a:r>
            <a:r>
              <a:rPr sz="1500" b="0" i="0">
                <a:solidFill>
                  <a:srgbClr val="1F2433"/>
                </a:solidFill>
              </a:rPr>
              <a:t>after 4,500 steps (about iteration 190), action_rate rises to −0.005 and joint_vel to −0.001.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the weights look so different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graphicFrame>
        <p:nvGraphicFramePr>
          <p:cNvPr id="7" name="Chart 6"/>
          <p:cNvGraphicFramePr>
            <a:graphicFrameLocks noGrp="1"/>
          </p:cNvGraphicFramePr>
          <p:nvPr/>
        </p:nvGraphicFramePr>
        <p:xfrm>
          <a:off x="457200" y="1463040"/>
          <a:ext cx="6949440" cy="4297680"/>
        </p:xfrm>
        <a:graphic>
          <a:graphicData uri="http://schemas.openxmlformats.org/drawingml/2006/chart">
            <c:chart xmlns:c="http://schemas.openxmlformats.org/drawingml/2006/chart" r:id="rId2"/>
          </a:graphicData>
        </a:graphic>
      </p:graphicFrame>
      <p:sp>
        <p:nvSpPr>
          <p:cNvPr id="8" name="Rectangle 7"/>
          <p:cNvSpPr/>
          <p:nvPr/>
        </p:nvSpPr>
        <p:spPr>
          <a:xfrm>
            <a:off x="548640" y="5806440"/>
            <a:ext cx="67665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100" b="0" i="1">
                <a:solidFill>
                  <a:srgbClr val="5B6275"/>
                </a:solidFill>
              </a:rPr>
              <a:t>Size of each weight, log scale. Each gridline is 10× the one before.</a:t>
            </a:r>
          </a:p>
        </p:txBody>
      </p:sp>
      <p:sp>
        <p:nvSpPr>
          <p:cNvPr id="9" name="Rounded Rectangle 8"/>
          <p:cNvSpPr/>
          <p:nvPr/>
        </p:nvSpPr>
        <p:spPr>
          <a:xfrm>
            <a:off x="7680960" y="1554480"/>
            <a:ext cx="3931920" cy="128016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Big pull</a:t>
            </a:r>
          </a:p>
          <a:p>
            <a:pPr algn="l"/>
            <a:r>
              <a:rPr sz="1400" b="0" i="0">
                <a:solidFill>
                  <a:srgbClr val="1F2433"/>
                </a:solidFill>
              </a:rPr>
              <a:t>always active, gives direction</a:t>
            </a:r>
          </a:p>
        </p:txBody>
      </p:sp>
      <p:sp>
        <p:nvSpPr>
          <p:cNvPr id="10" name="Rounded Rectangle 9"/>
          <p:cNvSpPr/>
          <p:nvPr/>
        </p:nvSpPr>
        <p:spPr>
          <a:xfrm>
            <a:off x="7680960" y="2971800"/>
            <a:ext cx="3931920" cy="128016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E30613"/>
                </a:solidFill>
              </a:rPr>
              <a:t>Tiny penalties at first</a:t>
            </a:r>
          </a:p>
          <a:p>
            <a:pPr algn="l"/>
            <a:r>
              <a:rPr sz="1400" b="0" i="0">
                <a:solidFill>
                  <a:srgbClr val="1F2433"/>
                </a:solidFill>
              </a:rPr>
              <a:t>so they don't stop exploration</a:t>
            </a:r>
          </a:p>
        </p:txBody>
      </p:sp>
      <p:sp>
        <p:nvSpPr>
          <p:cNvPr id="11" name="Rounded Rectangle 10"/>
          <p:cNvSpPr/>
          <p:nvPr/>
        </p:nvSpPr>
        <p:spPr>
          <a:xfrm>
            <a:off x="7680960" y="4389120"/>
            <a:ext cx="3931920" cy="137160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E30613"/>
                </a:solidFill>
              </a:rPr>
              <a:t>Raised later</a:t>
            </a:r>
          </a:p>
          <a:p>
            <a:pPr algn="l"/>
            <a:r>
              <a:rPr sz="1400" b="0" i="1">
                <a:solidFill>
                  <a:srgbClr val="1F2433"/>
                </a:solidFill>
              </a:rPr>
              <a:t>“learn to reach first, then learn to reach politely”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Reward hacking: it optimises what you wrote</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5394960" cy="17830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900" b="1" i="0">
                <a:solidFill>
                  <a:srgbClr val="E30613"/>
                </a:solidFill>
              </a:rPr>
              <a:t>Shake at the target</a:t>
            </a:r>
          </a:p>
          <a:p>
            <a:pPr algn="l"/>
            <a:r>
              <a:rPr sz="1500" b="0" i="0">
                <a:solidFill>
                  <a:srgbClr val="1F2433"/>
                </a:solidFill>
              </a:rPr>
              <a:t>Fine bonus with no smoothness penalty: the arm vibrates around the target and still scores.</a:t>
            </a:r>
          </a:p>
        </p:txBody>
      </p:sp>
      <p:sp>
        <p:nvSpPr>
          <p:cNvPr id="8" name="Rounded Rectangle 7"/>
          <p:cNvSpPr/>
          <p:nvPr/>
        </p:nvSpPr>
        <p:spPr>
          <a:xfrm>
            <a:off x="6172200" y="1508760"/>
            <a:ext cx="5394960" cy="17830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900" b="1" i="0">
                <a:solidFill>
                  <a:srgbClr val="E30613"/>
                </a:solidFill>
              </a:rPr>
              <a:t>The lazy robot</a:t>
            </a:r>
          </a:p>
          <a:p>
            <a:pPr algn="l"/>
            <a:r>
              <a:rPr sz="1500" b="0" i="0">
                <a:solidFill>
                  <a:srgbClr val="1F2433"/>
                </a:solidFill>
              </a:rPr>
              <a:t>Penalties too big: standing still loses less reward than trying to reach.</a:t>
            </a:r>
          </a:p>
        </p:txBody>
      </p:sp>
      <p:sp>
        <p:nvSpPr>
          <p:cNvPr id="9" name="Rounded Rectangle 8"/>
          <p:cNvSpPr/>
          <p:nvPr/>
        </p:nvSpPr>
        <p:spPr>
          <a:xfrm>
            <a:off x="548640" y="3520440"/>
            <a:ext cx="5394960" cy="17830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900" b="1" i="0">
                <a:solidFill>
                  <a:srgbClr val="E30613"/>
                </a:solidFill>
              </a:rPr>
              <a:t>Flick, don't lift</a:t>
            </a:r>
          </a:p>
          <a:p>
            <a:pPr algn="l"/>
            <a:r>
              <a:rPr sz="1500" b="0" i="0">
                <a:solidFill>
                  <a:srgbClr val="1F2433"/>
                </a:solidFill>
              </a:rPr>
              <a:t>Lift reward checks only the cube's height: knock it into the air instead of grasping.</a:t>
            </a:r>
          </a:p>
        </p:txBody>
      </p:sp>
      <p:sp>
        <p:nvSpPr>
          <p:cNvPr id="10" name="Rounded Rectangle 9"/>
          <p:cNvSpPr/>
          <p:nvPr/>
        </p:nvSpPr>
        <p:spPr>
          <a:xfrm>
            <a:off x="6172200" y="3520440"/>
            <a:ext cx="5394960" cy="178308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900" b="1" i="0">
                <a:solidFill>
                  <a:srgbClr val="E30613"/>
                </a:solidFill>
              </a:rPr>
              <a:t>Hover at the line</a:t>
            </a:r>
          </a:p>
          <a:p>
            <a:pPr algn="l"/>
            <a:r>
              <a:rPr sz="1500" b="0" i="0">
                <a:solidFill>
                  <a:srgbClr val="1F2433"/>
                </a:solidFill>
              </a:rPr>
              <a:t>“Lifted” threshold too low: nudge the cube just above it and stop.</a:t>
            </a:r>
          </a:p>
        </p:txBody>
      </p:sp>
      <p:sp>
        <p:nvSpPr>
          <p:cNvPr id="11" name="Rounded Rectangle 10"/>
          <p:cNvSpPr/>
          <p:nvPr/>
        </p:nvSpPr>
        <p:spPr>
          <a:xfrm>
            <a:off x="548640" y="5577840"/>
            <a:ext cx="11064240" cy="50292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500" b="1" i="0">
                <a:solidFill>
                  <a:srgbClr val="164194"/>
                </a:solidFill>
              </a:rPr>
              <a:t>The reward curve rises in every one of these cases. Only the video shows the problem.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Activity: predict the behaviour</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ectangle 6"/>
          <p:cNvSpPr/>
          <p:nvPr/>
        </p:nvSpPr>
        <p:spPr>
          <a:xfrm>
            <a:off x="548640" y="1417320"/>
            <a:ext cx="110642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54864" bIns="54864"/>
          <a:lstStyle/>
          <a:p>
            <a:pPr algn="l"/>
            <a:r>
              <a:rPr sz="1600" b="0" i="0">
                <a:solidFill>
                  <a:srgbClr val="1F2433"/>
                </a:solidFill>
              </a:rPr>
              <a:t>In pairs: for each variant of the Reach reward, sketch what the trained arm will do. We test your predictions in Lab 6.</a:t>
            </a:r>
          </a:p>
        </p:txBody>
      </p:sp>
      <p:sp>
        <p:nvSpPr>
          <p:cNvPr id="8" name="Rounded Rectangle 7"/>
          <p:cNvSpPr/>
          <p:nvPr/>
        </p:nvSpPr>
        <p:spPr>
          <a:xfrm>
            <a:off x="548640" y="2057400"/>
            <a:ext cx="731520" cy="1600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600" b="1" i="0">
                <a:solidFill>
                  <a:srgbClr val="FFFFFF"/>
                </a:solidFill>
              </a:rPr>
              <a:t>A</a:t>
            </a:r>
          </a:p>
        </p:txBody>
      </p:sp>
      <p:sp>
        <p:nvSpPr>
          <p:cNvPr id="9" name="Rounded Rectangle 8"/>
          <p:cNvSpPr/>
          <p:nvPr/>
        </p:nvSpPr>
        <p:spPr>
          <a:xfrm>
            <a:off x="1417319" y="2057400"/>
            <a:ext cx="4526280" cy="1600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Fine precision term removed</a:t>
            </a:r>
          </a:p>
          <a:p>
            <a:pPr algn="l"/>
            <a:r>
              <a:rPr sz="1400" b="0" i="0">
                <a:solidFill>
                  <a:srgbClr val="5B6275"/>
                </a:solidFill>
              </a:rPr>
              <a:t>position −0.2 only</a:t>
            </a:r>
          </a:p>
          <a:p>
            <a:pPr algn="l"/>
            <a:r>
              <a:rPr sz="1400" b="0" i="0">
                <a:solidFill>
                  <a:srgbClr val="1F2433"/>
                </a:solidFill>
              </a:rPr>
              <a:t>Prediction: ______________</a:t>
            </a:r>
          </a:p>
        </p:txBody>
      </p:sp>
      <p:sp>
        <p:nvSpPr>
          <p:cNvPr id="10" name="Rounded Rectangle 9"/>
          <p:cNvSpPr/>
          <p:nvPr/>
        </p:nvSpPr>
        <p:spPr>
          <a:xfrm>
            <a:off x="6172200" y="2057400"/>
            <a:ext cx="731520" cy="1600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600" b="1" i="0">
                <a:solidFill>
                  <a:srgbClr val="FFFFFF"/>
                </a:solidFill>
              </a:rPr>
              <a:t>B</a:t>
            </a:r>
          </a:p>
        </p:txBody>
      </p:sp>
      <p:sp>
        <p:nvSpPr>
          <p:cNvPr id="11" name="Rounded Rectangle 10"/>
          <p:cNvSpPr/>
          <p:nvPr/>
        </p:nvSpPr>
        <p:spPr>
          <a:xfrm>
            <a:off x="7040880" y="2057400"/>
            <a:ext cx="4526280" cy="1600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Both smoothness penalties removed</a:t>
            </a:r>
          </a:p>
          <a:p>
            <a:pPr algn="l"/>
            <a:r>
              <a:rPr sz="1400" b="0" i="0">
                <a:solidFill>
                  <a:srgbClr val="5B6275"/>
                </a:solidFill>
              </a:rPr>
              <a:t>action_rate = 0, joint_vel = 0</a:t>
            </a:r>
          </a:p>
          <a:p>
            <a:pPr algn="l"/>
            <a:r>
              <a:rPr sz="1400" b="0" i="0">
                <a:solidFill>
                  <a:srgbClr val="1F2433"/>
                </a:solidFill>
              </a:rPr>
              <a:t>Prediction: ______________</a:t>
            </a:r>
          </a:p>
        </p:txBody>
      </p:sp>
      <p:sp>
        <p:nvSpPr>
          <p:cNvPr id="12" name="Rounded Rectangle 11"/>
          <p:cNvSpPr/>
          <p:nvPr/>
        </p:nvSpPr>
        <p:spPr>
          <a:xfrm>
            <a:off x="548640" y="3886200"/>
            <a:ext cx="731520" cy="1600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600" b="1" i="0">
                <a:solidFill>
                  <a:srgbClr val="FFFFFF"/>
                </a:solidFill>
              </a:rPr>
              <a:t>C</a:t>
            </a:r>
          </a:p>
        </p:txBody>
      </p:sp>
      <p:sp>
        <p:nvSpPr>
          <p:cNvPr id="13" name="Rounded Rectangle 12"/>
          <p:cNvSpPr/>
          <p:nvPr/>
        </p:nvSpPr>
        <p:spPr>
          <a:xfrm>
            <a:off x="1417319" y="3886200"/>
            <a:ext cx="4526280" cy="1600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Smoothness penalties × 1,000</a:t>
            </a:r>
          </a:p>
          <a:p>
            <a:pPr algn="l"/>
            <a:r>
              <a:rPr sz="1400" b="0" i="0">
                <a:solidFill>
                  <a:srgbClr val="5B6275"/>
                </a:solidFill>
              </a:rPr>
              <a:t>action_rate = −0.1 from the start</a:t>
            </a:r>
          </a:p>
          <a:p>
            <a:pPr algn="l"/>
            <a:r>
              <a:rPr sz="1400" b="0" i="0">
                <a:solidFill>
                  <a:srgbClr val="1F2433"/>
                </a:solidFill>
              </a:rPr>
              <a:t>Prediction: ______________</a:t>
            </a:r>
          </a:p>
        </p:txBody>
      </p:sp>
      <p:sp>
        <p:nvSpPr>
          <p:cNvPr id="14" name="Rounded Rectangle 13"/>
          <p:cNvSpPr/>
          <p:nvPr/>
        </p:nvSpPr>
        <p:spPr>
          <a:xfrm>
            <a:off x="6172200" y="3886200"/>
            <a:ext cx="731520" cy="160020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2600" b="1" i="0">
                <a:solidFill>
                  <a:srgbClr val="FFFFFF"/>
                </a:solidFill>
              </a:rPr>
              <a:t>D</a:t>
            </a:r>
          </a:p>
        </p:txBody>
      </p:sp>
      <p:sp>
        <p:nvSpPr>
          <p:cNvPr id="15" name="Rounded Rectangle 14"/>
          <p:cNvSpPr/>
          <p:nvPr/>
        </p:nvSpPr>
        <p:spPr>
          <a:xfrm>
            <a:off x="7040880" y="3886200"/>
            <a:ext cx="4526280" cy="16002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164194"/>
                </a:solidFill>
              </a:rPr>
              <a:t>Sign of the position term flipped</a:t>
            </a:r>
          </a:p>
          <a:p>
            <a:pPr algn="l"/>
            <a:r>
              <a:rPr sz="1400" b="0" i="0">
                <a:solidFill>
                  <a:srgbClr val="5B6275"/>
                </a:solidFill>
              </a:rPr>
              <a:t>position +0.2</a:t>
            </a:r>
          </a:p>
          <a:p>
            <a:pPr algn="l"/>
            <a:r>
              <a:rPr sz="1400" b="0" i="0">
                <a:solidFill>
                  <a:srgbClr val="1F2433"/>
                </a:solidFill>
              </a:rPr>
              <a:t>Prediction: ______________</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Exit ticket</a:t>
            </a:r>
          </a:p>
        </p:txBody>
      </p:sp>
      <p:sp>
        <p:nvSpPr>
          <p:cNvPr id="3" name="Text Placeholder 2"/>
          <p:cNvSpPr>
            <a:spLocks noGrp="1"/>
          </p:cNvSpPr>
          <p:nvPr>
            <p:ph type="body" idx="11" sz="quarter"/>
          </p:nvPr>
        </p:nvSpPr>
        <p:spPr/>
        <p:txBody>
          <a:bodyPr/>
          <a:lstStyle/>
          <a:p>
            <a:pPr/>
            <a:r>
              <a:rPr sz="2200"/>
              <a:t>Answer before you leave:</a:t>
            </a:r>
          </a:p>
          <a:p>
            <a:pPr lvl="1"/>
            <a:r>
              <a:rPr sz="2000"/>
              <a:t>Define return and policy in one sentence each.</a:t>
            </a:r>
          </a:p>
          <a:p>
            <a:pPr lvl="1"/>
            <a:r>
              <a:rPr sz="2000"/>
              <a:t>What does PPO do with its experience after each update, and why is the update kept small?</a:t>
            </a:r>
          </a:p>
          <a:p>
            <a:pPr lvl="1"/>
            <a:r>
              <a:rPr sz="2000"/>
              <a:t>Match: position term · fine term · action-rate penalty  →  smooth · precise · gets close</a:t>
            </a:r>
          </a:p>
          <a:p>
            <a:pPr lvl="1"/>
            <a:r>
              <a:rPr sz="2000"/>
              <a:t>Give one example of reward hacking and the term that would prevent it.</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week: L6 lab · Train a Reach policy in Isaac Lab</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
        <p:nvSpPr>
          <p:cNvPr id="7" name="Rounded Rectangle 6"/>
          <p:cNvSpPr/>
          <p:nvPr/>
        </p:nvSpPr>
        <p:spPr>
          <a:xfrm>
            <a:off x="548640" y="1508760"/>
            <a:ext cx="6949440" cy="548640"/>
          </a:xfrm>
          <a:prstGeom prst="roundRect">
            <a:avLst>
              <a:gd name="adj" fmla="val 12000"/>
            </a:avLst>
          </a:prstGeom>
          <a:solidFill>
            <a:srgbClr val="1641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Sim station · about 2 hours</a:t>
            </a:r>
          </a:p>
        </p:txBody>
      </p:sp>
      <p:sp>
        <p:nvSpPr>
          <p:cNvPr id="8" name="Rounded Rectangle 7"/>
          <p:cNvSpPr/>
          <p:nvPr/>
        </p:nvSpPr>
        <p:spPr>
          <a:xfrm>
            <a:off x="548640" y="2103120"/>
            <a:ext cx="6949440" cy="2286000"/>
          </a:xfrm>
          <a:prstGeom prst="roundRect">
            <a:avLst>
              <a:gd name="adj" fmla="val 12000"/>
            </a:avLst>
          </a:prstGeom>
          <a:solidFill>
            <a:srgbClr val="EEF1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0" i="0">
                <a:solidFill>
                  <a:srgbClr val="1F2433"/>
                </a:solidFill>
              </a:rPr>
              <a:t>Label every block of the Reach config</a:t>
            </a:r>
          </a:p>
          <a:p>
            <a:pPr algn="l"/>
            <a:r>
              <a:rPr sz="1500" b="0" i="0">
                <a:solidFill>
                  <a:srgbClr val="1F2433"/>
                </a:solidFill>
              </a:rPr>
              <a:t>Train Isaac-SO-ARM101-Reach-v0 and read TensorBoard</a:t>
            </a:r>
          </a:p>
          <a:p>
            <a:pPr algn="l"/>
            <a:r>
              <a:rPr sz="1500" b="0" i="0">
                <a:solidFill>
                  <a:srgbClr val="1F2433"/>
                </a:solidFill>
              </a:rPr>
              <a:t>Play the policy; it is exported for Lab 8</a:t>
            </a:r>
          </a:p>
          <a:p>
            <a:pPr algn="l"/>
            <a:r>
              <a:rPr sz="1500" b="0" i="0">
                <a:solidFill>
                  <a:srgbClr val="1F2433"/>
                </a:solidFill>
              </a:rPr>
              <a:t>Run your reward variant (A–D) and compare videos</a:t>
            </a:r>
          </a:p>
        </p:txBody>
      </p:sp>
      <p:sp>
        <p:nvSpPr>
          <p:cNvPr id="9" name="Rounded Rectangle 8"/>
          <p:cNvSpPr/>
          <p:nvPr/>
        </p:nvSpPr>
        <p:spPr>
          <a:xfrm>
            <a:off x="7772400" y="1508760"/>
            <a:ext cx="3840480" cy="548640"/>
          </a:xfrm>
          <a:prstGeom prst="roundRect">
            <a:avLst>
              <a:gd name="adj" fmla="val 12000"/>
            </a:avLst>
          </a:prstGeom>
          <a:solidFill>
            <a:srgbClr val="0F6E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1700" b="1" i="0">
                <a:solidFill>
                  <a:srgbClr val="FFFFFF"/>
                </a:solidFill>
              </a:rPr>
              <a:t>Arm station · 40 min</a:t>
            </a:r>
          </a:p>
        </p:txBody>
      </p:sp>
      <p:sp>
        <p:nvSpPr>
          <p:cNvPr id="10" name="Rounded Rectangle 9"/>
          <p:cNvSpPr/>
          <p:nvPr/>
        </p:nvSpPr>
        <p:spPr>
          <a:xfrm>
            <a:off x="7772400" y="2103120"/>
            <a:ext cx="3840480" cy="2286000"/>
          </a:xfrm>
          <a:prstGeom prst="roundRect">
            <a:avLst>
              <a:gd name="adj" fmla="val 12000"/>
            </a:avLst>
          </a:prstGeom>
          <a:solidFill>
            <a:srgbClr val="E2F2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500" b="0" i="0">
                <a:solidFill>
                  <a:srgbClr val="1F2433"/>
                </a:solidFill>
              </a:rPr>
              <a:t>Read real joint values at 3 poses</a:t>
            </a:r>
          </a:p>
          <a:p>
            <a:pPr algn="l"/>
            <a:r>
              <a:rPr sz="1500" b="0" i="0">
                <a:solidFill>
                  <a:srgbClr val="1F2433"/>
                </a:solidFill>
              </a:rPr>
              <a:t>Build the sim ↔ real unit table</a:t>
            </a:r>
          </a:p>
          <a:p>
            <a:pPr algn="l"/>
            <a:r>
              <a:rPr sz="1500" b="0" i="0">
                <a:solidFill>
                  <a:srgbClr val="1F2433"/>
                </a:solidFill>
              </a:rPr>
              <a:t>Measure the real loop rate</a:t>
            </a:r>
          </a:p>
        </p:txBody>
      </p:sp>
      <p:sp>
        <p:nvSpPr>
          <p:cNvPr id="11" name="Rounded Rectangle 10"/>
          <p:cNvSpPr/>
          <p:nvPr/>
        </p:nvSpPr>
        <p:spPr>
          <a:xfrm>
            <a:off x="548640" y="4663440"/>
            <a:ext cx="11064240" cy="1005840"/>
          </a:xfrm>
          <a:prstGeom prst="roundRect">
            <a:avLst>
              <a:gd name="adj" fmla="val 12000"/>
            </a:avLst>
          </a:prstGeom>
          <a:solidFill>
            <a:srgbClr val="FCE8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l"/>
            <a:r>
              <a:rPr sz="1600" b="1" i="0">
                <a:solidFill>
                  <a:srgbClr val="E30613"/>
                </a:solidFill>
              </a:rPr>
              <a:t>Bring: </a:t>
            </a:r>
            <a:r>
              <a:rPr sz="1600" b="0" i="0">
                <a:solidFill>
                  <a:srgbClr val="1F2433"/>
                </a:solidFill>
              </a:rPr>
              <a:t>your predictions for variants A–D, and your joint table from Lab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and further reading</a:t>
            </a:r>
          </a:p>
        </p:txBody>
      </p:sp>
      <p:sp>
        <p:nvSpPr>
          <p:cNvPr id="3" name="Text Placeholder 2"/>
          <p:cNvSpPr>
            <a:spLocks noGrp="1"/>
          </p:cNvSpPr>
          <p:nvPr>
            <p:ph type="body" idx="11" sz="quarter"/>
          </p:nvPr>
        </p:nvSpPr>
        <p:spPr/>
        <p:txBody>
          <a:bodyPr/>
          <a:lstStyle/>
          <a:p>
            <a:pPr/>
            <a:r>
              <a:rPr sz="1400"/>
              <a:t>Hugging Face Deep RL Course (Units 1–2 and the PPO unit). https://huggingface.co/learn/deep-rl-course/unit0/introduction</a:t>
            </a:r>
          </a:p>
          <a:p>
            <a:pPr/>
            <a:r>
              <a:rPr sz="1400"/>
              <a:t>OpenAI Spinning Up: key concepts and PPO. https://spinningup.openai.com/en/latest/</a:t>
            </a:r>
          </a:p>
          <a:p>
            <a:pPr/>
            <a:r>
              <a:rPr sz="1400"/>
              <a:t>Sutton &amp; Barto (2018). Reinforcement Learning: An Introduction, ch. 1 and 3. http://incompleteideas.net/book/the-book-2nd.html</a:t>
            </a:r>
          </a:p>
          <a:p>
            <a:pPr/>
            <a:r>
              <a:rPr sz="1400"/>
              <a:t>Weng, L. A (Long) Peek into Reinforcement Learning. https://lilianweng.github.io/posts/2018-02-19-rl-overview/</a:t>
            </a:r>
          </a:p>
          <a:p>
            <a:pPr/>
            <a:r>
              <a:rPr sz="1400"/>
              <a:t>Schulman et al. (2017). Proximal Policy Optimization Algorithms. https://arxiv.org/abs/1707.06347</a:t>
            </a:r>
          </a:p>
          <a:p>
            <a:pPr/>
            <a:r>
              <a:rPr sz="1400"/>
              <a:t>Rudin et al. (2021). Learning to Walk in Minutes Using Massively Parallel Deep RL. https://leggedrobotics.github.io/legged_gym/</a:t>
            </a:r>
          </a:p>
          <a:p>
            <a:pPr/>
            <a:r>
              <a:rPr sz="1400"/>
              <a:t>Isaac Lab tutorial: Creating a manager-based RL environment. https://isaac-sim.github.io/IsaacLab/v2.3.2/source/tutorials/03_envs/create_manager_rl_env.html</a:t>
            </a:r>
          </a:p>
          <a:p>
            <a:pPr/>
            <a:r>
              <a:rPr sz="1400"/>
              <a:t>isaac_so_arm101 (Reach task source). https://github.com/MuammerBay/isaac_so_arm101</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a:t>Data Acquisition &amp; Policy Learning · L5</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2.xml><?xml version="1.0" encoding="utf-8"?>
<ds:datastoreItem xmlns:ds="http://schemas.openxmlformats.org/officeDocument/2006/customXml" ds:itemID="{A30EE154-A736-456D-A3E2-27745362195B}">
  <ds:schemaRefs>
    <ds:schemaRef ds:uri="http://schemas.microsoft.com/sharepoint/v3/contenttype/forms"/>
  </ds:schemaRefs>
</ds:datastoreItem>
</file>

<file path=customXml/itemProps3.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SEN 129(23) A19</Template>
  <TotalTime>7148</TotalTime>
  <Words>356</Words>
  <Application>Microsoft Office PowerPoint</Application>
  <PresentationFormat>Widescreen</PresentationFormat>
  <Paragraphs>35</Paragraphs>
  <Slides>5</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Arvo</vt:lpstr>
      <vt:lpstr>Avenir Book</vt:lpstr>
      <vt:lpstr>Aptos</vt:lpstr>
      <vt:lpstr>Arial</vt:lpstr>
      <vt:lpstr>Calibri</vt:lpstr>
      <vt:lpstr>Calibri Light</vt:lpstr>
      <vt:lpstr>Roboto</vt:lpstr>
      <vt:lpstr>SEN 129(23) A19</vt:lpstr>
      <vt:lpstr>PowerPoint Presentation</vt:lpstr>
      <vt:lpstr>Learning Outcomes</vt:lpstr>
      <vt:lpstr>What is Responsible AI?</vt:lpstr>
      <vt:lpstr>AI Ethics, AI Governance &amp; Responsible AI</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Kheng Kok MAR (NYP)</cp:lastModifiedBy>
  <cp:revision>14</cp:revision>
  <dcterms:created xsi:type="dcterms:W3CDTF">2023-04-05T14:55:09Z</dcterms:created>
  <dcterms:modified xsi:type="dcterms:W3CDTF">2025-07-29T10:11:31Z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